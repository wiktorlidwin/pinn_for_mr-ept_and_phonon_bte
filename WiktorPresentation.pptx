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765" r:id="rId2"/>
  </p:sldMasterIdLst>
  <p:notesMasterIdLst>
    <p:notesMasterId r:id="rId29"/>
  </p:notesMasterIdLst>
  <p:handoutMasterIdLst>
    <p:handoutMasterId r:id="rId30"/>
  </p:handoutMasterIdLst>
  <p:sldIdLst>
    <p:sldId id="1175" r:id="rId3"/>
    <p:sldId id="1348" r:id="rId4"/>
    <p:sldId id="1347" r:id="rId5"/>
    <p:sldId id="1346" r:id="rId6"/>
    <p:sldId id="1350" r:id="rId7"/>
    <p:sldId id="1315" r:id="rId8"/>
    <p:sldId id="1354" r:id="rId9"/>
    <p:sldId id="1329" r:id="rId10"/>
    <p:sldId id="1351" r:id="rId11"/>
    <p:sldId id="1353" r:id="rId12"/>
    <p:sldId id="1359" r:id="rId13"/>
    <p:sldId id="1356" r:id="rId14"/>
    <p:sldId id="1360" r:id="rId15"/>
    <p:sldId id="1336" r:id="rId16"/>
    <p:sldId id="1338" r:id="rId17"/>
    <p:sldId id="1339" r:id="rId18"/>
    <p:sldId id="1340" r:id="rId19"/>
    <p:sldId id="1342" r:id="rId20"/>
    <p:sldId id="1361" r:id="rId21"/>
    <p:sldId id="1349" r:id="rId22"/>
    <p:sldId id="1328" r:id="rId23"/>
    <p:sldId id="1331" r:id="rId24"/>
    <p:sldId id="1332" r:id="rId25"/>
    <p:sldId id="1355" r:id="rId26"/>
    <p:sldId id="1343" r:id="rId27"/>
    <p:sldId id="1254"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5554"/>
    <a:srgbClr val="F8CECC"/>
    <a:srgbClr val="553B2B"/>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7318" autoAdjust="0"/>
  </p:normalViewPr>
  <p:slideViewPr>
    <p:cSldViewPr snapToGrid="0">
      <p:cViewPr varScale="1">
        <p:scale>
          <a:sx n="78" d="100"/>
          <a:sy n="78" d="100"/>
        </p:scale>
        <p:origin x="1555" y="7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52" d="100"/>
          <a:sy n="52" d="100"/>
        </p:scale>
        <p:origin x="2680"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8B0911-3AC1-4FF6-AB9E-4E720CA4B28C}" type="datetimeFigureOut">
              <a:rPr lang="en-US" smtClean="0"/>
              <a:t>5/8/2025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ED0456-7EB0-48AA-A177-B8C25F72EC94}" type="slidenum">
              <a:rPr lang="en-US" smtClean="0"/>
              <a:t>‹#›</a:t>
            </a:fld>
            <a:endParaRPr lang="en-US"/>
          </a:p>
        </p:txBody>
      </p:sp>
    </p:spTree>
    <p:extLst>
      <p:ext uri="{BB962C8B-B14F-4D97-AF65-F5344CB8AC3E}">
        <p14:creationId xmlns:p14="http://schemas.microsoft.com/office/powerpoint/2010/main" val="6406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1999D-8BB5-45BE-8CF5-FB1044E4836A}" type="datetimeFigureOut">
              <a:rPr lang="en-US" smtClean="0"/>
              <a:t>5/8/2025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0D442-A685-41E6-B582-B031B0ABEECB}" type="slidenum">
              <a:rPr lang="en-US" smtClean="0"/>
              <a:t>‹#›</a:t>
            </a:fld>
            <a:endParaRPr lang="en-US"/>
          </a:p>
        </p:txBody>
      </p:sp>
    </p:spTree>
    <p:extLst>
      <p:ext uri="{BB962C8B-B14F-4D97-AF65-F5344CB8AC3E}">
        <p14:creationId xmlns:p14="http://schemas.microsoft.com/office/powerpoint/2010/main" val="1847181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7BF96-AFA5-9C14-0B84-C7F08AF8A0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B9B190-68F3-E8F7-562B-6FEAD23422B5}"/>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686BFFA-5054-67CA-31BE-092269954CA8}"/>
                  </a:ext>
                </a:extLst>
              </p:cNvPr>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14:m>
                  <m:oMath xmlns:m="http://schemas.openxmlformats.org/officeDocument/2006/math">
                    <m:acc>
                      <m:accPr>
                        <m:chr m:val="̂"/>
                        <m:ctrlPr>
                          <a:rPr lang="en-US" sz="900" b="0" i="1" smtClean="0">
                            <a:latin typeface="Cambria Math" panose="02040503050406030204" pitchFamily="18" charset="0"/>
                          </a:rPr>
                        </m:ctrlPr>
                      </m:accPr>
                      <m:e>
                        <m:r>
                          <a:rPr lang="en-US" sz="900" b="0" i="1" smtClean="0">
                            <a:latin typeface="Cambria Math" panose="02040503050406030204" pitchFamily="18" charset="0"/>
                          </a:rPr>
                          <m:t>𝑢</m:t>
                        </m:r>
                      </m:e>
                    </m:acc>
                    <m:r>
                      <a:rPr lang="en-US" sz="900" b="0" i="1" dirty="0" smtClean="0">
                        <a:latin typeface="Cambria Math" panose="02040503050406030204" pitchFamily="18" charset="0"/>
                      </a:rPr>
                      <m:t> </m:t>
                    </m:r>
                  </m:oMath>
                </a14:m>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Choice>
        <mc:Fallback xmlns="">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r>
                  <a:rPr lang="en-US" sz="900" b="0" i="0">
                    <a:latin typeface="Cambria Math" panose="02040503050406030204" pitchFamily="18" charset="0"/>
                  </a:rPr>
                  <a:t>𝑢 ̂</a:t>
                </a:r>
                <a:r>
                  <a:rPr lang="en-US" sz="900" b="0" i="0" dirty="0">
                    <a:latin typeface="Cambria Math" panose="02040503050406030204" pitchFamily="18" charset="0"/>
                  </a:rPr>
                  <a:t>  </a:t>
                </a:r>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Fallback>
      </mc:AlternateContent>
      <p:sp>
        <p:nvSpPr>
          <p:cNvPr id="4" name="灯片编号占位符 3">
            <a:extLst>
              <a:ext uri="{FF2B5EF4-FFF2-40B4-BE49-F238E27FC236}">
                <a16:creationId xmlns:a16="http://schemas.microsoft.com/office/drawing/2014/main" id="{3A140D4F-85E8-796B-0A78-5BC86C21B9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40A9A8-BFBC-49BF-928A-866261D9F6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8052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14:m>
                  <m:oMath xmlns:m="http://schemas.openxmlformats.org/officeDocument/2006/math">
                    <m:acc>
                      <m:accPr>
                        <m:chr m:val="̂"/>
                        <m:ctrlPr>
                          <a:rPr lang="en-US" sz="900" b="0" i="1" smtClean="0">
                            <a:latin typeface="Cambria Math" panose="02040503050406030204" pitchFamily="18" charset="0"/>
                          </a:rPr>
                        </m:ctrlPr>
                      </m:accPr>
                      <m:e>
                        <m:r>
                          <a:rPr lang="en-US" sz="900" b="0" i="1" smtClean="0">
                            <a:latin typeface="Cambria Math" panose="02040503050406030204" pitchFamily="18" charset="0"/>
                          </a:rPr>
                          <m:t>𝑢</m:t>
                        </m:r>
                      </m:e>
                    </m:acc>
                    <m:r>
                      <a:rPr lang="en-US" sz="900" b="0" i="1" dirty="0" smtClean="0">
                        <a:latin typeface="Cambria Math" panose="02040503050406030204" pitchFamily="18" charset="0"/>
                      </a:rPr>
                      <m:t> </m:t>
                    </m:r>
                  </m:oMath>
                </a14:m>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Choice>
        <mc:Fallback xmlns="">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r>
                  <a:rPr lang="en-US" sz="900" b="0" i="0">
                    <a:latin typeface="Cambria Math" panose="02040503050406030204" pitchFamily="18" charset="0"/>
                  </a:rPr>
                  <a:t>𝑢 ̂</a:t>
                </a:r>
                <a:r>
                  <a:rPr lang="en-US" sz="900" b="0" i="0" dirty="0">
                    <a:latin typeface="Cambria Math" panose="02040503050406030204" pitchFamily="18" charset="0"/>
                  </a:rPr>
                  <a:t>  </a:t>
                </a:r>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40A9A8-BFBC-49BF-928A-866261D9F6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583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9BEBC-7B83-1B11-448A-C6D0C3BF6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2213C-552E-38BB-E121-8FD04DC0380B}"/>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93D7A4F2-8B04-3BFD-3131-3CC1A94FA1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4616FE-0CBE-2C61-A588-834887665C81}"/>
              </a:ext>
            </a:extLst>
          </p:cNvPr>
          <p:cNvSpPr>
            <a:spLocks noGrp="1"/>
          </p:cNvSpPr>
          <p:nvPr>
            <p:ph type="sldNum" sz="quarter" idx="5"/>
          </p:nvPr>
        </p:nvSpPr>
        <p:spPr/>
        <p:txBody>
          <a:bodyPr/>
          <a:lstStyle/>
          <a:p>
            <a:fld id="{8C50D442-A685-41E6-B582-B031B0ABEECB}" type="slidenum">
              <a:rPr lang="en-US" smtClean="0"/>
              <a:t>7</a:t>
            </a:fld>
            <a:endParaRPr lang="en-US"/>
          </a:p>
        </p:txBody>
      </p:sp>
    </p:spTree>
    <p:extLst>
      <p:ext uri="{BB962C8B-B14F-4D97-AF65-F5344CB8AC3E}">
        <p14:creationId xmlns:p14="http://schemas.microsoft.com/office/powerpoint/2010/main" val="1127110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C3C67-1885-768F-85C3-F190346EE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ADA07-B4B3-2CE2-AFD3-F82700913E8A}"/>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CE015D16-5222-74F5-C445-3FAE8868CB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994A66-FE4A-B6C1-A22A-BCF621649181}"/>
              </a:ext>
            </a:extLst>
          </p:cNvPr>
          <p:cNvSpPr>
            <a:spLocks noGrp="1"/>
          </p:cNvSpPr>
          <p:nvPr>
            <p:ph type="sldNum" sz="quarter" idx="5"/>
          </p:nvPr>
        </p:nvSpPr>
        <p:spPr/>
        <p:txBody>
          <a:bodyPr/>
          <a:lstStyle/>
          <a:p>
            <a:fld id="{8C50D442-A685-41E6-B582-B031B0ABEECB}" type="slidenum">
              <a:rPr lang="en-US" smtClean="0"/>
              <a:t>8</a:t>
            </a:fld>
            <a:endParaRPr lang="en-US"/>
          </a:p>
        </p:txBody>
      </p:sp>
    </p:spTree>
    <p:extLst>
      <p:ext uri="{BB962C8B-B14F-4D97-AF65-F5344CB8AC3E}">
        <p14:creationId xmlns:p14="http://schemas.microsoft.com/office/powerpoint/2010/main" val="287516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DF4F9-899E-16C8-BBB0-011F46B38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0A762-AD2C-862C-F252-322019E20C00}"/>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777CB834-8C9D-69B8-BBC9-25B0B6AF3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C6DE77-E684-0574-A079-9AA0F0BF0530}"/>
              </a:ext>
            </a:extLst>
          </p:cNvPr>
          <p:cNvSpPr>
            <a:spLocks noGrp="1"/>
          </p:cNvSpPr>
          <p:nvPr>
            <p:ph type="sldNum" sz="quarter" idx="5"/>
          </p:nvPr>
        </p:nvSpPr>
        <p:spPr/>
        <p:txBody>
          <a:bodyPr/>
          <a:lstStyle/>
          <a:p>
            <a:fld id="{8C50D442-A685-41E6-B582-B031B0ABEECB}" type="slidenum">
              <a:rPr lang="en-US" smtClean="0"/>
              <a:t>9</a:t>
            </a:fld>
            <a:endParaRPr lang="en-US"/>
          </a:p>
        </p:txBody>
      </p:sp>
    </p:spTree>
    <p:extLst>
      <p:ext uri="{BB962C8B-B14F-4D97-AF65-F5344CB8AC3E}">
        <p14:creationId xmlns:p14="http://schemas.microsoft.com/office/powerpoint/2010/main" val="433381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7073E-4D14-E4E6-7EDD-653E48980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3EDAA-5E18-683D-25B5-A60A9764D515}"/>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9EA54C6D-3E5C-6BF0-E430-5FEF7F1F9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FCC93C-70F8-8AC6-A831-548D1C0C6FF6}"/>
              </a:ext>
            </a:extLst>
          </p:cNvPr>
          <p:cNvSpPr>
            <a:spLocks noGrp="1"/>
          </p:cNvSpPr>
          <p:nvPr>
            <p:ph type="sldNum" sz="quarter" idx="5"/>
          </p:nvPr>
        </p:nvSpPr>
        <p:spPr/>
        <p:txBody>
          <a:bodyPr/>
          <a:lstStyle/>
          <a:p>
            <a:fld id="{8C50D442-A685-41E6-B582-B031B0ABEECB}" type="slidenum">
              <a:rPr lang="en-US" smtClean="0"/>
              <a:t>14</a:t>
            </a:fld>
            <a:endParaRPr lang="en-US"/>
          </a:p>
        </p:txBody>
      </p:sp>
    </p:spTree>
    <p:extLst>
      <p:ext uri="{BB962C8B-B14F-4D97-AF65-F5344CB8AC3E}">
        <p14:creationId xmlns:p14="http://schemas.microsoft.com/office/powerpoint/2010/main" val="2796440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F90EA-44DB-B6D1-8577-F6A85583C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38F01-CF56-9AB9-680D-93FCA58BB35E}"/>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AAC96790-D984-D046-ABE3-65433C9432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FBB92-E266-5896-BC14-FFEEFD7E79F4}"/>
              </a:ext>
            </a:extLst>
          </p:cNvPr>
          <p:cNvSpPr>
            <a:spLocks noGrp="1"/>
          </p:cNvSpPr>
          <p:nvPr>
            <p:ph type="sldNum" sz="quarter" idx="5"/>
          </p:nvPr>
        </p:nvSpPr>
        <p:spPr/>
        <p:txBody>
          <a:bodyPr/>
          <a:lstStyle/>
          <a:p>
            <a:fld id="{8C50D442-A685-41E6-B582-B031B0ABEECB}" type="slidenum">
              <a:rPr lang="en-US" smtClean="0"/>
              <a:t>15</a:t>
            </a:fld>
            <a:endParaRPr lang="en-US"/>
          </a:p>
        </p:txBody>
      </p:sp>
    </p:spTree>
    <p:extLst>
      <p:ext uri="{BB962C8B-B14F-4D97-AF65-F5344CB8AC3E}">
        <p14:creationId xmlns:p14="http://schemas.microsoft.com/office/powerpoint/2010/main" val="66545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E967-9AD0-D7F4-EC00-0BA412C59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EC6D0-3DDA-4DEE-E4F6-2FED1F4B7B33}"/>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4576E09A-B417-26B5-E9BE-095D7FFF91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82A25B-CDC6-3419-96D3-6FA831ADDABD}"/>
              </a:ext>
            </a:extLst>
          </p:cNvPr>
          <p:cNvSpPr>
            <a:spLocks noGrp="1"/>
          </p:cNvSpPr>
          <p:nvPr>
            <p:ph type="sldNum" sz="quarter" idx="5"/>
          </p:nvPr>
        </p:nvSpPr>
        <p:spPr/>
        <p:txBody>
          <a:bodyPr/>
          <a:lstStyle/>
          <a:p>
            <a:fld id="{8C50D442-A685-41E6-B582-B031B0ABEECB}" type="slidenum">
              <a:rPr lang="en-US" smtClean="0"/>
              <a:t>16</a:t>
            </a:fld>
            <a:endParaRPr lang="en-US"/>
          </a:p>
        </p:txBody>
      </p:sp>
    </p:spTree>
    <p:extLst>
      <p:ext uri="{BB962C8B-B14F-4D97-AF65-F5344CB8AC3E}">
        <p14:creationId xmlns:p14="http://schemas.microsoft.com/office/powerpoint/2010/main" val="221510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2476C-B2EA-D990-8D1E-DA2C876D6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9059D-1D1D-BDB2-C8AF-989A8616736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6189940A-131C-B1A0-BBC8-AC8DF1DE54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94DA1D-1767-44B6-3AEC-4ABCDE34AF46}"/>
              </a:ext>
            </a:extLst>
          </p:cNvPr>
          <p:cNvSpPr>
            <a:spLocks noGrp="1"/>
          </p:cNvSpPr>
          <p:nvPr>
            <p:ph type="sldNum" sz="quarter" idx="5"/>
          </p:nvPr>
        </p:nvSpPr>
        <p:spPr/>
        <p:txBody>
          <a:bodyPr/>
          <a:lstStyle/>
          <a:p>
            <a:fld id="{8C50D442-A685-41E6-B582-B031B0ABEECB}" type="slidenum">
              <a:rPr lang="en-US" smtClean="0"/>
              <a:t>17</a:t>
            </a:fld>
            <a:endParaRPr lang="en-US"/>
          </a:p>
        </p:txBody>
      </p:sp>
    </p:spTree>
    <p:extLst>
      <p:ext uri="{BB962C8B-B14F-4D97-AF65-F5344CB8AC3E}">
        <p14:creationId xmlns:p14="http://schemas.microsoft.com/office/powerpoint/2010/main" val="4091946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742EF-DB97-86C5-2486-BD0DB9065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3B663-22CF-1AE8-6415-DCAAF8D7FCDA}"/>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18EEA642-C5BF-05BB-A0A4-39DCFE4A2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BCABAA-66AD-70A8-0CE1-88956A76FEDA}"/>
              </a:ext>
            </a:extLst>
          </p:cNvPr>
          <p:cNvSpPr>
            <a:spLocks noGrp="1"/>
          </p:cNvSpPr>
          <p:nvPr>
            <p:ph type="sldNum" sz="quarter" idx="5"/>
          </p:nvPr>
        </p:nvSpPr>
        <p:spPr/>
        <p:txBody>
          <a:bodyPr/>
          <a:lstStyle/>
          <a:p>
            <a:fld id="{8C50D442-A685-41E6-B582-B031B0ABEECB}" type="slidenum">
              <a:rPr lang="en-US" smtClean="0"/>
              <a:t>18</a:t>
            </a:fld>
            <a:endParaRPr lang="en-US"/>
          </a:p>
        </p:txBody>
      </p:sp>
    </p:spTree>
    <p:extLst>
      <p:ext uri="{BB962C8B-B14F-4D97-AF65-F5344CB8AC3E}">
        <p14:creationId xmlns:p14="http://schemas.microsoft.com/office/powerpoint/2010/main" val="2031755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46DE5-D6F2-0ABA-DECE-BFAB67DE1C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701A70-2E40-AD40-2D3C-CD562DAD483D}"/>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FBAC60FA-EDBE-4CFD-9337-0A0D164E821A}"/>
                  </a:ext>
                </a:extLst>
              </p:cNvPr>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14:m>
                  <m:oMath xmlns:m="http://schemas.openxmlformats.org/officeDocument/2006/math">
                    <m:acc>
                      <m:accPr>
                        <m:chr m:val="̂"/>
                        <m:ctrlPr>
                          <a:rPr lang="en-US" sz="900" b="0" i="1" smtClean="0">
                            <a:latin typeface="Cambria Math" panose="02040503050406030204" pitchFamily="18" charset="0"/>
                          </a:rPr>
                        </m:ctrlPr>
                      </m:accPr>
                      <m:e>
                        <m:r>
                          <a:rPr lang="en-US" sz="900" b="0" i="1" smtClean="0">
                            <a:latin typeface="Cambria Math" panose="02040503050406030204" pitchFamily="18" charset="0"/>
                          </a:rPr>
                          <m:t>𝑢</m:t>
                        </m:r>
                      </m:e>
                    </m:acc>
                    <m:r>
                      <a:rPr lang="en-US" sz="900" b="0" i="1" dirty="0" smtClean="0">
                        <a:latin typeface="Cambria Math" panose="02040503050406030204" pitchFamily="18" charset="0"/>
                      </a:rPr>
                      <m:t> </m:t>
                    </m:r>
                  </m:oMath>
                </a14:m>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Choice>
        <mc:Fallback xmlns="">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r>
                  <a:rPr lang="en-US" sz="900" b="0" i="0">
                    <a:latin typeface="Cambria Math" panose="02040503050406030204" pitchFamily="18" charset="0"/>
                  </a:rPr>
                  <a:t>𝑢 ̂</a:t>
                </a:r>
                <a:r>
                  <a:rPr lang="en-US" sz="900" b="0" i="0" dirty="0">
                    <a:latin typeface="Cambria Math" panose="02040503050406030204" pitchFamily="18" charset="0"/>
                  </a:rPr>
                  <a:t>  </a:t>
                </a:r>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Fallback>
      </mc:AlternateContent>
      <p:sp>
        <p:nvSpPr>
          <p:cNvPr id="4" name="灯片编号占位符 3">
            <a:extLst>
              <a:ext uri="{FF2B5EF4-FFF2-40B4-BE49-F238E27FC236}">
                <a16:creationId xmlns:a16="http://schemas.microsoft.com/office/drawing/2014/main" id="{F074F3D0-6D7A-F648-9717-F846160F9AF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40A9A8-BFBC-49BF-928A-866261D9F6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9487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AA6F-0C51-C43E-79B4-120738C478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EA38F1-2A28-4723-EE31-5F255DDEB305}"/>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277EFA8D-40EE-EBB3-402E-87D81C4E4C65}"/>
                  </a:ext>
                </a:extLst>
              </p:cNvPr>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14:m>
                  <m:oMath xmlns:m="http://schemas.openxmlformats.org/officeDocument/2006/math">
                    <m:acc>
                      <m:accPr>
                        <m:chr m:val="̂"/>
                        <m:ctrlPr>
                          <a:rPr lang="en-US" sz="900" b="0" i="1" smtClean="0">
                            <a:latin typeface="Cambria Math" panose="02040503050406030204" pitchFamily="18" charset="0"/>
                          </a:rPr>
                        </m:ctrlPr>
                      </m:accPr>
                      <m:e>
                        <m:r>
                          <a:rPr lang="en-US" sz="900" b="0" i="1" smtClean="0">
                            <a:latin typeface="Cambria Math" panose="02040503050406030204" pitchFamily="18" charset="0"/>
                          </a:rPr>
                          <m:t>𝑢</m:t>
                        </m:r>
                      </m:e>
                    </m:acc>
                    <m:r>
                      <a:rPr lang="en-US" sz="900" b="0" i="1" dirty="0" smtClean="0">
                        <a:latin typeface="Cambria Math" panose="02040503050406030204" pitchFamily="18" charset="0"/>
                      </a:rPr>
                      <m:t> </m:t>
                    </m:r>
                  </m:oMath>
                </a14:m>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Choice>
        <mc:Fallback xmlns="">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r>
                  <a:rPr lang="en-US" sz="900" b="0" i="0">
                    <a:latin typeface="Cambria Math" panose="02040503050406030204" pitchFamily="18" charset="0"/>
                  </a:rPr>
                  <a:t>𝑢 ̂</a:t>
                </a:r>
                <a:r>
                  <a:rPr lang="en-US" sz="900" b="0" i="0" dirty="0">
                    <a:latin typeface="Cambria Math" panose="02040503050406030204" pitchFamily="18" charset="0"/>
                  </a:rPr>
                  <a:t>  </a:t>
                </a:r>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Fallback>
      </mc:AlternateContent>
      <p:sp>
        <p:nvSpPr>
          <p:cNvPr id="4" name="灯片编号占位符 3">
            <a:extLst>
              <a:ext uri="{FF2B5EF4-FFF2-40B4-BE49-F238E27FC236}">
                <a16:creationId xmlns:a16="http://schemas.microsoft.com/office/drawing/2014/main" id="{1D06FDC3-435E-DBD1-9508-BEE3ABB739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40A9A8-BFBC-49BF-928A-866261D9F6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092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F77BB-B519-0F05-0EB1-9954C2B7A8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839F95-19AF-330E-7EB5-9575A42A03D7}"/>
              </a:ext>
            </a:extLst>
          </p:cNvPr>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27477164-1293-78B9-7A4E-774BE2A33F83}"/>
                  </a:ext>
                </a:extLst>
              </p:cNvPr>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14:m>
                  <m:oMath xmlns:m="http://schemas.openxmlformats.org/officeDocument/2006/math">
                    <m:acc>
                      <m:accPr>
                        <m:chr m:val="̂"/>
                        <m:ctrlPr>
                          <a:rPr lang="en-US" sz="900" b="0" i="1" smtClean="0">
                            <a:latin typeface="Cambria Math" panose="02040503050406030204" pitchFamily="18" charset="0"/>
                          </a:rPr>
                        </m:ctrlPr>
                      </m:accPr>
                      <m:e>
                        <m:r>
                          <a:rPr lang="en-US" sz="900" b="0" i="1" smtClean="0">
                            <a:latin typeface="Cambria Math" panose="02040503050406030204" pitchFamily="18" charset="0"/>
                          </a:rPr>
                          <m:t>𝑢</m:t>
                        </m:r>
                      </m:e>
                    </m:acc>
                    <m:r>
                      <a:rPr lang="en-US" sz="900" b="0" i="1" dirty="0" smtClean="0">
                        <a:latin typeface="Cambria Math" panose="02040503050406030204" pitchFamily="18" charset="0"/>
                      </a:rPr>
                      <m:t> </m:t>
                    </m:r>
                  </m:oMath>
                </a14:m>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Choice>
        <mc:Fallback xmlns="">
          <p:sp>
            <p:nvSpPr>
              <p:cNvPr id="3" name="备注占位符 2"/>
              <p:cNvSpPr>
                <a:spLocks noGrp="1"/>
              </p:cNvSpPr>
              <p:nvPr>
                <p:ph type="body" idx="1"/>
              </p:nvPr>
            </p:nvSpPr>
            <p:spPr/>
            <p:txBody>
              <a:bodyPr/>
              <a:lstStyle/>
              <a:p>
                <a:endParaRPr lang="en-US" sz="900" dirty="0"/>
              </a:p>
              <a:p>
                <a:r>
                  <a:rPr lang="en-US" sz="900" dirty="0"/>
                  <a:t>Based on the universal approximation theorem, PINNs implement a neural network with its output </a:t>
                </a:r>
                <a:r>
                  <a:rPr lang="en-US" sz="900" b="0" i="0">
                    <a:latin typeface="Cambria Math" panose="02040503050406030204" pitchFamily="18" charset="0"/>
                  </a:rPr>
                  <a:t>𝑢 ̂</a:t>
                </a:r>
                <a:r>
                  <a:rPr lang="en-US" sz="900" b="0" i="0" dirty="0">
                    <a:latin typeface="Cambria Math" panose="02040503050406030204" pitchFamily="18" charset="0"/>
                  </a:rPr>
                  <a:t>  </a:t>
                </a:r>
                <a:r>
                  <a:rPr lang="en-US" sz="900" dirty="0"/>
                  <a:t>to approximate the surrogate solution to PDE. We then build the loss function that constrains this</a:t>
                </a:r>
                <a:r>
                  <a:rPr lang="en-US" sz="900" baseline="0" dirty="0"/>
                  <a:t> </a:t>
                </a:r>
                <a:r>
                  <a:rPr lang="en-US" sz="900" dirty="0"/>
                  <a:t>solution to satisfy the PDE and also potential BCs and ICs. We train the PINN to minimize loss below a certain threshold and then the surrogate solution becomes</a:t>
                </a:r>
                <a:r>
                  <a:rPr lang="en-US" sz="900" baseline="0" dirty="0"/>
                  <a:t> the solution to the PDE in the end</a:t>
                </a:r>
                <a:r>
                  <a:rPr lang="en-US" sz="900" dirty="0"/>
                  <a:t>. Different from the finite element method FEM that require building a mesh over the studied domain. The derivative of this surrogate solution is</a:t>
                </a:r>
                <a:r>
                  <a:rPr lang="en-US" sz="900" baseline="0" dirty="0"/>
                  <a:t> </a:t>
                </a:r>
                <a:r>
                  <a:rPr lang="en-US" sz="900" dirty="0"/>
                  <a:t>evaluated using the automatic differentiation technique which is mesh</a:t>
                </a:r>
                <a:r>
                  <a:rPr lang="en-US" sz="900" baseline="0" dirty="0"/>
                  <a:t>-free technique and is available in </a:t>
                </a:r>
                <a:r>
                  <a:rPr lang="en-US" sz="900" baseline="0" dirty="0" err="1"/>
                  <a:t>tensorflow</a:t>
                </a:r>
                <a:r>
                  <a:rPr lang="en-US" sz="900" baseline="0" dirty="0"/>
                  <a:t> package</a:t>
                </a:r>
                <a:r>
                  <a:rPr lang="en-US" sz="900" dirty="0"/>
                  <a:t>.  </a:t>
                </a:r>
              </a:p>
              <a:p>
                <a:endParaRPr lang="en-US" dirty="0"/>
              </a:p>
              <a:p>
                <a:r>
                  <a:rPr lang="en-US" dirty="0"/>
                  <a:t>One advantage of using PINN is solving conveniently the inverse problem for PDE.  Let’s say we want to retrieve the unknown parameters \lambda in a PDE problem given the solution u generated by this unknown parameter. In PINNs we can easily retrieve \lambda by adding an extra loss term Li that restrict PINN’s output to be our observed solution. PINN then optimize all wights and biases and also the parameter lambda to minimize the loss. By the end of the training, PINN will predict the unknown parameter lambda. Moreover, PINN requires only single dataset for training rather than tons of datasets in other methods, so it saves a lot computation resources.</a:t>
                </a:r>
              </a:p>
            </p:txBody>
          </p:sp>
        </mc:Fallback>
      </mc:AlternateContent>
      <p:sp>
        <p:nvSpPr>
          <p:cNvPr id="4" name="灯片编号占位符 3">
            <a:extLst>
              <a:ext uri="{FF2B5EF4-FFF2-40B4-BE49-F238E27FC236}">
                <a16:creationId xmlns:a16="http://schemas.microsoft.com/office/drawing/2014/main" id="{538D3383-4F18-08A8-840F-2EB72BDBE63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40A9A8-BFBC-49BF-928A-866261D9F6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381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13B40-A527-1A6A-D7D6-CFE771DD5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0FD9E-78D4-BFE0-6A5F-900D59857FC5}"/>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DDDDD533-75E6-22CC-E915-2AACF83552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CE107C-C5BA-8BE5-DBD0-7FB53EA9D140}"/>
              </a:ext>
            </a:extLst>
          </p:cNvPr>
          <p:cNvSpPr>
            <a:spLocks noGrp="1"/>
          </p:cNvSpPr>
          <p:nvPr>
            <p:ph type="sldNum" sz="quarter" idx="5"/>
          </p:nvPr>
        </p:nvSpPr>
        <p:spPr/>
        <p:txBody>
          <a:bodyPr/>
          <a:lstStyle/>
          <a:p>
            <a:fld id="{8C50D442-A685-41E6-B582-B031B0ABEECB}" type="slidenum">
              <a:rPr lang="en-US" smtClean="0"/>
              <a:t>22</a:t>
            </a:fld>
            <a:endParaRPr lang="en-US"/>
          </a:p>
        </p:txBody>
      </p:sp>
    </p:spTree>
    <p:extLst>
      <p:ext uri="{BB962C8B-B14F-4D97-AF65-F5344CB8AC3E}">
        <p14:creationId xmlns:p14="http://schemas.microsoft.com/office/powerpoint/2010/main" val="530002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0C84-5C95-B12C-3D8E-688459634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F38AF-83CF-DACE-0225-952C2DEEC241}"/>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52667FA6-36C9-B0E0-8904-98C8F796E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6D0340-BA72-864F-804C-CB754671177E}"/>
              </a:ext>
            </a:extLst>
          </p:cNvPr>
          <p:cNvSpPr>
            <a:spLocks noGrp="1"/>
          </p:cNvSpPr>
          <p:nvPr>
            <p:ph type="sldNum" sz="quarter" idx="5"/>
          </p:nvPr>
        </p:nvSpPr>
        <p:spPr/>
        <p:txBody>
          <a:bodyPr/>
          <a:lstStyle/>
          <a:p>
            <a:fld id="{8C50D442-A685-41E6-B582-B031B0ABEECB}" type="slidenum">
              <a:rPr lang="en-US" smtClean="0"/>
              <a:t>23</a:t>
            </a:fld>
            <a:endParaRPr lang="en-US"/>
          </a:p>
        </p:txBody>
      </p:sp>
    </p:spTree>
    <p:extLst>
      <p:ext uri="{BB962C8B-B14F-4D97-AF65-F5344CB8AC3E}">
        <p14:creationId xmlns:p14="http://schemas.microsoft.com/office/powerpoint/2010/main" val="998015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B7A6-44A9-D188-80E7-32119C2B6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6FA13-9567-9E9D-02DC-82BBF6CCE2BD}"/>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1067FC71-3279-64FE-B8BA-3D95C32FA0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697DE-9732-BC76-2562-8DA72D353195}"/>
              </a:ext>
            </a:extLst>
          </p:cNvPr>
          <p:cNvSpPr>
            <a:spLocks noGrp="1"/>
          </p:cNvSpPr>
          <p:nvPr>
            <p:ph type="sldNum" sz="quarter" idx="5"/>
          </p:nvPr>
        </p:nvSpPr>
        <p:spPr/>
        <p:txBody>
          <a:bodyPr/>
          <a:lstStyle/>
          <a:p>
            <a:fld id="{8C50D442-A685-41E6-B582-B031B0ABEECB}" type="slidenum">
              <a:rPr lang="en-US" smtClean="0"/>
              <a:t>24</a:t>
            </a:fld>
            <a:endParaRPr lang="en-US"/>
          </a:p>
        </p:txBody>
      </p:sp>
    </p:spTree>
    <p:extLst>
      <p:ext uri="{BB962C8B-B14F-4D97-AF65-F5344CB8AC3E}">
        <p14:creationId xmlns:p14="http://schemas.microsoft.com/office/powerpoint/2010/main" val="2298658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FEBA4-1B4C-363D-D3B2-74E87BE71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8C573-1F8B-4794-6427-0232CFB777BC}"/>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A8BE141C-2EEE-7F4A-EFE4-9603D930A3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21237-43F1-6BE1-FD0F-59FB861D8E3B}"/>
              </a:ext>
            </a:extLst>
          </p:cNvPr>
          <p:cNvSpPr>
            <a:spLocks noGrp="1"/>
          </p:cNvSpPr>
          <p:nvPr>
            <p:ph type="sldNum" sz="quarter" idx="5"/>
          </p:nvPr>
        </p:nvSpPr>
        <p:spPr/>
        <p:txBody>
          <a:bodyPr/>
          <a:lstStyle/>
          <a:p>
            <a:fld id="{8C50D442-A685-41E6-B582-B031B0ABEECB}" type="slidenum">
              <a:rPr lang="en-US" smtClean="0"/>
              <a:t>25</a:t>
            </a:fld>
            <a:endParaRPr lang="en-US"/>
          </a:p>
        </p:txBody>
      </p:sp>
    </p:spTree>
    <p:extLst>
      <p:ext uri="{BB962C8B-B14F-4D97-AF65-F5344CB8AC3E}">
        <p14:creationId xmlns:p14="http://schemas.microsoft.com/office/powerpoint/2010/main" val="2242530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7A763FB-EDC8-4F66-97D3-6F1C02159B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546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t>AI-ML MADE</a:t>
            </a:r>
            <a:endParaRPr lang="en-US" dirty="0"/>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pPr/>
              <a:t>‹#›</a:t>
            </a:fld>
            <a:endParaRPr lang="en-US" dirty="0"/>
          </a:p>
        </p:txBody>
      </p:sp>
    </p:spTree>
    <p:extLst>
      <p:ext uri="{BB962C8B-B14F-4D97-AF65-F5344CB8AC3E}">
        <p14:creationId xmlns:p14="http://schemas.microsoft.com/office/powerpoint/2010/main" val="3953580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976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t>AI-ML MADE</a:t>
            </a:r>
            <a:endParaRPr lang="en-US" dirty="0"/>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Tree>
    <p:extLst>
      <p:ext uri="{BB962C8B-B14F-4D97-AF65-F5344CB8AC3E}">
        <p14:creationId xmlns:p14="http://schemas.microsoft.com/office/powerpoint/2010/main" val="1686937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8" name="Footer Placeholder 4">
            <a:extLst>
              <a:ext uri="{FF2B5EF4-FFF2-40B4-BE49-F238E27FC236}">
                <a16:creationId xmlns:a16="http://schemas.microsoft.com/office/drawing/2014/main" id="{C98D9AA5-FAD2-3BB9-88AD-124D33F8499D}"/>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1024908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10" name="Footer Placeholder 4">
            <a:extLst>
              <a:ext uri="{FF2B5EF4-FFF2-40B4-BE49-F238E27FC236}">
                <a16:creationId xmlns:a16="http://schemas.microsoft.com/office/drawing/2014/main" id="{E136D428-CF9E-6C8F-3575-2000A3B4D1CD}"/>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1951439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5629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600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8" name="Footer Placeholder 4">
            <a:extLst>
              <a:ext uri="{FF2B5EF4-FFF2-40B4-BE49-F238E27FC236}">
                <a16:creationId xmlns:a16="http://schemas.microsoft.com/office/drawing/2014/main" id="{74473A83-AA2A-AF8B-AF95-A8CFAF05680F}"/>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2147154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8" name="Footer Placeholder 4">
            <a:extLst>
              <a:ext uri="{FF2B5EF4-FFF2-40B4-BE49-F238E27FC236}">
                <a16:creationId xmlns:a16="http://schemas.microsoft.com/office/drawing/2014/main" id="{21959124-1AE1-FE74-1B96-2469C9209C8B}"/>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4041370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7" name="Footer Placeholder 4">
            <a:extLst>
              <a:ext uri="{FF2B5EF4-FFF2-40B4-BE49-F238E27FC236}">
                <a16:creationId xmlns:a16="http://schemas.microsoft.com/office/drawing/2014/main" id="{6AA611F8-F91E-BA76-68A2-561C611D457A}"/>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374648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5/8/2025</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574EC0CF-033B-40F1-BAC4-3BED187DA0B0}" type="slidenum">
              <a:rPr lang="en-US" smtClean="0"/>
              <a:t>‹#›</a:t>
            </a:fld>
            <a:endParaRPr lang="en-US"/>
          </a:p>
        </p:txBody>
      </p:sp>
      <p:sp>
        <p:nvSpPr>
          <p:cNvPr id="7" name="Footer Placeholder 4">
            <a:extLst>
              <a:ext uri="{FF2B5EF4-FFF2-40B4-BE49-F238E27FC236}">
                <a16:creationId xmlns:a16="http://schemas.microsoft.com/office/drawing/2014/main" id="{7CDA05F7-63FE-6A9B-09D1-6C406B00FCA6}"/>
              </a:ext>
            </a:extLst>
          </p:cNvPr>
          <p:cNvSpPr txBox="1">
            <a:spLocks/>
          </p:cNvSpPr>
          <p:nvPr userDrawn="1"/>
        </p:nvSpPr>
        <p:spPr>
          <a:xfrm>
            <a:off x="0" y="6492875"/>
            <a:ext cx="30861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t>AI-ML MADE</a:t>
            </a:r>
            <a:endParaRPr lang="en-US" sz="2000" dirty="0"/>
          </a:p>
        </p:txBody>
      </p:sp>
    </p:spTree>
    <p:extLst>
      <p:ext uri="{BB962C8B-B14F-4D97-AF65-F5344CB8AC3E}">
        <p14:creationId xmlns:p14="http://schemas.microsoft.com/office/powerpoint/2010/main" val="386512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10CC05EF-477A-426E-A738-B990DBF3B794}"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6EF64FED-3A94-4282-BAEA-23FF87B2BDE0}"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83832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9865039E-2537-410D-85DF-10BEC76F266B}"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1881EE06-5CA0-41FF-B077-14FFDF532EFE}"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61653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BE9E87E9-C4D3-44D5-8DFA-3D68FE3A4605}"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DA7FAB67-9A04-4441-92EF-2FC054A60866}"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21807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F0D54EDC-D160-4835-AC93-9E56C98A45EE}"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Footer Placeholder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78F609BE-F1BD-4BEC-B3FF-A8DCE201470F}"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3046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F410A1EA-398C-4A2E-804C-35828D1F1B06}"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6B4DFAC-9F71-4228-A727-07B4FCC762CA}"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03834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C6583EB5-0C8B-4879-A0E5-DD7A01DEFFA4}"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2AB17E02-11B4-4D9E-93D6-27D76D0A6C02}"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04724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724AB8FA-382F-4C16-B8CB-F71FAEB3E9B1}"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DCEF83DC-9CD5-4E5D-9196-86DB076CAFDB}"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45995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0851B0D-1463-4756-8F73-C33360444E33}"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Footer Placeholder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295AFB4B-158A-4631-9B56-1E84953C0F81}"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1996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E20B9C5D-998D-4D8B-8C48-A851E469BB7A}"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Footer Placeholder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DDE8C43-609F-421B-B8D2-45A5D4D77932}"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267032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67CB1332-C351-4866-8B89-F8680F419F4D}"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D405486-4BC7-4191-A1D7-EA1C29A28922}"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449405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eaLnBrk="0" hangingPunct="0">
              <a:defRPr>
                <a:latin typeface="Times New Roman" panose="02020603050405020304"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fld id="{4D36774B-5334-440E-A9A1-EDE544453AD1}" type="datetimeFigureOut">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 name="Rectangle 5"/>
          <p:cNvSpPr>
            <a:spLocks noGrp="1" noChangeArrowheads="1"/>
          </p:cNvSpPr>
          <p:nvPr>
            <p:ph type="ftr" sz="quarter" idx="11"/>
          </p:nvPr>
        </p:nvSpPr>
        <p:spPr/>
        <p:txBody>
          <a:bodyPr/>
          <a:lstStyle>
            <a:lvl1pPr eaLnBrk="0" hangingPunct="0">
              <a:defRPr>
                <a:latin typeface="Times New Roman" panose="02020603050405020304" pitchFamily="18" charset="0"/>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6" name="Rectangle 6"/>
          <p:cNvSpPr>
            <a:spLocks noGrp="1" noChangeArrowheads="1"/>
          </p:cNvSpPr>
          <p:nvPr>
            <p:ph type="sldNum" sz="quarter" idx="12"/>
          </p:nvPr>
        </p:nvSpPr>
        <p:spPr/>
        <p:txBody>
          <a:bodyPr/>
          <a:lstStyle>
            <a:lvl1pPr eaLnBrk="0" hangingPunct="0">
              <a:defRPr>
                <a:latin typeface="Times New Roman" panose="02020603050405020304"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D0A9A598-D78B-4188-BE1F-05A61E27FFA1}" type="slidenum">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38299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474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77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9731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1BB76F2-3CAB-4D40-87E3-3BFBABDB079F}" type="datetimeFigureOut">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5/8/2025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973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9731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AD55504-A684-4AAE-A22F-AE23099CFD85}" type="slidenum">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76925306"/>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3.xml"/><Relationship Id="rId6" Type="http://schemas.openxmlformats.org/officeDocument/2006/relationships/image" Target="../media/image37.jpe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9.png"/><Relationship Id="rId7"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43.png"/><Relationship Id="rId5" Type="http://schemas.openxmlformats.org/officeDocument/2006/relationships/image" Target="../media/image40.jpe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hyperlink" Target="https://www.codecogs.com/eqnedit.php?latex=%20L_%7BProposed%7D'(X)%20%3D%20%5Cbegin%7Bcases%7D%20%5Cdisplaystyle%20%5Cfrac%7B1%7D%7B8%7D%2C%20%26%20%5Ctext%7Bif%20%7D%20%7CX%7C%20%3E%2030.8%20%5C%5C%20%5Cdisplaystyle%20%5Cfrac%7BX%7D%7B%7CX%7C%2BX%5E2%7D%20*4%2C%20%26%20%5Ctext%7Bif%20%7D%201%20%3C%20%7CX%7C%20%5Cleq%2030.8%20%5C%5C%202X%2C%20%26%20%5Ctext%7Bif%20%7D%20%7CX%7C%20%5Cleq%201%20%5Cend%7Bcases%7D%20#0" TargetMode="External"/><Relationship Id="rId5" Type="http://schemas.openxmlformats.org/officeDocument/2006/relationships/image" Target="../media/image50.png"/><Relationship Id="rId4" Type="http://schemas.openxmlformats.org/officeDocument/2006/relationships/hyperlink" Target="https://www.codecogs.com/eqnedit.php?latex=%20L_%7BProposed%7D(X)%20%3D%20%5Cbegin%7Bcases%7D%20%5Cdisplaystyle%20%5Cfrac%7B%7CX%7C%7D%7B8%7D%2C%20%26%20%5Ctext%7Bif%20%7D%20%7CX%7C%20%3E%2030.8%20%5C%5C%20%5Cdisplaystyle%20%5Clog_%7B1.286%7D(%7CX%7C%20%2B%201)%2C%20%26%20%5Ctext%7Bif%20%7D%201%20%3C%20%7CX%7C%20%5Cleq%2030.8%20%5C%5C%20X%5E2%2C%20%26%20%5Ctext%7Bif%20%7D%20%7CX%7C%20%5Cleq%201%20%5Cend%7Bcases%7D%20#0"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3.jpeg"/><Relationship Id="rId7" Type="http://schemas.openxmlformats.org/officeDocument/2006/relationships/image" Target="../media/image570.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7.xml"/><Relationship Id="rId16" Type="http://schemas.openxmlformats.org/officeDocument/2006/relationships/image" Target="../media/image66.png"/><Relationship Id="rId20" Type="http://schemas.openxmlformats.org/officeDocument/2006/relationships/image" Target="../media/image55.png"/><Relationship Id="rId1" Type="http://schemas.openxmlformats.org/officeDocument/2006/relationships/slideLayout" Target="../slideLayouts/slideLayout23.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7.png"/><Relationship Id="rId15" Type="http://schemas.openxmlformats.org/officeDocument/2006/relationships/image" Target="../media/image65.pn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image" Target="../media/image54.jpeg"/><Relationship Id="rId9" Type="http://schemas.openxmlformats.org/officeDocument/2006/relationships/image" Target="../media/image59.png"/><Relationship Id="rId14" Type="http://schemas.openxmlformats.org/officeDocument/2006/relationships/image" Target="../media/image64.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72.png"/><Relationship Id="rId4" Type="http://schemas.openxmlformats.org/officeDocument/2006/relationships/image" Target="../media/image71.png"/></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8" Type="http://schemas.openxmlformats.org/officeDocument/2006/relationships/image" Target="../media/image78.jpeg"/><Relationship Id="rId3" Type="http://schemas.openxmlformats.org/officeDocument/2006/relationships/image" Target="../media/image74.png"/><Relationship Id="rId7" Type="http://schemas.openxmlformats.org/officeDocument/2006/relationships/image" Target="../media/image77.jpe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800.png"/><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82.png"/></Relationships>
</file>

<file path=ppt/slides/_rels/slide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4.xml"/><Relationship Id="rId1" Type="http://schemas.openxmlformats.org/officeDocument/2006/relationships/slideLayout" Target="../slideLayouts/slideLayout23.xml"/><Relationship Id="rId4" Type="http://schemas.openxmlformats.org/officeDocument/2006/relationships/image" Target="../media/image84.png"/></Relationships>
</file>

<file path=ppt/slides/_rels/slide2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2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7.xml"/><Relationship Id="rId5" Type="http://schemas.openxmlformats.org/officeDocument/2006/relationships/image" Target="../media/image91.jpeg"/><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74EC0CF-033B-40F1-BAC4-3BED187DA0B0}" type="slidenum">
              <a:rPr lang="en-US" smtClean="0"/>
              <a:pPr/>
              <a:t>1</a:t>
            </a:fld>
            <a:endParaRPr lang="en-US"/>
          </a:p>
        </p:txBody>
      </p:sp>
      <p:pic>
        <p:nvPicPr>
          <p:cNvPr id="14" name="Picture 13" descr="master-logo">
            <a:extLst>
              <a:ext uri="{FF2B5EF4-FFF2-40B4-BE49-F238E27FC236}">
                <a16:creationId xmlns:a16="http://schemas.microsoft.com/office/drawing/2014/main" id="{48B29FA2-1F3C-F2D3-9B64-66AC594EE4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78245" y="5982134"/>
            <a:ext cx="1410171" cy="62980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
            <a:extLst>
              <a:ext uri="{FF2B5EF4-FFF2-40B4-BE49-F238E27FC236}">
                <a16:creationId xmlns:a16="http://schemas.microsoft.com/office/drawing/2014/main" id="{8D7E95C5-3525-195B-6AD9-23F55DD0C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0" y="5878512"/>
            <a:ext cx="224472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55A8FA7-981D-1CD8-9B2A-69D0E794EEB0}"/>
              </a:ext>
            </a:extLst>
          </p:cNvPr>
          <p:cNvSpPr txBox="1"/>
          <p:nvPr/>
        </p:nvSpPr>
        <p:spPr>
          <a:xfrm>
            <a:off x="583735" y="2091051"/>
            <a:ext cx="8103065" cy="1384995"/>
          </a:xfrm>
          <a:prstGeom prst="rect">
            <a:avLst/>
          </a:prstGeom>
          <a:noFill/>
        </p:spPr>
        <p:txBody>
          <a:bodyPr wrap="square" rtlCol="0">
            <a:spAutoFit/>
          </a:bodyPr>
          <a:lstStyle/>
          <a:p>
            <a:pPr algn="ctr"/>
            <a:r>
              <a:rPr lang="en-US" sz="2800" b="1" i="1" dirty="0">
                <a:effectLst/>
                <a:latin typeface="Arial" panose="020B0604020202020204" pitchFamily="34" charset="0"/>
                <a:ea typeface="MS Mincho" panose="02020609040205080304" pitchFamily="49" charset="-128"/>
                <a:cs typeface="Times New Roman" panose="02020603050405020304" pitchFamily="18" charset="0"/>
              </a:rPr>
              <a:t>Physics-Informed Neural Networks for the phonon Boltzmann Transport Equation and Electrical Property Tomography</a:t>
            </a:r>
          </a:p>
        </p:txBody>
      </p:sp>
      <p:sp>
        <p:nvSpPr>
          <p:cNvPr id="4" name="TextBox 3">
            <a:extLst>
              <a:ext uri="{FF2B5EF4-FFF2-40B4-BE49-F238E27FC236}">
                <a16:creationId xmlns:a16="http://schemas.microsoft.com/office/drawing/2014/main" id="{51BBE1E6-AC93-3B7F-DB7E-4C71E09381B7}"/>
              </a:ext>
            </a:extLst>
          </p:cNvPr>
          <p:cNvSpPr txBox="1"/>
          <p:nvPr/>
        </p:nvSpPr>
        <p:spPr>
          <a:xfrm>
            <a:off x="249401" y="3645360"/>
            <a:ext cx="8632836" cy="477054"/>
          </a:xfrm>
          <a:prstGeom prst="rect">
            <a:avLst/>
          </a:prstGeom>
          <a:noFill/>
        </p:spPr>
        <p:txBody>
          <a:bodyPr wrap="square">
            <a:spAutoFit/>
          </a:bodyPr>
          <a:lstStyle/>
          <a:p>
            <a:pPr marL="0" marR="0" lvl="0" indent="0" algn="ctr" defTabSz="913267" rtl="0" eaLnBrk="1" fontAlgn="base" latinLnBrk="0" hangingPunct="1">
              <a:lnSpc>
                <a:spcPct val="100000"/>
              </a:lnSpc>
              <a:spcBef>
                <a:spcPct val="0"/>
              </a:spcBef>
              <a:spcAft>
                <a:spcPct val="0"/>
              </a:spcAft>
              <a:buClrTx/>
              <a:buSzTx/>
              <a:buFontTx/>
              <a:buNone/>
              <a:tabLst/>
              <a:defRPr/>
            </a:pPr>
            <a:r>
              <a:rPr lang="en-US" altLang="en-US" sz="2500" dirty="0">
                <a:latin typeface="Arial" pitchFamily="34" charset="0"/>
              </a:rPr>
              <a:t>Wiktor Lidwin</a:t>
            </a:r>
            <a:endParaRPr kumimoji="0" lang="en-US" altLang="en-US" sz="1800" b="0" i="1" strike="noStrike" kern="1200" cap="none" spc="0" normalizeH="0" baseline="0" noProof="0" dirty="0">
              <a:ln>
                <a:noFill/>
              </a:ln>
              <a:effectLst/>
              <a:uLnTx/>
              <a:uFillTx/>
              <a:latin typeface="Arial" pitchFamily="34" charset="0"/>
              <a:ea typeface="+mn-ea"/>
              <a:cs typeface="+mn-cs"/>
            </a:endParaRPr>
          </a:p>
        </p:txBody>
      </p:sp>
      <p:sp>
        <p:nvSpPr>
          <p:cNvPr id="3" name="TextBox 2">
            <a:extLst>
              <a:ext uri="{FF2B5EF4-FFF2-40B4-BE49-F238E27FC236}">
                <a16:creationId xmlns:a16="http://schemas.microsoft.com/office/drawing/2014/main" id="{E32738A8-F1D5-C3CE-3447-DCDFB39A5D37}"/>
              </a:ext>
            </a:extLst>
          </p:cNvPr>
          <p:cNvSpPr txBox="1"/>
          <p:nvPr/>
        </p:nvSpPr>
        <p:spPr>
          <a:xfrm>
            <a:off x="249402" y="4463888"/>
            <a:ext cx="8632836" cy="477054"/>
          </a:xfrm>
          <a:prstGeom prst="rect">
            <a:avLst/>
          </a:prstGeom>
          <a:noFill/>
        </p:spPr>
        <p:txBody>
          <a:bodyPr wrap="square">
            <a:spAutoFit/>
          </a:bodyPr>
          <a:lstStyle/>
          <a:p>
            <a:pPr marL="0" marR="0" lvl="0" indent="0" algn="ctr" defTabSz="913267" rtl="0" eaLnBrk="1" fontAlgn="base" latinLnBrk="0" hangingPunct="1">
              <a:lnSpc>
                <a:spcPct val="100000"/>
              </a:lnSpc>
              <a:spcBef>
                <a:spcPct val="0"/>
              </a:spcBef>
              <a:spcAft>
                <a:spcPct val="0"/>
              </a:spcAft>
              <a:buClrTx/>
              <a:buSzTx/>
              <a:buFontTx/>
              <a:buNone/>
              <a:tabLst/>
              <a:defRPr/>
            </a:pPr>
            <a:r>
              <a:rPr lang="en-US" altLang="en-US" sz="2500" dirty="0">
                <a:latin typeface="Arial" pitchFamily="34" charset="0"/>
              </a:rPr>
              <a:t>Advisor: Professor Luca Dal Negro</a:t>
            </a:r>
            <a:endParaRPr kumimoji="0" lang="en-US" altLang="en-US" sz="1800" b="0" i="1" strike="noStrike" kern="1200" cap="none" spc="0" normalizeH="0" baseline="0" noProof="0" dirty="0">
              <a:ln>
                <a:noFill/>
              </a:ln>
              <a:effectLst/>
              <a:uLnTx/>
              <a:uFillTx/>
              <a:latin typeface="Arial" pitchFamily="34" charset="0"/>
              <a:ea typeface="+mn-ea"/>
              <a:cs typeface="+mn-cs"/>
            </a:endParaRPr>
          </a:p>
        </p:txBody>
      </p:sp>
    </p:spTree>
    <p:extLst>
      <p:ext uri="{BB962C8B-B14F-4D97-AF65-F5344CB8AC3E}">
        <p14:creationId xmlns:p14="http://schemas.microsoft.com/office/powerpoint/2010/main" val="2861350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D42A-DA57-504F-40A9-B105B83D31F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A7E8A52-13C4-C8B1-F91E-51EDC1ED35D8}"/>
              </a:ext>
            </a:extLst>
          </p:cNvPr>
          <p:cNvSpPr/>
          <p:nvPr/>
        </p:nvSpPr>
        <p:spPr>
          <a:xfrm>
            <a:off x="1950720" y="386271"/>
            <a:ext cx="396240" cy="224375"/>
          </a:xfrm>
          <a:prstGeom prst="rect">
            <a:avLst/>
          </a:prstGeom>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Shape 661">
            <a:extLst>
              <a:ext uri="{FF2B5EF4-FFF2-40B4-BE49-F238E27FC236}">
                <a16:creationId xmlns:a16="http://schemas.microsoft.com/office/drawing/2014/main" id="{5D13E3D9-E2F8-1128-7196-1F6A9C1F27D4}"/>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sz="2000" kern="0" dirty="0">
                <a:solidFill>
                  <a:schemeClr val="bg1"/>
                </a:solidFill>
                <a:latin typeface="Arial" panose="020B0604020202020204" pitchFamily="34" charset="0"/>
                <a:cs typeface="Arial" panose="020B0604020202020204" pitchFamily="34" charset="0"/>
                <a:sym typeface="Arial"/>
              </a:rPr>
              <a:t>Introduction to Physics-Informed Neural Networks (PINNs)</a:t>
            </a:r>
          </a:p>
        </p:txBody>
      </p:sp>
      <p:sp>
        <p:nvSpPr>
          <p:cNvPr id="4" name="矩形 15">
            <a:extLst>
              <a:ext uri="{FF2B5EF4-FFF2-40B4-BE49-F238E27FC236}">
                <a16:creationId xmlns:a16="http://schemas.microsoft.com/office/drawing/2014/main" id="{B118CAFB-B37C-F0C9-C480-272338F96326}"/>
              </a:ext>
            </a:extLst>
          </p:cNvPr>
          <p:cNvSpPr/>
          <p:nvPr/>
        </p:nvSpPr>
        <p:spPr>
          <a:xfrm>
            <a:off x="692621" y="3258374"/>
            <a:ext cx="3027406" cy="2020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t>J.D. </a:t>
            </a:r>
            <a:r>
              <a:rPr lang="fr-FR" sz="1000" dirty="0" err="1"/>
              <a:t>Toscano</a:t>
            </a:r>
            <a:r>
              <a:rPr lang="fr-FR" sz="1000" dirty="0"/>
              <a:t> et al., arXiv:2410.13228, (2024)</a:t>
            </a:r>
            <a:endParaRPr lang="en-US" sz="1000" dirty="0">
              <a:solidFill>
                <a:schemeClr val="bg1"/>
              </a:solidFill>
            </a:endParaRPr>
          </a:p>
        </p:txBody>
      </p:sp>
      <p:sp>
        <p:nvSpPr>
          <p:cNvPr id="5" name="TextBox 4">
            <a:extLst>
              <a:ext uri="{FF2B5EF4-FFF2-40B4-BE49-F238E27FC236}">
                <a16:creationId xmlns:a16="http://schemas.microsoft.com/office/drawing/2014/main" id="{83893E43-564A-66CD-6EBA-A87E868880FC}"/>
              </a:ext>
            </a:extLst>
          </p:cNvPr>
          <p:cNvSpPr txBox="1"/>
          <p:nvPr/>
        </p:nvSpPr>
        <p:spPr>
          <a:xfrm>
            <a:off x="5902114" y="1162142"/>
            <a:ext cx="277630" cy="369332"/>
          </a:xfrm>
          <a:prstGeom prst="rect">
            <a:avLst/>
          </a:prstGeom>
          <a:solidFill>
            <a:schemeClr val="bg1"/>
          </a:solidFill>
          <a:ln>
            <a:solidFill>
              <a:schemeClr val="bg1"/>
            </a:solidFill>
          </a:ln>
        </p:spPr>
        <p:txBody>
          <a:bodyPr wrap="square" rtlCol="0">
            <a:spAutoFit/>
          </a:bodyPr>
          <a:lstStyle/>
          <a:p>
            <a:endParaRPr lang="en-US" dirty="0"/>
          </a:p>
        </p:txBody>
      </p:sp>
      <p:sp>
        <p:nvSpPr>
          <p:cNvPr id="10" name="TextBox 9">
            <a:extLst>
              <a:ext uri="{FF2B5EF4-FFF2-40B4-BE49-F238E27FC236}">
                <a16:creationId xmlns:a16="http://schemas.microsoft.com/office/drawing/2014/main" id="{63165107-CE1B-CFD7-1950-33A25F16B8FF}"/>
              </a:ext>
            </a:extLst>
          </p:cNvPr>
          <p:cNvSpPr txBox="1"/>
          <p:nvPr/>
        </p:nvSpPr>
        <p:spPr>
          <a:xfrm>
            <a:off x="5255306" y="3143250"/>
            <a:ext cx="277630" cy="369332"/>
          </a:xfrm>
          <a:prstGeom prst="rect">
            <a:avLst/>
          </a:prstGeom>
          <a:solidFill>
            <a:schemeClr val="bg1"/>
          </a:solidFill>
          <a:ln>
            <a:solidFill>
              <a:schemeClr val="bg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1CC9C27D-AFCC-A186-A8E5-67C0F82FEC82}"/>
              </a:ext>
            </a:extLst>
          </p:cNvPr>
          <p:cNvSpPr txBox="1"/>
          <p:nvPr/>
        </p:nvSpPr>
        <p:spPr>
          <a:xfrm>
            <a:off x="9005185" y="3435178"/>
            <a:ext cx="138815" cy="369332"/>
          </a:xfrm>
          <a:prstGeom prst="rect">
            <a:avLst/>
          </a:prstGeom>
          <a:solidFill>
            <a:schemeClr val="bg1"/>
          </a:solidFill>
          <a:ln>
            <a:solidFill>
              <a:schemeClr val="bg1"/>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54750CD6-0983-6FB4-0D94-2FB382906974}"/>
              </a:ext>
            </a:extLst>
          </p:cNvPr>
          <p:cNvSpPr txBox="1"/>
          <p:nvPr/>
        </p:nvSpPr>
        <p:spPr>
          <a:xfrm>
            <a:off x="7067006" y="1276363"/>
            <a:ext cx="412941" cy="369332"/>
          </a:xfrm>
          <a:prstGeom prst="rect">
            <a:avLst/>
          </a:prstGeom>
          <a:solidFill>
            <a:schemeClr val="bg1"/>
          </a:solidFill>
          <a:ln>
            <a:solidFill>
              <a:schemeClr val="bg1"/>
            </a:solidFill>
          </a:ln>
        </p:spPr>
        <p:txBody>
          <a:bodyPr wrap="square" rtlCol="0">
            <a:spAutoFit/>
          </a:bodyPr>
          <a:lstStyle/>
          <a:p>
            <a:endParaRPr lang="en-US" dirty="0"/>
          </a:p>
        </p:txBody>
      </p:sp>
      <p:pic>
        <p:nvPicPr>
          <p:cNvPr id="3" name="Picture 2">
            <a:extLst>
              <a:ext uri="{FF2B5EF4-FFF2-40B4-BE49-F238E27FC236}">
                <a16:creationId xmlns:a16="http://schemas.microsoft.com/office/drawing/2014/main" id="{4662F37F-872E-8D59-5606-CBE30B8B8272}"/>
              </a:ext>
            </a:extLst>
          </p:cNvPr>
          <p:cNvPicPr>
            <a:picLocks noChangeAspect="1"/>
          </p:cNvPicPr>
          <p:nvPr/>
        </p:nvPicPr>
        <p:blipFill>
          <a:blip r:embed="rId2"/>
          <a:stretch>
            <a:fillRect/>
          </a:stretch>
        </p:blipFill>
        <p:spPr>
          <a:xfrm>
            <a:off x="45284" y="1117241"/>
            <a:ext cx="4123551" cy="213100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915ED6-6F1A-9FE4-0437-E6CEA8D2EEE7}"/>
                  </a:ext>
                </a:extLst>
              </p:cNvPr>
              <p:cNvSpPr txBox="1"/>
              <p:nvPr/>
            </p:nvSpPr>
            <p:spPr>
              <a:xfrm>
                <a:off x="4810458" y="1460042"/>
                <a:ext cx="3924300" cy="5177332"/>
              </a:xfrm>
              <a:prstGeom prst="rect">
                <a:avLst/>
              </a:prstGeom>
              <a:noFill/>
              <a:ln>
                <a:noFill/>
              </a:ln>
            </p:spPr>
            <p:txBody>
              <a:bodyPr rtlCol="0" anchor="t">
                <a:normAutofit/>
              </a:bodyPr>
              <a:lstStyle/>
              <a:p>
                <a:pPr algn="ctr">
                  <a:lnSpc>
                    <a:spcPct val="90000"/>
                  </a:lnSpc>
                  <a:spcAft>
                    <a:spcPts val="600"/>
                  </a:spcAft>
                </a:pPr>
                <a:r>
                  <a:rPr lang="en-US" sz="1500" b="1" dirty="0">
                    <a:solidFill>
                      <a:schemeClr val="dk2"/>
                    </a:solidFill>
                  </a:rPr>
                  <a:t>PINNs Requirements</a:t>
                </a:r>
                <a:r>
                  <a:rPr lang="en-US" sz="1500" b="0" i="0" u="none" strike="noStrike" cap="none" dirty="0">
                    <a:solidFill>
                      <a:schemeClr val="dk2"/>
                    </a:solidFill>
                  </a:rPr>
                  <a:t> </a:t>
                </a:r>
                <a:br>
                  <a:rPr lang="en-US" sz="1500" b="0" i="0" u="none" strike="noStrike" cap="none" dirty="0">
                    <a:solidFill>
                      <a:schemeClr val="dk2"/>
                    </a:solidFill>
                  </a:rPr>
                </a:br>
                <a:endParaRPr lang="en-US" sz="1500" b="0" i="0" u="none" strike="noStrike" cap="none" dirty="0">
                  <a:solidFill>
                    <a:schemeClr val="dk2"/>
                  </a:solidFill>
                </a:endParaRPr>
              </a:p>
              <a:p>
                <a:pPr marL="285750" indent="-285750">
                  <a:lnSpc>
                    <a:spcPct val="90000"/>
                  </a:lnSpc>
                  <a:spcAft>
                    <a:spcPts val="600"/>
                  </a:spcAft>
                  <a:buFont typeface="Arial" panose="020B0604020202020204" pitchFamily="34" charset="0"/>
                  <a:buChar char="•"/>
                </a:pPr>
                <a:r>
                  <a:rPr lang="en-US" sz="1500" dirty="0">
                    <a:solidFill>
                      <a:schemeClr val="dk2"/>
                    </a:solidFill>
                  </a:rPr>
                  <a:t>The</a:t>
                </a:r>
                <a:r>
                  <a:rPr lang="en-US" sz="1500" b="0" i="0" u="none" strike="noStrike" cap="none" dirty="0">
                    <a:solidFill>
                      <a:schemeClr val="dk2"/>
                    </a:solidFill>
                  </a:rPr>
                  <a:t> </a:t>
                </a:r>
                <a:r>
                  <a:rPr lang="en-US" sz="1500" b="1" i="0" u="none" strike="noStrike" cap="none" dirty="0">
                    <a:solidFill>
                      <a:schemeClr val="dk2"/>
                    </a:solidFill>
                  </a:rPr>
                  <a:t>partial differential equation </a:t>
                </a:r>
                <a:r>
                  <a:rPr lang="en-US" sz="1500" b="0" i="0" u="none" strike="noStrike" cap="none" dirty="0">
                    <a:solidFill>
                      <a:schemeClr val="dk2"/>
                    </a:solidFill>
                  </a:rPr>
                  <a:t>to solve</a:t>
                </a:r>
              </a:p>
              <a:p>
                <a:pPr marL="742950" lvl="1" indent="-285750">
                  <a:lnSpc>
                    <a:spcPct val="90000"/>
                  </a:lnSpc>
                  <a:spcAft>
                    <a:spcPts val="600"/>
                  </a:spcAft>
                  <a:buFont typeface="Arial" panose="020B0604020202020204" pitchFamily="34" charset="0"/>
                  <a:buChar char="•"/>
                </a:pPr>
                <a:r>
                  <a:rPr lang="en-US" sz="1500" b="0" i="0" u="none" strike="noStrike" cap="none" dirty="0">
                    <a:solidFill>
                      <a:schemeClr val="dk2"/>
                    </a:solidFill>
                  </a:rPr>
                  <a:t>E.g. </a:t>
                </a:r>
                <a:r>
                  <a:rPr lang="en-US" sz="1500" dirty="0">
                    <a:solidFill>
                      <a:schemeClr val="dk2"/>
                    </a:solidFill>
                  </a:rPr>
                  <a:t>Heat Equation: </a:t>
                </a:r>
                <a:endParaRPr lang="en-US" sz="1500" b="0" i="1" u="none" strike="noStrike" cap="none" dirty="0">
                  <a:solidFill>
                    <a:schemeClr val="dk2"/>
                  </a:solidFill>
                  <a:latin typeface="Cambria Math" panose="02040503050406030204" pitchFamily="18" charset="0"/>
                </a:endParaRPr>
              </a:p>
              <a:p>
                <a:pPr marL="1200150" lvl="2" indent="-285750">
                  <a:lnSpc>
                    <a:spcPct val="90000"/>
                  </a:lnSpc>
                  <a:spcAft>
                    <a:spcPts val="600"/>
                  </a:spcAft>
                  <a:buFont typeface="Arial" panose="020B0604020202020204" pitchFamily="34" charset="0"/>
                  <a:buChar char="•"/>
                </a:pPr>
                <a:r>
                  <a:rPr lang="en-US" sz="1500" dirty="0">
                    <a:solidFill>
                      <a:schemeClr val="dk2"/>
                    </a:solidFill>
                  </a:rPr>
                  <a:t>Residual form: : </a:t>
                </a:r>
                <a14:m>
                  <m:oMath xmlns:m="http://schemas.openxmlformats.org/officeDocument/2006/math">
                    <m:f>
                      <m:fPr>
                        <m:ctrlPr>
                          <a:rPr lang="en-US" sz="1500" i="1">
                            <a:solidFill>
                              <a:schemeClr val="dk2"/>
                            </a:solidFill>
                            <a:latin typeface="Cambria Math" panose="02040503050406030204" pitchFamily="18" charset="0"/>
                          </a:rPr>
                        </m:ctrlPr>
                      </m:fPr>
                      <m:num>
                        <m:r>
                          <a:rPr lang="en-US" sz="1500" i="1">
                            <a:solidFill>
                              <a:schemeClr val="dk2"/>
                            </a:solidFill>
                            <a:latin typeface="Cambria Math" panose="02040503050406030204" pitchFamily="18" charset="0"/>
                          </a:rPr>
                          <m:t>𝜕</m:t>
                        </m:r>
                        <m:r>
                          <a:rPr lang="en-US" sz="1500" i="1">
                            <a:solidFill>
                              <a:schemeClr val="dk2"/>
                            </a:solidFill>
                            <a:latin typeface="Cambria Math" panose="02040503050406030204" pitchFamily="18" charset="0"/>
                          </a:rPr>
                          <m:t>𝑇</m:t>
                        </m:r>
                      </m:num>
                      <m:den>
                        <m:r>
                          <a:rPr lang="en-US" sz="1500" i="1">
                            <a:solidFill>
                              <a:schemeClr val="dk2"/>
                            </a:solidFill>
                            <a:latin typeface="Cambria Math" panose="02040503050406030204" pitchFamily="18" charset="0"/>
                          </a:rPr>
                          <m:t>𝜕</m:t>
                        </m:r>
                        <m:r>
                          <a:rPr lang="en-US" sz="1500" i="1">
                            <a:solidFill>
                              <a:schemeClr val="dk2"/>
                            </a:solidFill>
                            <a:latin typeface="Cambria Math" panose="02040503050406030204" pitchFamily="18" charset="0"/>
                          </a:rPr>
                          <m:t>𝑡</m:t>
                        </m:r>
                      </m:den>
                    </m:f>
                    <m:r>
                      <a:rPr lang="en-US" sz="1500" b="0" i="1" smtClean="0">
                        <a:solidFill>
                          <a:schemeClr val="dk2"/>
                        </a:solidFill>
                        <a:latin typeface="Cambria Math" panose="02040503050406030204" pitchFamily="18" charset="0"/>
                      </a:rPr>
                      <m:t>−</m:t>
                    </m:r>
                    <m:r>
                      <a:rPr lang="en-US" sz="1500" i="1">
                        <a:solidFill>
                          <a:schemeClr val="dk2"/>
                        </a:solidFill>
                        <a:latin typeface="Cambria Math" panose="02040503050406030204" pitchFamily="18" charset="0"/>
                      </a:rPr>
                      <m:t>𝜅</m:t>
                    </m:r>
                    <m:f>
                      <m:fPr>
                        <m:ctrlPr>
                          <a:rPr lang="en-US" sz="1500" i="1">
                            <a:solidFill>
                              <a:schemeClr val="dk2"/>
                            </a:solidFill>
                            <a:latin typeface="Cambria Math" panose="02040503050406030204" pitchFamily="18" charset="0"/>
                          </a:rPr>
                        </m:ctrlPr>
                      </m:fPr>
                      <m:num>
                        <m:r>
                          <a:rPr lang="en-US" sz="1500" i="1">
                            <a:solidFill>
                              <a:schemeClr val="dk2"/>
                            </a:solidFill>
                            <a:latin typeface="Cambria Math" panose="02040503050406030204" pitchFamily="18" charset="0"/>
                          </a:rPr>
                          <m:t>𝜕</m:t>
                        </m:r>
                        <m:r>
                          <a:rPr lang="en-US" sz="1500" i="1">
                            <a:solidFill>
                              <a:schemeClr val="dk2"/>
                            </a:solidFill>
                            <a:latin typeface="Cambria Math" panose="02040503050406030204" pitchFamily="18" charset="0"/>
                          </a:rPr>
                          <m:t>𝑇</m:t>
                        </m:r>
                      </m:num>
                      <m:den>
                        <m:r>
                          <a:rPr lang="en-US" sz="1500" i="1">
                            <a:solidFill>
                              <a:schemeClr val="dk2"/>
                            </a:solidFill>
                            <a:latin typeface="Cambria Math" panose="02040503050406030204" pitchFamily="18" charset="0"/>
                          </a:rPr>
                          <m:t>𝜕</m:t>
                        </m:r>
                        <m:r>
                          <a:rPr lang="en-US" sz="1500" i="1">
                            <a:solidFill>
                              <a:schemeClr val="dk2"/>
                            </a:solidFill>
                            <a:latin typeface="Cambria Math" panose="02040503050406030204" pitchFamily="18" charset="0"/>
                          </a:rPr>
                          <m:t>𝑥</m:t>
                        </m:r>
                      </m:den>
                    </m:f>
                    <m:r>
                      <a:rPr lang="en-US" sz="1500" i="1">
                        <a:solidFill>
                          <a:schemeClr val="dk2"/>
                        </a:solidFill>
                        <a:latin typeface="Cambria Math" panose="02040503050406030204" pitchFamily="18" charset="0"/>
                      </a:rPr>
                      <m:t> </m:t>
                    </m:r>
                  </m:oMath>
                </a14:m>
                <a:r>
                  <a:rPr lang="en-US" sz="1500" b="0" i="0" u="none" strike="noStrike" cap="none" dirty="0">
                    <a:solidFill>
                      <a:schemeClr val="dk2"/>
                    </a:solidFill>
                  </a:rPr>
                  <a:t>= 0</a:t>
                </a:r>
                <a:br>
                  <a:rPr lang="en-US" sz="1500" b="0" i="0" u="none" strike="noStrike" cap="none" dirty="0">
                    <a:solidFill>
                      <a:schemeClr val="dk2"/>
                    </a:solidFill>
                  </a:rPr>
                </a:br>
                <a:endParaRPr lang="en-US" sz="1500" b="0" i="0" u="none" strike="noStrike" cap="none" dirty="0">
                  <a:solidFill>
                    <a:schemeClr val="dk2"/>
                  </a:solidFill>
                </a:endParaRPr>
              </a:p>
              <a:p>
                <a:pPr marL="285750" indent="-285750">
                  <a:lnSpc>
                    <a:spcPct val="90000"/>
                  </a:lnSpc>
                  <a:spcAft>
                    <a:spcPts val="600"/>
                  </a:spcAft>
                  <a:buFont typeface="Arial" panose="020B0604020202020204" pitchFamily="34" charset="0"/>
                  <a:buChar char="•"/>
                </a:pPr>
                <a:r>
                  <a:rPr lang="en-US" sz="1500" b="1" dirty="0">
                    <a:solidFill>
                      <a:schemeClr val="dk2"/>
                    </a:solidFill>
                  </a:rPr>
                  <a:t>Boundary</a:t>
                </a:r>
                <a:r>
                  <a:rPr lang="en-US" sz="1500" dirty="0">
                    <a:solidFill>
                      <a:schemeClr val="dk2"/>
                    </a:solidFill>
                  </a:rPr>
                  <a:t> or</a:t>
                </a:r>
                <a:r>
                  <a:rPr lang="en-US" sz="1500" b="1" dirty="0">
                    <a:solidFill>
                      <a:schemeClr val="dk2"/>
                    </a:solidFill>
                  </a:rPr>
                  <a:t> </a:t>
                </a:r>
                <a:r>
                  <a:rPr lang="en-US" sz="1500" b="1" i="0" u="none" strike="noStrike" cap="none" dirty="0">
                    <a:solidFill>
                      <a:schemeClr val="dk2"/>
                    </a:solidFill>
                  </a:rPr>
                  <a:t>Initial</a:t>
                </a:r>
                <a:r>
                  <a:rPr lang="en-US" sz="1500" b="1" dirty="0">
                    <a:solidFill>
                      <a:schemeClr val="dk2"/>
                    </a:solidFill>
                  </a:rPr>
                  <a:t> Conditions </a:t>
                </a:r>
                <a:r>
                  <a:rPr lang="en-US" sz="1500" dirty="0">
                    <a:solidFill>
                      <a:schemeClr val="dk2"/>
                    </a:solidFill>
                  </a:rPr>
                  <a:t>for forward problems</a:t>
                </a:r>
              </a:p>
              <a:p>
                <a:pPr marL="285750" indent="-285750">
                  <a:lnSpc>
                    <a:spcPct val="90000"/>
                  </a:lnSpc>
                  <a:spcAft>
                    <a:spcPts val="600"/>
                  </a:spcAft>
                  <a:buFont typeface="Arial" panose="020B0604020202020204" pitchFamily="34" charset="0"/>
                  <a:buChar char="•"/>
                </a:pPr>
                <a:endParaRPr lang="en-US" sz="1500" dirty="0">
                  <a:solidFill>
                    <a:schemeClr val="dk2"/>
                  </a:solidFill>
                </a:endParaRPr>
              </a:p>
              <a:p>
                <a:pPr marL="285750" indent="-285750">
                  <a:lnSpc>
                    <a:spcPct val="90000"/>
                  </a:lnSpc>
                  <a:spcAft>
                    <a:spcPts val="600"/>
                  </a:spcAft>
                  <a:buFont typeface="Arial" panose="020B0604020202020204" pitchFamily="34" charset="0"/>
                  <a:buChar char="•"/>
                </a:pPr>
                <a:r>
                  <a:rPr lang="en-US" sz="1500" dirty="0">
                    <a:solidFill>
                      <a:schemeClr val="dk2"/>
                    </a:solidFill>
                  </a:rPr>
                  <a:t>Randomly sampled </a:t>
                </a:r>
                <a:r>
                  <a:rPr lang="en-US" sz="1500" b="1" dirty="0">
                    <a:solidFill>
                      <a:schemeClr val="dk2"/>
                    </a:solidFill>
                  </a:rPr>
                  <a:t>collocation points </a:t>
                </a:r>
                <a:r>
                  <a:rPr lang="en-US" sz="1500" dirty="0">
                    <a:solidFill>
                      <a:schemeClr val="dk2"/>
                    </a:solidFill>
                  </a:rPr>
                  <a:t>to evaluate physics loss</a:t>
                </a:r>
              </a:p>
              <a:p>
                <a:pPr marL="742950" lvl="1" indent="-285750">
                  <a:lnSpc>
                    <a:spcPct val="90000"/>
                  </a:lnSpc>
                  <a:spcAft>
                    <a:spcPts val="600"/>
                  </a:spcAft>
                  <a:buFont typeface="Arial" panose="020B0604020202020204" pitchFamily="34" charset="0"/>
                  <a:buChar char="•"/>
                </a:pPr>
                <a:r>
                  <a:rPr lang="en-US" sz="1500" dirty="0">
                    <a:solidFill>
                      <a:schemeClr val="dk2"/>
                    </a:solidFill>
                  </a:rPr>
                  <a:t>Minimize </a:t>
                </a:r>
                <a14:m>
                  <m:oMath xmlns:m="http://schemas.openxmlformats.org/officeDocument/2006/math">
                    <m:r>
                      <a:rPr lang="en-US" sz="1600" i="1" smtClean="0">
                        <a:latin typeface="Cambria Math" panose="02040503050406030204" pitchFamily="18" charset="0"/>
                        <a:ea typeface="Cambria Math" panose="02040503050406030204" pitchFamily="18" charset="0"/>
                      </a:rPr>
                      <m:t>ℒ</m:t>
                    </m:r>
                  </m:oMath>
                </a14:m>
                <a:r>
                  <a:rPr lang="en-US" sz="1500" i="0" u="none" strike="noStrike" cap="none" dirty="0">
                    <a:solidFill>
                      <a:schemeClr val="dk2"/>
                    </a:solidFill>
                  </a:rPr>
                  <a:t> on these points through back propagation</a:t>
                </a:r>
              </a:p>
              <a:p>
                <a:pPr marL="742950" lvl="1" indent="-285750">
                  <a:lnSpc>
                    <a:spcPct val="90000"/>
                  </a:lnSpc>
                  <a:spcAft>
                    <a:spcPts val="600"/>
                  </a:spcAft>
                  <a:buFont typeface="Arial" panose="020B0604020202020204" pitchFamily="34" charset="0"/>
                  <a:buChar char="•"/>
                </a:pPr>
                <a:r>
                  <a:rPr lang="en-US" sz="1500" dirty="0">
                    <a:solidFill>
                      <a:schemeClr val="dk2"/>
                    </a:solidFill>
                  </a:rPr>
                  <a:t>Accurate mesh-free method</a:t>
                </a:r>
              </a:p>
              <a:p>
                <a:pPr marL="742950" lvl="1" indent="-285750">
                  <a:lnSpc>
                    <a:spcPct val="90000"/>
                  </a:lnSpc>
                  <a:spcAft>
                    <a:spcPts val="600"/>
                  </a:spcAft>
                  <a:buFont typeface="Arial" panose="020B0604020202020204" pitchFamily="34" charset="0"/>
                  <a:buChar char="•"/>
                </a:pPr>
                <a:r>
                  <a:rPr lang="en-US" sz="1500" i="0" u="none" strike="noStrike" cap="none" dirty="0">
                    <a:solidFill>
                      <a:schemeClr val="dk2"/>
                    </a:solidFill>
                  </a:rPr>
                  <a:t>Leveraging automatic network differentiation</a:t>
                </a:r>
              </a:p>
              <a:p>
                <a:pPr marL="742950" lvl="1" indent="-285750">
                  <a:lnSpc>
                    <a:spcPct val="90000"/>
                  </a:lnSpc>
                  <a:spcAft>
                    <a:spcPts val="600"/>
                  </a:spcAft>
                  <a:buFont typeface="Arial" panose="020B0604020202020204" pitchFamily="34" charset="0"/>
                  <a:buChar char="•"/>
                </a:pPr>
                <a:r>
                  <a:rPr lang="en-US" sz="1500" dirty="0">
                    <a:solidFill>
                      <a:schemeClr val="dk2"/>
                    </a:solidFill>
                  </a:rPr>
                  <a:t>Ideal framework for solving complex inverse problems at minimal computational cost</a:t>
                </a:r>
                <a:endParaRPr lang="en-US" sz="1500" i="0" u="none" strike="noStrike" cap="none" dirty="0">
                  <a:solidFill>
                    <a:schemeClr val="dk2"/>
                  </a:solidFill>
                </a:endParaRPr>
              </a:p>
            </p:txBody>
          </p:sp>
        </mc:Choice>
        <mc:Fallback xmlns="">
          <p:sp>
            <p:nvSpPr>
              <p:cNvPr id="6" name="TextBox 5">
                <a:extLst>
                  <a:ext uri="{FF2B5EF4-FFF2-40B4-BE49-F238E27FC236}">
                    <a16:creationId xmlns:a16="http://schemas.microsoft.com/office/drawing/2014/main" id="{D8915ED6-6F1A-9FE4-0437-E6CEA8D2EEE7}"/>
                  </a:ext>
                </a:extLst>
              </p:cNvPr>
              <p:cNvSpPr txBox="1">
                <a:spLocks noRot="1" noChangeAspect="1" noMove="1" noResize="1" noEditPoints="1" noAdjustHandles="1" noChangeArrowheads="1" noChangeShapeType="1" noTextEdit="1"/>
              </p:cNvSpPr>
              <p:nvPr/>
            </p:nvSpPr>
            <p:spPr>
              <a:xfrm>
                <a:off x="4810458" y="1460042"/>
                <a:ext cx="3924300" cy="5177332"/>
              </a:xfrm>
              <a:prstGeom prst="rect">
                <a:avLst/>
              </a:prstGeom>
              <a:blipFill>
                <a:blip r:embed="rId3"/>
                <a:stretch>
                  <a:fillRect l="-466" t="-707" r="-1553"/>
                </a:stretch>
              </a:blipFill>
              <a:ln>
                <a:no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6E8814B0-F646-3FEF-47D9-4F666316C18F}"/>
              </a:ext>
            </a:extLst>
          </p:cNvPr>
          <p:cNvSpPr txBox="1"/>
          <p:nvPr/>
        </p:nvSpPr>
        <p:spPr>
          <a:xfrm>
            <a:off x="-406253" y="3927657"/>
            <a:ext cx="4575088" cy="341632"/>
          </a:xfrm>
          <a:prstGeom prst="rect">
            <a:avLst/>
          </a:prstGeom>
          <a:noFill/>
        </p:spPr>
        <p:txBody>
          <a:bodyPr wrap="square">
            <a:spAutoFit/>
          </a:bodyPr>
          <a:lstStyle/>
          <a:p>
            <a:pPr algn="ctr">
              <a:lnSpc>
                <a:spcPct val="90000"/>
              </a:lnSpc>
              <a:spcAft>
                <a:spcPts val="600"/>
              </a:spcAft>
            </a:pPr>
            <a:r>
              <a:rPr lang="en-US" sz="1800" dirty="0">
                <a:solidFill>
                  <a:schemeClr val="dk2"/>
                </a:solidFill>
              </a:rPr>
              <a:t>PINN Explicit Training </a:t>
            </a:r>
          </a:p>
        </p:txBody>
      </p:sp>
      <p:grpSp>
        <p:nvGrpSpPr>
          <p:cNvPr id="25" name="Group 24">
            <a:extLst>
              <a:ext uri="{FF2B5EF4-FFF2-40B4-BE49-F238E27FC236}">
                <a16:creationId xmlns:a16="http://schemas.microsoft.com/office/drawing/2014/main" id="{D498EA8D-B64D-8333-02C7-3E96EA9E65D5}"/>
              </a:ext>
            </a:extLst>
          </p:cNvPr>
          <p:cNvGrpSpPr/>
          <p:nvPr/>
        </p:nvGrpSpPr>
        <p:grpSpPr>
          <a:xfrm>
            <a:off x="5245356" y="742293"/>
            <a:ext cx="3054504" cy="384876"/>
            <a:chOff x="156775" y="5764766"/>
            <a:chExt cx="3539860" cy="384876"/>
          </a:xfrm>
        </p:grpSpPr>
        <p:sp>
          <p:nvSpPr>
            <p:cNvPr id="23" name="Rounded Rectangle 22">
              <a:extLst>
                <a:ext uri="{FF2B5EF4-FFF2-40B4-BE49-F238E27FC236}">
                  <a16:creationId xmlns:a16="http://schemas.microsoft.com/office/drawing/2014/main" id="{17A65D41-C823-024C-8863-1B91FF8EF1D3}"/>
                </a:ext>
              </a:extLst>
            </p:cNvPr>
            <p:cNvSpPr/>
            <p:nvPr/>
          </p:nvSpPr>
          <p:spPr>
            <a:xfrm>
              <a:off x="580359" y="5764766"/>
              <a:ext cx="2692239" cy="384876"/>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C20C545-8159-6DCE-9EB4-24BD9B621CB7}"/>
                    </a:ext>
                  </a:extLst>
                </p:cNvPr>
                <p:cNvSpPr txBox="1"/>
                <p:nvPr/>
              </p:nvSpPr>
              <p:spPr>
                <a:xfrm>
                  <a:off x="156775" y="5772538"/>
                  <a:ext cx="35398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ℒ</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𝑃𝐷𝐸</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𝐵𝐶</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ea typeface="Cambria Math" panose="02040503050406030204" pitchFamily="18" charset="0"/>
                              </a:rPr>
                              <m:t>𝐼𝐶</m:t>
                            </m:r>
                          </m:sub>
                        </m:sSub>
                      </m:oMath>
                    </m:oMathPara>
                  </a14:m>
                  <a:endParaRPr lang="en-US" dirty="0"/>
                </a:p>
              </p:txBody>
            </p:sp>
          </mc:Choice>
          <mc:Fallback xmlns="">
            <p:sp>
              <p:nvSpPr>
                <p:cNvPr id="24" name="TextBox 23">
                  <a:extLst>
                    <a:ext uri="{FF2B5EF4-FFF2-40B4-BE49-F238E27FC236}">
                      <a16:creationId xmlns:a16="http://schemas.microsoft.com/office/drawing/2014/main" id="{1C20C545-8159-6DCE-9EB4-24BD9B621CB7}"/>
                    </a:ext>
                  </a:extLst>
                </p:cNvPr>
                <p:cNvSpPr txBox="1">
                  <a:spLocks noRot="1" noChangeAspect="1" noMove="1" noResize="1" noEditPoints="1" noAdjustHandles="1" noChangeArrowheads="1" noChangeShapeType="1" noTextEdit="1"/>
                </p:cNvSpPr>
                <p:nvPr/>
              </p:nvSpPr>
              <p:spPr>
                <a:xfrm>
                  <a:off x="156775" y="5772538"/>
                  <a:ext cx="3539860" cy="369332"/>
                </a:xfrm>
                <a:prstGeom prst="rect">
                  <a:avLst/>
                </a:prstGeom>
                <a:blipFill>
                  <a:blip r:embed="rId4"/>
                  <a:stretch>
                    <a:fillRect b="-1667"/>
                  </a:stretch>
                </a:blipFill>
              </p:spPr>
              <p:txBody>
                <a:bodyPr/>
                <a:lstStyle/>
                <a:p>
                  <a:r>
                    <a:rPr lang="en-US">
                      <a:noFill/>
                    </a:rPr>
                    <a:t> </a:t>
                  </a:r>
                </a:p>
              </p:txBody>
            </p:sp>
          </mc:Fallback>
        </mc:AlternateContent>
      </p:grpSp>
      <p:pic>
        <p:nvPicPr>
          <p:cNvPr id="27" name="Picture 26">
            <a:extLst>
              <a:ext uri="{FF2B5EF4-FFF2-40B4-BE49-F238E27FC236}">
                <a16:creationId xmlns:a16="http://schemas.microsoft.com/office/drawing/2014/main" id="{14D459D1-8E6F-FF7A-01C2-D0AF411C814C}"/>
              </a:ext>
            </a:extLst>
          </p:cNvPr>
          <p:cNvPicPr>
            <a:picLocks noChangeAspect="1"/>
          </p:cNvPicPr>
          <p:nvPr/>
        </p:nvPicPr>
        <p:blipFill>
          <a:blip r:embed="rId5"/>
          <a:stretch>
            <a:fillRect/>
          </a:stretch>
        </p:blipFill>
        <p:spPr>
          <a:xfrm>
            <a:off x="409242" y="4264477"/>
            <a:ext cx="4312739" cy="1820882"/>
          </a:xfrm>
          <a:prstGeom prst="rect">
            <a:avLst/>
          </a:prstGeom>
        </p:spPr>
      </p:pic>
      <p:sp>
        <p:nvSpPr>
          <p:cNvPr id="30" name="矩形 15">
            <a:extLst>
              <a:ext uri="{FF2B5EF4-FFF2-40B4-BE49-F238E27FC236}">
                <a16:creationId xmlns:a16="http://schemas.microsoft.com/office/drawing/2014/main" id="{5E9C15B7-2D5B-DFB4-8E22-F84945576C1B}"/>
              </a:ext>
            </a:extLst>
          </p:cNvPr>
          <p:cNvSpPr/>
          <p:nvPr/>
        </p:nvSpPr>
        <p:spPr>
          <a:xfrm>
            <a:off x="692621" y="6165186"/>
            <a:ext cx="3027406" cy="2020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t>Lu Lu et al., arXiv:1907.04502, (2020)</a:t>
            </a:r>
            <a:endParaRPr lang="en-US" sz="1000" dirty="0">
              <a:solidFill>
                <a:schemeClr val="bg1"/>
              </a:solidFill>
            </a:endParaRPr>
          </a:p>
        </p:txBody>
      </p:sp>
      <p:sp>
        <p:nvSpPr>
          <p:cNvPr id="33" name="TextBox 32">
            <a:extLst>
              <a:ext uri="{FF2B5EF4-FFF2-40B4-BE49-F238E27FC236}">
                <a16:creationId xmlns:a16="http://schemas.microsoft.com/office/drawing/2014/main" id="{83B58FCD-2609-D573-F060-983F48A27924}"/>
              </a:ext>
            </a:extLst>
          </p:cNvPr>
          <p:cNvSpPr txBox="1"/>
          <p:nvPr/>
        </p:nvSpPr>
        <p:spPr>
          <a:xfrm>
            <a:off x="-101845" y="934731"/>
            <a:ext cx="4575088" cy="341632"/>
          </a:xfrm>
          <a:prstGeom prst="rect">
            <a:avLst/>
          </a:prstGeom>
          <a:noFill/>
        </p:spPr>
        <p:txBody>
          <a:bodyPr wrap="square">
            <a:spAutoFit/>
          </a:bodyPr>
          <a:lstStyle/>
          <a:p>
            <a:pPr algn="ctr">
              <a:lnSpc>
                <a:spcPct val="90000"/>
              </a:lnSpc>
              <a:spcAft>
                <a:spcPts val="600"/>
              </a:spcAft>
            </a:pPr>
            <a:r>
              <a:rPr lang="en-US" sz="1800" dirty="0">
                <a:solidFill>
                  <a:schemeClr val="dk2"/>
                </a:solidFill>
              </a:rPr>
              <a:t>PINN High-level Training </a:t>
            </a:r>
          </a:p>
        </p:txBody>
      </p:sp>
    </p:spTree>
    <p:extLst>
      <p:ext uri="{BB962C8B-B14F-4D97-AF65-F5344CB8AC3E}">
        <p14:creationId xmlns:p14="http://schemas.microsoft.com/office/powerpoint/2010/main" val="2001910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FB1D7-DC93-867C-6B84-8688EAB88E3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855D7B2-81C3-F429-0B37-17F8A61D789B}"/>
              </a:ext>
            </a:extLst>
          </p:cNvPr>
          <p:cNvSpPr/>
          <p:nvPr/>
        </p:nvSpPr>
        <p:spPr>
          <a:xfrm>
            <a:off x="1950720" y="386271"/>
            <a:ext cx="396240" cy="224375"/>
          </a:xfrm>
          <a:prstGeom prst="rect">
            <a:avLst/>
          </a:prstGeom>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Shape 661">
            <a:extLst>
              <a:ext uri="{FF2B5EF4-FFF2-40B4-BE49-F238E27FC236}">
                <a16:creationId xmlns:a16="http://schemas.microsoft.com/office/drawing/2014/main" id="{0650C02F-1EBB-2DCF-A845-3846D6710998}"/>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PINN vs Traditional Data-Driven ML Methods</a:t>
            </a:r>
            <a:endParaRPr lang="en-US" sz="2000" kern="0" dirty="0">
              <a:solidFill>
                <a:schemeClr val="bg1"/>
              </a:solidFill>
              <a:latin typeface="Arial" panose="020B0604020202020204" pitchFamily="34" charset="0"/>
              <a:cs typeface="Arial" panose="020B0604020202020204" pitchFamily="34" charset="0"/>
              <a:sym typeface="Arial"/>
            </a:endParaRPr>
          </a:p>
        </p:txBody>
      </p:sp>
      <p:sp>
        <p:nvSpPr>
          <p:cNvPr id="4" name="矩形 15">
            <a:extLst>
              <a:ext uri="{FF2B5EF4-FFF2-40B4-BE49-F238E27FC236}">
                <a16:creationId xmlns:a16="http://schemas.microsoft.com/office/drawing/2014/main" id="{C9FD4280-08BE-DB6C-7E61-902AD63ADF64}"/>
              </a:ext>
            </a:extLst>
          </p:cNvPr>
          <p:cNvSpPr/>
          <p:nvPr/>
        </p:nvSpPr>
        <p:spPr>
          <a:xfrm>
            <a:off x="5671751" y="5523470"/>
            <a:ext cx="3027406" cy="2020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t>J.D. </a:t>
            </a:r>
            <a:r>
              <a:rPr lang="fr-FR" sz="1000" dirty="0" err="1"/>
              <a:t>Toscano</a:t>
            </a:r>
            <a:r>
              <a:rPr lang="fr-FR" sz="1000" dirty="0"/>
              <a:t> et al., arXiv:2410.13228, (2024)</a:t>
            </a:r>
            <a:endParaRPr lang="en-US" sz="1000" dirty="0">
              <a:solidFill>
                <a:schemeClr val="bg1"/>
              </a:solidFill>
            </a:endParaRPr>
          </a:p>
        </p:txBody>
      </p:sp>
      <p:sp>
        <p:nvSpPr>
          <p:cNvPr id="5" name="TextBox 4">
            <a:extLst>
              <a:ext uri="{FF2B5EF4-FFF2-40B4-BE49-F238E27FC236}">
                <a16:creationId xmlns:a16="http://schemas.microsoft.com/office/drawing/2014/main" id="{C5A6460F-4C77-5CC7-D5A2-D4D0F3597CEE}"/>
              </a:ext>
            </a:extLst>
          </p:cNvPr>
          <p:cNvSpPr txBox="1"/>
          <p:nvPr/>
        </p:nvSpPr>
        <p:spPr>
          <a:xfrm>
            <a:off x="5532936" y="6291745"/>
            <a:ext cx="277630" cy="369332"/>
          </a:xfrm>
          <a:prstGeom prst="rect">
            <a:avLst/>
          </a:prstGeom>
          <a:solidFill>
            <a:schemeClr val="bg1"/>
          </a:solidFill>
          <a:ln>
            <a:solidFill>
              <a:schemeClr val="bg1"/>
            </a:solidFill>
          </a:ln>
        </p:spPr>
        <p:txBody>
          <a:bodyPr wrap="square" rtlCol="0">
            <a:spAutoFit/>
          </a:bodyPr>
          <a:lstStyle/>
          <a:p>
            <a:endParaRPr lang="en-US" dirty="0"/>
          </a:p>
        </p:txBody>
      </p:sp>
      <p:pic>
        <p:nvPicPr>
          <p:cNvPr id="9" name="Picture 8">
            <a:extLst>
              <a:ext uri="{FF2B5EF4-FFF2-40B4-BE49-F238E27FC236}">
                <a16:creationId xmlns:a16="http://schemas.microsoft.com/office/drawing/2014/main" id="{A3A9E2AC-09E1-C337-99A1-A27B4532CB79}"/>
              </a:ext>
            </a:extLst>
          </p:cNvPr>
          <p:cNvPicPr>
            <a:picLocks noChangeAspect="1"/>
          </p:cNvPicPr>
          <p:nvPr/>
        </p:nvPicPr>
        <p:blipFill>
          <a:blip r:embed="rId2"/>
          <a:stretch>
            <a:fillRect/>
          </a:stretch>
        </p:blipFill>
        <p:spPr>
          <a:xfrm>
            <a:off x="5377210" y="1736997"/>
            <a:ext cx="3754434" cy="3683596"/>
          </a:xfrm>
          <a:prstGeom prst="rect">
            <a:avLst/>
          </a:prstGeom>
        </p:spPr>
      </p:pic>
      <p:sp>
        <p:nvSpPr>
          <p:cNvPr id="10" name="TextBox 9">
            <a:extLst>
              <a:ext uri="{FF2B5EF4-FFF2-40B4-BE49-F238E27FC236}">
                <a16:creationId xmlns:a16="http://schemas.microsoft.com/office/drawing/2014/main" id="{853F0F91-E508-8C7E-72F2-F8D6720BF813}"/>
              </a:ext>
            </a:extLst>
          </p:cNvPr>
          <p:cNvSpPr txBox="1"/>
          <p:nvPr/>
        </p:nvSpPr>
        <p:spPr>
          <a:xfrm>
            <a:off x="5255306" y="3429000"/>
            <a:ext cx="277630" cy="369332"/>
          </a:xfrm>
          <a:prstGeom prst="rect">
            <a:avLst/>
          </a:prstGeom>
          <a:solidFill>
            <a:schemeClr val="bg1"/>
          </a:solidFill>
          <a:ln>
            <a:solidFill>
              <a:schemeClr val="bg1"/>
            </a:solidFill>
          </a:ln>
        </p:spPr>
        <p:txBody>
          <a:bodyPr wrap="square" rtlCol="0">
            <a:spAutoFit/>
          </a:bodyPr>
          <a:lstStyle/>
          <a:p>
            <a:endParaRPr lang="en-US" dirty="0"/>
          </a:p>
        </p:txBody>
      </p:sp>
      <p:sp>
        <p:nvSpPr>
          <p:cNvPr id="11" name="TextBox 10">
            <a:extLst>
              <a:ext uri="{FF2B5EF4-FFF2-40B4-BE49-F238E27FC236}">
                <a16:creationId xmlns:a16="http://schemas.microsoft.com/office/drawing/2014/main" id="{489716EB-7D9F-BAE1-469D-16E0E5F28903}"/>
              </a:ext>
            </a:extLst>
          </p:cNvPr>
          <p:cNvSpPr txBox="1"/>
          <p:nvPr/>
        </p:nvSpPr>
        <p:spPr>
          <a:xfrm>
            <a:off x="9005185" y="3435178"/>
            <a:ext cx="138815" cy="369332"/>
          </a:xfrm>
          <a:prstGeom prst="rect">
            <a:avLst/>
          </a:prstGeom>
          <a:solidFill>
            <a:schemeClr val="bg1"/>
          </a:solidFill>
          <a:ln>
            <a:solidFill>
              <a:schemeClr val="bg1"/>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9B8B950D-E5B2-3C83-A92B-E6E47B0FB34D}"/>
              </a:ext>
            </a:extLst>
          </p:cNvPr>
          <p:cNvSpPr txBox="1"/>
          <p:nvPr/>
        </p:nvSpPr>
        <p:spPr>
          <a:xfrm>
            <a:off x="7047956" y="1404733"/>
            <a:ext cx="412941" cy="369332"/>
          </a:xfrm>
          <a:prstGeom prst="rect">
            <a:avLst/>
          </a:prstGeom>
          <a:solidFill>
            <a:schemeClr val="bg1"/>
          </a:solidFill>
          <a:ln>
            <a:solidFill>
              <a:schemeClr val="bg1"/>
            </a:solidFill>
          </a:ln>
        </p:spPr>
        <p:txBody>
          <a:bodyPr wrap="square" rtlCol="0">
            <a:spAutoFit/>
          </a:bodyPr>
          <a:lstStyle/>
          <a:p>
            <a:endParaRPr lang="en-US" dirty="0"/>
          </a:p>
        </p:txBody>
      </p:sp>
      <p:grpSp>
        <p:nvGrpSpPr>
          <p:cNvPr id="6" name="Group 5">
            <a:extLst>
              <a:ext uri="{FF2B5EF4-FFF2-40B4-BE49-F238E27FC236}">
                <a16:creationId xmlns:a16="http://schemas.microsoft.com/office/drawing/2014/main" id="{6748AA04-3B44-4676-9A4E-D9081B2EC3FE}"/>
              </a:ext>
            </a:extLst>
          </p:cNvPr>
          <p:cNvGrpSpPr/>
          <p:nvPr/>
        </p:nvGrpSpPr>
        <p:grpSpPr>
          <a:xfrm>
            <a:off x="16727" y="1520958"/>
            <a:ext cx="5238579" cy="4554748"/>
            <a:chOff x="18056" y="1736997"/>
            <a:chExt cx="5002610" cy="4400182"/>
          </a:xfrm>
        </p:grpSpPr>
        <p:pic>
          <p:nvPicPr>
            <p:cNvPr id="21" name="Picture 20" descr="A screenshot of a computer&#10;&#10;AI-generated content may be incorrect.">
              <a:extLst>
                <a:ext uri="{FF2B5EF4-FFF2-40B4-BE49-F238E27FC236}">
                  <a16:creationId xmlns:a16="http://schemas.microsoft.com/office/drawing/2014/main" id="{9CDC916C-A71E-30DA-D568-3C523F816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1" y="1736997"/>
              <a:ext cx="4945805" cy="4400182"/>
            </a:xfrm>
            <a:prstGeom prst="rect">
              <a:avLst/>
            </a:prstGeom>
          </p:spPr>
        </p:pic>
        <p:sp>
          <p:nvSpPr>
            <p:cNvPr id="3" name="TextBox 2">
              <a:extLst>
                <a:ext uri="{FF2B5EF4-FFF2-40B4-BE49-F238E27FC236}">
                  <a16:creationId xmlns:a16="http://schemas.microsoft.com/office/drawing/2014/main" id="{7E73F77C-0187-981F-1E40-47E7F86E64DD}"/>
                </a:ext>
              </a:extLst>
            </p:cNvPr>
            <p:cNvSpPr txBox="1"/>
            <p:nvPr/>
          </p:nvSpPr>
          <p:spPr>
            <a:xfrm>
              <a:off x="74861" y="3937088"/>
              <a:ext cx="2047744" cy="369332"/>
            </a:xfrm>
            <a:prstGeom prst="rect">
              <a:avLst/>
            </a:prstGeom>
            <a:solidFill>
              <a:schemeClr val="bg1"/>
            </a:solidFill>
          </p:spPr>
          <p:txBody>
            <a:bodyPr wrap="square" rtlCol="0">
              <a:spAutoFit/>
            </a:bodyPr>
            <a:lstStyle/>
            <a:p>
              <a:endParaRPr lang="en-US" dirty="0"/>
            </a:p>
          </p:txBody>
        </p:sp>
        <p:sp>
          <p:nvSpPr>
            <p:cNvPr id="2" name="TextBox 1">
              <a:extLst>
                <a:ext uri="{FF2B5EF4-FFF2-40B4-BE49-F238E27FC236}">
                  <a16:creationId xmlns:a16="http://schemas.microsoft.com/office/drawing/2014/main" id="{E76CC19C-0392-0211-6C8F-7F173BE3C854}"/>
                </a:ext>
              </a:extLst>
            </p:cNvPr>
            <p:cNvSpPr txBox="1"/>
            <p:nvPr/>
          </p:nvSpPr>
          <p:spPr>
            <a:xfrm>
              <a:off x="18056" y="3996735"/>
              <a:ext cx="2762413" cy="307777"/>
            </a:xfrm>
            <a:prstGeom prst="rect">
              <a:avLst/>
            </a:prstGeom>
            <a:noFill/>
          </p:spPr>
          <p:txBody>
            <a:bodyPr wrap="squar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Physics-Informed Neural Networks</a:t>
              </a:r>
            </a:p>
          </p:txBody>
        </p:sp>
      </p:grpSp>
      <p:sp>
        <p:nvSpPr>
          <p:cNvPr id="13" name="TextBox 12">
            <a:extLst>
              <a:ext uri="{FF2B5EF4-FFF2-40B4-BE49-F238E27FC236}">
                <a16:creationId xmlns:a16="http://schemas.microsoft.com/office/drawing/2014/main" id="{64E0CADA-EDAB-D193-B781-C49A8BC1585C}"/>
              </a:ext>
            </a:extLst>
          </p:cNvPr>
          <p:cNvSpPr txBox="1"/>
          <p:nvPr/>
        </p:nvSpPr>
        <p:spPr>
          <a:xfrm>
            <a:off x="2665759" y="745731"/>
            <a:ext cx="4343106" cy="369332"/>
          </a:xfrm>
          <a:prstGeom prst="rect">
            <a:avLst/>
          </a:prstGeom>
          <a:solidFill>
            <a:schemeClr val="bg1"/>
          </a:solidFill>
          <a:ln>
            <a:solidFill>
              <a:srgbClr val="C00000"/>
            </a:solidFill>
          </a:ln>
        </p:spPr>
        <p:txBody>
          <a:bodyPr wrap="square" rtlCol="0">
            <a:spAutoFit/>
          </a:bodyPr>
          <a:lstStyle/>
          <a:p>
            <a:r>
              <a:rPr lang="en-US" dirty="0"/>
              <a:t>This is NOT a data-driven ML technique!</a:t>
            </a:r>
          </a:p>
        </p:txBody>
      </p:sp>
    </p:spTree>
    <p:extLst>
      <p:ext uri="{BB962C8B-B14F-4D97-AF65-F5344CB8AC3E}">
        <p14:creationId xmlns:p14="http://schemas.microsoft.com/office/powerpoint/2010/main" val="186320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DB83D-992C-9DB0-D5BA-AD4392DD34B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09079BD3-1C3D-DF56-1AA6-265503B8B9F5}"/>
              </a:ext>
            </a:extLst>
          </p:cNvPr>
          <p:cNvSpPr/>
          <p:nvPr/>
        </p:nvSpPr>
        <p:spPr>
          <a:xfrm>
            <a:off x="1950720" y="386271"/>
            <a:ext cx="396240" cy="224375"/>
          </a:xfrm>
          <a:prstGeom prst="rect">
            <a:avLst/>
          </a:prstGeom>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Shape 661">
            <a:extLst>
              <a:ext uri="{FF2B5EF4-FFF2-40B4-BE49-F238E27FC236}">
                <a16:creationId xmlns:a16="http://schemas.microsoft.com/office/drawing/2014/main" id="{EA766255-CB86-5A07-3233-CD214E449FF6}"/>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PINNs state-of-the-art</a:t>
            </a:r>
          </a:p>
        </p:txBody>
      </p:sp>
      <p:pic>
        <p:nvPicPr>
          <p:cNvPr id="2" name="Picture 1">
            <a:extLst>
              <a:ext uri="{FF2B5EF4-FFF2-40B4-BE49-F238E27FC236}">
                <a16:creationId xmlns:a16="http://schemas.microsoft.com/office/drawing/2014/main" id="{55A69192-3DCF-004C-4219-5683C5FC8FDA}"/>
              </a:ext>
            </a:extLst>
          </p:cNvPr>
          <p:cNvPicPr>
            <a:picLocks noChangeAspect="1"/>
          </p:cNvPicPr>
          <p:nvPr/>
        </p:nvPicPr>
        <p:blipFill>
          <a:blip r:embed="rId2"/>
          <a:stretch>
            <a:fillRect/>
          </a:stretch>
        </p:blipFill>
        <p:spPr>
          <a:xfrm>
            <a:off x="5156218" y="2164378"/>
            <a:ext cx="2103644" cy="1004015"/>
          </a:xfrm>
          <a:prstGeom prst="rect">
            <a:avLst/>
          </a:prstGeom>
        </p:spPr>
      </p:pic>
      <p:pic>
        <p:nvPicPr>
          <p:cNvPr id="21" name="Picture 2">
            <a:extLst>
              <a:ext uri="{FF2B5EF4-FFF2-40B4-BE49-F238E27FC236}">
                <a16:creationId xmlns:a16="http://schemas.microsoft.com/office/drawing/2014/main" id="{7A0F8C74-B15F-F29F-037C-540E755BFA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33" t="10193" r="48509"/>
          <a:stretch/>
        </p:blipFill>
        <p:spPr bwMode="auto">
          <a:xfrm>
            <a:off x="44510" y="1348442"/>
            <a:ext cx="2647251" cy="248478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0FD9727A-6669-3CB6-96B5-921C83BA54EA}"/>
              </a:ext>
            </a:extLst>
          </p:cNvPr>
          <p:cNvPicPr>
            <a:picLocks noChangeAspect="1"/>
          </p:cNvPicPr>
          <p:nvPr/>
        </p:nvPicPr>
        <p:blipFill>
          <a:blip r:embed="rId4"/>
          <a:stretch>
            <a:fillRect/>
          </a:stretch>
        </p:blipFill>
        <p:spPr>
          <a:xfrm>
            <a:off x="7244333" y="2114213"/>
            <a:ext cx="1899667" cy="1096555"/>
          </a:xfrm>
          <a:prstGeom prst="rect">
            <a:avLst/>
          </a:prstGeom>
        </p:spPr>
      </p:pic>
      <p:sp>
        <p:nvSpPr>
          <p:cNvPr id="25" name="TextBox 24">
            <a:extLst>
              <a:ext uri="{FF2B5EF4-FFF2-40B4-BE49-F238E27FC236}">
                <a16:creationId xmlns:a16="http://schemas.microsoft.com/office/drawing/2014/main" id="{8932CAF5-13C7-CE43-7FE4-4F0C4A38E4DE}"/>
              </a:ext>
            </a:extLst>
          </p:cNvPr>
          <p:cNvSpPr txBox="1"/>
          <p:nvPr/>
        </p:nvSpPr>
        <p:spPr>
          <a:xfrm>
            <a:off x="6181499" y="4378966"/>
            <a:ext cx="749173" cy="369332"/>
          </a:xfrm>
          <a:prstGeom prst="rect">
            <a:avLst/>
          </a:prstGeom>
          <a:solidFill>
            <a:schemeClr val="bg1"/>
          </a:solidFill>
          <a:ln>
            <a:solidFill>
              <a:schemeClr val="bg1"/>
            </a:solidFill>
          </a:ln>
        </p:spPr>
        <p:txBody>
          <a:bodyPr wrap="square" rtlCol="0">
            <a:spAutoFit/>
          </a:bodyPr>
          <a:lstStyle/>
          <a:p>
            <a:endParaRPr lang="en-US" dirty="0" err="1"/>
          </a:p>
        </p:txBody>
      </p:sp>
      <p:sp>
        <p:nvSpPr>
          <p:cNvPr id="29" name="TextBox 28">
            <a:extLst>
              <a:ext uri="{FF2B5EF4-FFF2-40B4-BE49-F238E27FC236}">
                <a16:creationId xmlns:a16="http://schemas.microsoft.com/office/drawing/2014/main" id="{5BD0E817-AD06-D160-4712-063100057243}"/>
              </a:ext>
            </a:extLst>
          </p:cNvPr>
          <p:cNvSpPr txBox="1"/>
          <p:nvPr/>
        </p:nvSpPr>
        <p:spPr>
          <a:xfrm>
            <a:off x="7773319" y="1752364"/>
            <a:ext cx="851515" cy="307777"/>
          </a:xfrm>
          <a:prstGeom prst="rect">
            <a:avLst/>
          </a:prstGeom>
          <a:noFill/>
        </p:spPr>
        <p:txBody>
          <a:bodyPr wrap="none" rtlCol="0">
            <a:spAutoFit/>
          </a:bodyPr>
          <a:lstStyle/>
          <a:p>
            <a:r>
              <a:rPr lang="en-US" sz="1400" dirty="0"/>
              <a:t>Jet Flow</a:t>
            </a:r>
          </a:p>
        </p:txBody>
      </p:sp>
      <p:grpSp>
        <p:nvGrpSpPr>
          <p:cNvPr id="33" name="Group 32">
            <a:extLst>
              <a:ext uri="{FF2B5EF4-FFF2-40B4-BE49-F238E27FC236}">
                <a16:creationId xmlns:a16="http://schemas.microsoft.com/office/drawing/2014/main" id="{1A9640A2-6ECB-0633-3FC4-A9AF7A80BE01}"/>
              </a:ext>
            </a:extLst>
          </p:cNvPr>
          <p:cNvGrpSpPr/>
          <p:nvPr/>
        </p:nvGrpSpPr>
        <p:grpSpPr>
          <a:xfrm>
            <a:off x="5511511" y="3429000"/>
            <a:ext cx="1655291" cy="2824409"/>
            <a:chOff x="6547190" y="2219328"/>
            <a:chExt cx="1964609" cy="3138454"/>
          </a:xfrm>
        </p:grpSpPr>
        <p:pic>
          <p:nvPicPr>
            <p:cNvPr id="20" name="Picture 19">
              <a:extLst>
                <a:ext uri="{FF2B5EF4-FFF2-40B4-BE49-F238E27FC236}">
                  <a16:creationId xmlns:a16="http://schemas.microsoft.com/office/drawing/2014/main" id="{72CD8408-B237-6787-E418-468490E1BD76}"/>
                </a:ext>
              </a:extLst>
            </p:cNvPr>
            <p:cNvPicPr>
              <a:picLocks noChangeAspect="1"/>
            </p:cNvPicPr>
            <p:nvPr/>
          </p:nvPicPr>
          <p:blipFill>
            <a:blip r:embed="rId5"/>
            <a:srcRect l="16135" r="4885" b="1993"/>
            <a:stretch/>
          </p:blipFill>
          <p:spPr>
            <a:xfrm>
              <a:off x="7092638" y="2219328"/>
              <a:ext cx="1285461" cy="3138454"/>
            </a:xfrm>
            <a:prstGeom prst="rect">
              <a:avLst/>
            </a:prstGeom>
          </p:spPr>
        </p:pic>
        <p:sp>
          <p:nvSpPr>
            <p:cNvPr id="24" name="TextBox 23">
              <a:extLst>
                <a:ext uri="{FF2B5EF4-FFF2-40B4-BE49-F238E27FC236}">
                  <a16:creationId xmlns:a16="http://schemas.microsoft.com/office/drawing/2014/main" id="{F599E005-F25B-8EEE-AD3B-79B40E7E9CF1}"/>
                </a:ext>
              </a:extLst>
            </p:cNvPr>
            <p:cNvSpPr txBox="1"/>
            <p:nvPr/>
          </p:nvSpPr>
          <p:spPr>
            <a:xfrm>
              <a:off x="6547190" y="2700114"/>
              <a:ext cx="749173" cy="369332"/>
            </a:xfrm>
            <a:prstGeom prst="rect">
              <a:avLst/>
            </a:prstGeom>
            <a:solidFill>
              <a:schemeClr val="bg1"/>
            </a:solidFill>
            <a:ln>
              <a:solidFill>
                <a:schemeClr val="bg1"/>
              </a:solidFill>
            </a:ln>
          </p:spPr>
          <p:txBody>
            <a:bodyPr wrap="square" rtlCol="0">
              <a:spAutoFit/>
            </a:bodyPr>
            <a:lstStyle/>
            <a:p>
              <a:endParaRPr lang="en-US" dirty="0" err="1"/>
            </a:p>
          </p:txBody>
        </p:sp>
        <p:sp>
          <p:nvSpPr>
            <p:cNvPr id="26" name="TextBox 25">
              <a:extLst>
                <a:ext uri="{FF2B5EF4-FFF2-40B4-BE49-F238E27FC236}">
                  <a16:creationId xmlns:a16="http://schemas.microsoft.com/office/drawing/2014/main" id="{83E1CA55-C6E0-6D7D-B700-00651CCE5473}"/>
                </a:ext>
              </a:extLst>
            </p:cNvPr>
            <p:cNvSpPr txBox="1"/>
            <p:nvPr/>
          </p:nvSpPr>
          <p:spPr>
            <a:xfrm>
              <a:off x="6888474" y="2372394"/>
              <a:ext cx="749173" cy="369332"/>
            </a:xfrm>
            <a:prstGeom prst="rect">
              <a:avLst/>
            </a:prstGeom>
            <a:solidFill>
              <a:schemeClr val="bg1"/>
            </a:solidFill>
            <a:ln>
              <a:solidFill>
                <a:schemeClr val="bg1"/>
              </a:solidFill>
            </a:ln>
          </p:spPr>
          <p:txBody>
            <a:bodyPr wrap="square" rtlCol="0">
              <a:spAutoFit/>
            </a:bodyPr>
            <a:lstStyle/>
            <a:p>
              <a:endParaRPr lang="en-US" dirty="0" err="1"/>
            </a:p>
          </p:txBody>
        </p:sp>
        <p:sp>
          <p:nvSpPr>
            <p:cNvPr id="31" name="TextBox 30">
              <a:extLst>
                <a:ext uri="{FF2B5EF4-FFF2-40B4-BE49-F238E27FC236}">
                  <a16:creationId xmlns:a16="http://schemas.microsoft.com/office/drawing/2014/main" id="{E9BAF1C9-6633-BCD5-75F3-734689565EFC}"/>
                </a:ext>
              </a:extLst>
            </p:cNvPr>
            <p:cNvSpPr txBox="1"/>
            <p:nvPr/>
          </p:nvSpPr>
          <p:spPr>
            <a:xfrm>
              <a:off x="7151505" y="2249145"/>
              <a:ext cx="1360294" cy="369332"/>
            </a:xfrm>
            <a:prstGeom prst="rect">
              <a:avLst/>
            </a:prstGeom>
            <a:solidFill>
              <a:schemeClr val="bg1"/>
            </a:solidFill>
            <a:ln>
              <a:solidFill>
                <a:schemeClr val="bg1"/>
              </a:solidFill>
            </a:ln>
          </p:spPr>
          <p:txBody>
            <a:bodyPr wrap="square" rtlCol="0">
              <a:spAutoFit/>
            </a:bodyPr>
            <a:lstStyle/>
            <a:p>
              <a:endParaRPr lang="en-US" dirty="0" err="1"/>
            </a:p>
          </p:txBody>
        </p:sp>
      </p:grpSp>
      <p:sp>
        <p:nvSpPr>
          <p:cNvPr id="32" name="TextBox 31">
            <a:extLst>
              <a:ext uri="{FF2B5EF4-FFF2-40B4-BE49-F238E27FC236}">
                <a16:creationId xmlns:a16="http://schemas.microsoft.com/office/drawing/2014/main" id="{8BADB38C-647E-7D7C-8380-2537ECFF89FA}"/>
              </a:ext>
            </a:extLst>
          </p:cNvPr>
          <p:cNvSpPr txBox="1"/>
          <p:nvPr/>
        </p:nvSpPr>
        <p:spPr>
          <a:xfrm>
            <a:off x="4870333" y="4830811"/>
            <a:ext cx="1682751" cy="738664"/>
          </a:xfrm>
          <a:prstGeom prst="rect">
            <a:avLst/>
          </a:prstGeom>
          <a:noFill/>
        </p:spPr>
        <p:txBody>
          <a:bodyPr wrap="square">
            <a:spAutoFit/>
          </a:bodyPr>
          <a:lstStyle/>
          <a:p>
            <a:r>
              <a:rPr lang="en-US" sz="1400" dirty="0"/>
              <a:t>Intraventricular Vector </a:t>
            </a:r>
          </a:p>
          <a:p>
            <a:r>
              <a:rPr lang="en-US" sz="1400" dirty="0"/>
              <a:t>Flow Mapping</a:t>
            </a:r>
          </a:p>
        </p:txBody>
      </p:sp>
      <p:sp>
        <p:nvSpPr>
          <p:cNvPr id="34" name="TextBox 33">
            <a:extLst>
              <a:ext uri="{FF2B5EF4-FFF2-40B4-BE49-F238E27FC236}">
                <a16:creationId xmlns:a16="http://schemas.microsoft.com/office/drawing/2014/main" id="{8D6ED6ED-62B0-9489-3C3D-8931F2C59F48}"/>
              </a:ext>
            </a:extLst>
          </p:cNvPr>
          <p:cNvSpPr txBox="1"/>
          <p:nvPr/>
        </p:nvSpPr>
        <p:spPr>
          <a:xfrm>
            <a:off x="5533871" y="1979712"/>
            <a:ext cx="1168604" cy="369332"/>
          </a:xfrm>
          <a:prstGeom prst="rect">
            <a:avLst/>
          </a:prstGeom>
          <a:solidFill>
            <a:schemeClr val="bg1"/>
          </a:solidFill>
          <a:ln>
            <a:solidFill>
              <a:schemeClr val="bg1"/>
            </a:solidFill>
          </a:ln>
        </p:spPr>
        <p:txBody>
          <a:bodyPr wrap="square" rtlCol="0">
            <a:spAutoFit/>
          </a:bodyPr>
          <a:lstStyle/>
          <a:p>
            <a:endParaRPr lang="en-US" dirty="0"/>
          </a:p>
        </p:txBody>
      </p:sp>
      <p:sp>
        <p:nvSpPr>
          <p:cNvPr id="35" name="TextBox 34">
            <a:extLst>
              <a:ext uri="{FF2B5EF4-FFF2-40B4-BE49-F238E27FC236}">
                <a16:creationId xmlns:a16="http://schemas.microsoft.com/office/drawing/2014/main" id="{DDE0ECFC-1C2D-EED5-A956-C8AEFDC6E349}"/>
              </a:ext>
            </a:extLst>
          </p:cNvPr>
          <p:cNvSpPr txBox="1"/>
          <p:nvPr/>
        </p:nvSpPr>
        <p:spPr>
          <a:xfrm>
            <a:off x="5525605" y="1818329"/>
            <a:ext cx="1168604" cy="307777"/>
          </a:xfrm>
          <a:prstGeom prst="rect">
            <a:avLst/>
          </a:prstGeom>
          <a:solidFill>
            <a:schemeClr val="bg1"/>
          </a:solidFill>
          <a:ln>
            <a:solidFill>
              <a:schemeClr val="bg1"/>
            </a:solidFill>
          </a:ln>
        </p:spPr>
        <p:txBody>
          <a:bodyPr wrap="square" rtlCol="0">
            <a:spAutoFit/>
          </a:bodyPr>
          <a:lstStyle/>
          <a:p>
            <a:r>
              <a:rPr lang="en-US" sz="1400" dirty="0"/>
              <a:t>Thermal</a:t>
            </a:r>
          </a:p>
        </p:txBody>
      </p:sp>
      <p:pic>
        <p:nvPicPr>
          <p:cNvPr id="37" name="Picture 36">
            <a:extLst>
              <a:ext uri="{FF2B5EF4-FFF2-40B4-BE49-F238E27FC236}">
                <a16:creationId xmlns:a16="http://schemas.microsoft.com/office/drawing/2014/main" id="{678EC5E7-C4E7-12A0-591F-F1CD39BC420C}"/>
              </a:ext>
            </a:extLst>
          </p:cNvPr>
          <p:cNvPicPr>
            <a:picLocks noChangeAspect="1"/>
          </p:cNvPicPr>
          <p:nvPr/>
        </p:nvPicPr>
        <p:blipFill>
          <a:blip r:embed="rId6"/>
          <a:srcRect r="7390"/>
          <a:stretch/>
        </p:blipFill>
        <p:spPr>
          <a:xfrm>
            <a:off x="7567701" y="4519142"/>
            <a:ext cx="1576300" cy="1877380"/>
          </a:xfrm>
          <a:prstGeom prst="rect">
            <a:avLst/>
          </a:prstGeom>
        </p:spPr>
      </p:pic>
      <p:sp>
        <p:nvSpPr>
          <p:cNvPr id="38" name="TextBox 37">
            <a:extLst>
              <a:ext uri="{FF2B5EF4-FFF2-40B4-BE49-F238E27FC236}">
                <a16:creationId xmlns:a16="http://schemas.microsoft.com/office/drawing/2014/main" id="{200027E4-0B09-F21D-3448-484C360F054C}"/>
              </a:ext>
            </a:extLst>
          </p:cNvPr>
          <p:cNvSpPr txBox="1"/>
          <p:nvPr/>
        </p:nvSpPr>
        <p:spPr>
          <a:xfrm>
            <a:off x="7567700" y="3962275"/>
            <a:ext cx="1925385" cy="307777"/>
          </a:xfrm>
          <a:prstGeom prst="rect">
            <a:avLst/>
          </a:prstGeom>
          <a:noFill/>
        </p:spPr>
        <p:txBody>
          <a:bodyPr wrap="square">
            <a:spAutoFit/>
          </a:bodyPr>
          <a:lstStyle/>
          <a:p>
            <a:r>
              <a:rPr lang="en-US" sz="1400" dirty="0"/>
              <a:t>Pressure Flow</a:t>
            </a:r>
          </a:p>
        </p:txBody>
      </p:sp>
      <p:sp>
        <p:nvSpPr>
          <p:cNvPr id="39" name="矩形 15">
            <a:extLst>
              <a:ext uri="{FF2B5EF4-FFF2-40B4-BE49-F238E27FC236}">
                <a16:creationId xmlns:a16="http://schemas.microsoft.com/office/drawing/2014/main" id="{F9476F80-ECEF-9E9C-84D7-1AEE84316755}"/>
              </a:ext>
            </a:extLst>
          </p:cNvPr>
          <p:cNvSpPr/>
          <p:nvPr/>
        </p:nvSpPr>
        <p:spPr>
          <a:xfrm>
            <a:off x="250158" y="3805862"/>
            <a:ext cx="1958631" cy="19733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R. Roberto</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et al., </a:t>
            </a:r>
            <a:r>
              <a:rPr lang="en-US" sz="1100" b="0" i="0" dirty="0" err="1">
                <a:solidFill>
                  <a:srgbClr val="EEF0FF"/>
                </a:solidFill>
                <a:effectLst/>
                <a:latin typeface="Google Sans"/>
              </a:rPr>
              <a:t>arXiv</a:t>
            </a:r>
            <a:r>
              <a:rPr lang="en-US" sz="1100" b="0" i="0" dirty="0">
                <a:solidFill>
                  <a:srgbClr val="EEF0FF"/>
                </a:solidFill>
                <a:effectLst/>
                <a:latin typeface="Google Sans"/>
              </a:rPr>
              <a:t> </a:t>
            </a:r>
            <a:r>
              <a:rPr lang="en-US" sz="1100" dirty="0">
                <a:solidFill>
                  <a:prstClr val="white"/>
                </a:solidFill>
                <a:latin typeface="Calibri" panose="020F0502020204030204" pitchFamily="34" charset="0"/>
                <a:cs typeface="Calibri" panose="020F0502020204030204" pitchFamily="34" charset="0"/>
              </a:rPr>
              <a:t>,</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(202</a:t>
            </a:r>
            <a:r>
              <a:rPr lang="en-US" sz="1100" dirty="0">
                <a:solidFill>
                  <a:prstClr val="white"/>
                </a:solidFill>
                <a:latin typeface="Calibri" panose="020F0502020204030204" pitchFamily="34" charset="0"/>
                <a:cs typeface="Calibri" panose="020F0502020204030204" pitchFamily="34" charset="0"/>
              </a:rPr>
              <a:t>5</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a:t>
            </a:r>
          </a:p>
        </p:txBody>
      </p:sp>
      <p:sp>
        <p:nvSpPr>
          <p:cNvPr id="42" name="矩形 15">
            <a:extLst>
              <a:ext uri="{FF2B5EF4-FFF2-40B4-BE49-F238E27FC236}">
                <a16:creationId xmlns:a16="http://schemas.microsoft.com/office/drawing/2014/main" id="{212B27C4-0EB6-BD48-A47D-0F2898E0B375}"/>
              </a:ext>
            </a:extLst>
          </p:cNvPr>
          <p:cNvSpPr/>
          <p:nvPr/>
        </p:nvSpPr>
        <p:spPr>
          <a:xfrm>
            <a:off x="5224459" y="3166603"/>
            <a:ext cx="1925385" cy="31470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Cai</a:t>
            </a:r>
            <a:r>
              <a:rPr lang="en-US" sz="1000" dirty="0">
                <a:solidFill>
                  <a:schemeClr val="bg1"/>
                </a:solidFill>
              </a:rPr>
              <a:t>, </a:t>
            </a:r>
            <a:r>
              <a:rPr lang="en-US" sz="1000" dirty="0" err="1">
                <a:solidFill>
                  <a:schemeClr val="bg1"/>
                </a:solidFill>
              </a:rPr>
              <a:t>Shengze</a:t>
            </a:r>
            <a:r>
              <a:rPr lang="en-US" sz="1000" dirty="0">
                <a:solidFill>
                  <a:schemeClr val="bg1"/>
                </a:solidFill>
              </a:rPr>
              <a:t>, et al., </a:t>
            </a:r>
            <a:r>
              <a:rPr lang="en-US" sz="1000" i="1" dirty="0">
                <a:solidFill>
                  <a:schemeClr val="bg1"/>
                </a:solidFill>
              </a:rPr>
              <a:t>Journal of Heat Transfer</a:t>
            </a:r>
            <a:r>
              <a:rPr lang="en-US" sz="1000" dirty="0">
                <a:solidFill>
                  <a:schemeClr val="bg1"/>
                </a:solidFill>
              </a:rPr>
              <a:t>, 143, 6 (2021) </a:t>
            </a:r>
          </a:p>
        </p:txBody>
      </p:sp>
      <p:sp>
        <p:nvSpPr>
          <p:cNvPr id="45" name="矩形 15">
            <a:extLst>
              <a:ext uri="{FF2B5EF4-FFF2-40B4-BE49-F238E27FC236}">
                <a16:creationId xmlns:a16="http://schemas.microsoft.com/office/drawing/2014/main" id="{D087061A-D362-24C7-205F-A30F09EEBE23}"/>
              </a:ext>
            </a:extLst>
          </p:cNvPr>
          <p:cNvSpPr/>
          <p:nvPr/>
        </p:nvSpPr>
        <p:spPr>
          <a:xfrm>
            <a:off x="7259862" y="3124394"/>
            <a:ext cx="1847336" cy="34905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bg1"/>
                </a:solidFill>
              </a:rPr>
              <a:t>Cai</a:t>
            </a:r>
            <a:r>
              <a:rPr lang="en-US" sz="1000" dirty="0">
                <a:solidFill>
                  <a:schemeClr val="bg1"/>
                </a:solidFill>
              </a:rPr>
              <a:t>, et al., </a:t>
            </a:r>
            <a:r>
              <a:rPr lang="en-US" sz="1000" dirty="0"/>
              <a:t>IEEE </a:t>
            </a:r>
            <a:r>
              <a:rPr lang="en-US" sz="1000" dirty="0" err="1"/>
              <a:t>Trans.Instrum</a:t>
            </a:r>
            <a:r>
              <a:rPr lang="en-US" sz="1000" dirty="0"/>
              <a:t>. Meas., (2024)</a:t>
            </a:r>
            <a:endParaRPr lang="en-US" sz="1000" dirty="0">
              <a:solidFill>
                <a:schemeClr val="bg1"/>
              </a:solidFill>
            </a:endParaRPr>
          </a:p>
        </p:txBody>
      </p:sp>
      <p:sp>
        <p:nvSpPr>
          <p:cNvPr id="48" name="矩形 15">
            <a:extLst>
              <a:ext uri="{FF2B5EF4-FFF2-40B4-BE49-F238E27FC236}">
                <a16:creationId xmlns:a16="http://schemas.microsoft.com/office/drawing/2014/main" id="{F2B2213B-637B-D506-B96E-0679FBD50E88}"/>
              </a:ext>
            </a:extLst>
          </p:cNvPr>
          <p:cNvSpPr/>
          <p:nvPr/>
        </p:nvSpPr>
        <p:spPr>
          <a:xfrm>
            <a:off x="5593340" y="6283699"/>
            <a:ext cx="1838554" cy="54228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H.J. Ling </a:t>
            </a:r>
            <a:r>
              <a:rPr lang="en-US" sz="1000" dirty="0"/>
              <a:t>et al., IEEE Trans. </a:t>
            </a:r>
            <a:r>
              <a:rPr lang="en-US" sz="1000" dirty="0" err="1"/>
              <a:t>Ultrason</a:t>
            </a:r>
            <a:r>
              <a:rPr lang="en-US" sz="1000" dirty="0"/>
              <a:t>. </a:t>
            </a:r>
            <a:r>
              <a:rPr lang="en-US" sz="1000" dirty="0" err="1"/>
              <a:t>Ferroelectr</a:t>
            </a:r>
            <a:r>
              <a:rPr lang="en-US" sz="1000" dirty="0"/>
              <a:t>. Freq. Control, 2024.</a:t>
            </a:r>
          </a:p>
        </p:txBody>
      </p:sp>
      <p:sp>
        <p:nvSpPr>
          <p:cNvPr id="49" name="矩形 15">
            <a:extLst>
              <a:ext uri="{FF2B5EF4-FFF2-40B4-BE49-F238E27FC236}">
                <a16:creationId xmlns:a16="http://schemas.microsoft.com/office/drawing/2014/main" id="{72E21242-E880-4D85-2F6F-E36D72FA2A51}"/>
              </a:ext>
            </a:extLst>
          </p:cNvPr>
          <p:cNvSpPr/>
          <p:nvPr/>
        </p:nvSpPr>
        <p:spPr>
          <a:xfrm>
            <a:off x="7692588" y="6346386"/>
            <a:ext cx="1415238" cy="48044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M.A. Calicchia </a:t>
            </a:r>
            <a:r>
              <a:rPr lang="en-US" sz="1000" dirty="0"/>
              <a:t>et al., J. Exp. Biol., 226(8), 2023.</a:t>
            </a:r>
          </a:p>
        </p:txBody>
      </p:sp>
      <p:cxnSp>
        <p:nvCxnSpPr>
          <p:cNvPr id="52" name="Straight Connector 51">
            <a:extLst>
              <a:ext uri="{FF2B5EF4-FFF2-40B4-BE49-F238E27FC236}">
                <a16:creationId xmlns:a16="http://schemas.microsoft.com/office/drawing/2014/main" id="{F6A16870-A4CC-E940-C94B-C2565D143BDA}"/>
              </a:ext>
            </a:extLst>
          </p:cNvPr>
          <p:cNvCxnSpPr/>
          <p:nvPr/>
        </p:nvCxnSpPr>
        <p:spPr>
          <a:xfrm>
            <a:off x="4760682" y="1305239"/>
            <a:ext cx="44450" cy="5520744"/>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CB4DA97F-55FB-B1E2-475F-A6A7479ABDAD}"/>
              </a:ext>
            </a:extLst>
          </p:cNvPr>
          <p:cNvSpPr txBox="1"/>
          <p:nvPr/>
        </p:nvSpPr>
        <p:spPr>
          <a:xfrm>
            <a:off x="5352174" y="962767"/>
            <a:ext cx="3643176" cy="369332"/>
          </a:xfrm>
          <a:prstGeom prst="rect">
            <a:avLst/>
          </a:prstGeom>
          <a:solidFill>
            <a:schemeClr val="bg1"/>
          </a:solidFill>
          <a:ln>
            <a:solidFill>
              <a:schemeClr val="bg1"/>
            </a:solidFill>
          </a:ln>
        </p:spPr>
        <p:txBody>
          <a:bodyPr wrap="square" rtlCol="0">
            <a:spAutoFit/>
          </a:bodyPr>
          <a:lstStyle/>
          <a:p>
            <a:pPr algn="ctr"/>
            <a:r>
              <a:rPr lang="en-US" b="1" dirty="0"/>
              <a:t>Complex transport problems</a:t>
            </a:r>
          </a:p>
        </p:txBody>
      </p:sp>
      <p:sp>
        <p:nvSpPr>
          <p:cNvPr id="54" name="TextBox 53">
            <a:extLst>
              <a:ext uri="{FF2B5EF4-FFF2-40B4-BE49-F238E27FC236}">
                <a16:creationId xmlns:a16="http://schemas.microsoft.com/office/drawing/2014/main" id="{E4F62FEE-9265-CAC3-0D6E-F9817FEAF6D4}"/>
              </a:ext>
            </a:extLst>
          </p:cNvPr>
          <p:cNvSpPr txBox="1"/>
          <p:nvPr/>
        </p:nvSpPr>
        <p:spPr>
          <a:xfrm>
            <a:off x="68354" y="593692"/>
            <a:ext cx="3723473" cy="584775"/>
          </a:xfrm>
          <a:prstGeom prst="rect">
            <a:avLst/>
          </a:prstGeom>
          <a:solidFill>
            <a:schemeClr val="bg1"/>
          </a:solidFill>
          <a:ln>
            <a:solidFill>
              <a:schemeClr val="bg1"/>
            </a:solidFill>
          </a:ln>
        </p:spPr>
        <p:txBody>
          <a:bodyPr wrap="square" rtlCol="0">
            <a:spAutoFit/>
          </a:bodyPr>
          <a:lstStyle/>
          <a:p>
            <a:pPr algn="ctr"/>
            <a:r>
              <a:rPr lang="en-US" sz="1600" b="1" dirty="0"/>
              <a:t>PINNs research in Prof. Dal Negro’s </a:t>
            </a:r>
          </a:p>
          <a:p>
            <a:pPr algn="ctr"/>
            <a:r>
              <a:rPr lang="en-US" sz="1600" b="1" dirty="0"/>
              <a:t>Nano Research Group</a:t>
            </a:r>
          </a:p>
        </p:txBody>
      </p:sp>
      <p:pic>
        <p:nvPicPr>
          <p:cNvPr id="56" name="Picture 55">
            <a:extLst>
              <a:ext uri="{FF2B5EF4-FFF2-40B4-BE49-F238E27FC236}">
                <a16:creationId xmlns:a16="http://schemas.microsoft.com/office/drawing/2014/main" id="{8A14C1C9-78F1-EE22-37AE-4D6BC8DCC9D5}"/>
              </a:ext>
            </a:extLst>
          </p:cNvPr>
          <p:cNvPicPr>
            <a:picLocks noChangeAspect="1"/>
          </p:cNvPicPr>
          <p:nvPr/>
        </p:nvPicPr>
        <p:blipFill>
          <a:blip r:embed="rId7"/>
          <a:stretch>
            <a:fillRect/>
          </a:stretch>
        </p:blipFill>
        <p:spPr>
          <a:xfrm>
            <a:off x="2840860" y="1987699"/>
            <a:ext cx="1809804" cy="1430441"/>
          </a:xfrm>
          <a:prstGeom prst="rect">
            <a:avLst/>
          </a:prstGeom>
        </p:spPr>
      </p:pic>
      <p:sp>
        <p:nvSpPr>
          <p:cNvPr id="57" name="矩形 15">
            <a:extLst>
              <a:ext uri="{FF2B5EF4-FFF2-40B4-BE49-F238E27FC236}">
                <a16:creationId xmlns:a16="http://schemas.microsoft.com/office/drawing/2014/main" id="{5767F1FA-DA17-D95F-6AF6-64B5193D28FD}"/>
              </a:ext>
            </a:extLst>
          </p:cNvPr>
          <p:cNvSpPr/>
          <p:nvPr/>
        </p:nvSpPr>
        <p:spPr>
          <a:xfrm>
            <a:off x="2955411" y="3697601"/>
            <a:ext cx="1795786" cy="3046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R. Roberto</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et al., APINN for  Radiative Transfer </a:t>
            </a:r>
            <a:r>
              <a:rPr kumimoji="0" lang="en-US" sz="11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a:t>
            </a:r>
            <a:r>
              <a:rPr kumimoji="0" lang="en-US" sz="110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2023</a:t>
            </a:r>
          </a:p>
        </p:txBody>
      </p:sp>
      <p:grpSp>
        <p:nvGrpSpPr>
          <p:cNvPr id="64" name="Group 63">
            <a:extLst>
              <a:ext uri="{FF2B5EF4-FFF2-40B4-BE49-F238E27FC236}">
                <a16:creationId xmlns:a16="http://schemas.microsoft.com/office/drawing/2014/main" id="{5296FD63-61A5-39C3-376F-354D20BFCCA1}"/>
              </a:ext>
            </a:extLst>
          </p:cNvPr>
          <p:cNvGrpSpPr/>
          <p:nvPr/>
        </p:nvGrpSpPr>
        <p:grpSpPr>
          <a:xfrm>
            <a:off x="139878" y="4369539"/>
            <a:ext cx="2068911" cy="1867436"/>
            <a:chOff x="-1917700" y="3836454"/>
            <a:chExt cx="2241971" cy="1996130"/>
          </a:xfrm>
        </p:grpSpPr>
        <p:pic>
          <p:nvPicPr>
            <p:cNvPr id="59" name="Picture 58">
              <a:extLst>
                <a:ext uri="{FF2B5EF4-FFF2-40B4-BE49-F238E27FC236}">
                  <a16:creationId xmlns:a16="http://schemas.microsoft.com/office/drawing/2014/main" id="{62ED4D29-9D7B-D1CA-A6F4-A05551F2800D}"/>
                </a:ext>
              </a:extLst>
            </p:cNvPr>
            <p:cNvPicPr>
              <a:picLocks noChangeAspect="1"/>
            </p:cNvPicPr>
            <p:nvPr/>
          </p:nvPicPr>
          <p:blipFill>
            <a:blip r:embed="rId8"/>
            <a:stretch>
              <a:fillRect/>
            </a:stretch>
          </p:blipFill>
          <p:spPr>
            <a:xfrm>
              <a:off x="-1917700" y="3836454"/>
              <a:ext cx="2241971" cy="1004750"/>
            </a:xfrm>
            <a:prstGeom prst="rect">
              <a:avLst/>
            </a:prstGeom>
          </p:spPr>
        </p:pic>
        <p:pic>
          <p:nvPicPr>
            <p:cNvPr id="61" name="Picture 60">
              <a:extLst>
                <a:ext uri="{FF2B5EF4-FFF2-40B4-BE49-F238E27FC236}">
                  <a16:creationId xmlns:a16="http://schemas.microsoft.com/office/drawing/2014/main" id="{DED19C66-7718-3313-1B06-B048E584BBEE}"/>
                </a:ext>
              </a:extLst>
            </p:cNvPr>
            <p:cNvPicPr>
              <a:picLocks noChangeAspect="1"/>
            </p:cNvPicPr>
            <p:nvPr/>
          </p:nvPicPr>
          <p:blipFill>
            <a:blip r:embed="rId9"/>
            <a:stretch>
              <a:fillRect/>
            </a:stretch>
          </p:blipFill>
          <p:spPr>
            <a:xfrm>
              <a:off x="-1913746" y="4805435"/>
              <a:ext cx="2187384" cy="1027149"/>
            </a:xfrm>
            <a:prstGeom prst="rect">
              <a:avLst/>
            </a:prstGeom>
          </p:spPr>
        </p:pic>
      </p:grpSp>
      <p:pic>
        <p:nvPicPr>
          <p:cNvPr id="63" name="Picture 62">
            <a:extLst>
              <a:ext uri="{FF2B5EF4-FFF2-40B4-BE49-F238E27FC236}">
                <a16:creationId xmlns:a16="http://schemas.microsoft.com/office/drawing/2014/main" id="{15FD0388-3CDB-04C2-5249-BEFB82E25376}"/>
              </a:ext>
            </a:extLst>
          </p:cNvPr>
          <p:cNvPicPr>
            <a:picLocks noChangeAspect="1"/>
          </p:cNvPicPr>
          <p:nvPr/>
        </p:nvPicPr>
        <p:blipFill>
          <a:blip r:embed="rId10"/>
          <a:stretch>
            <a:fillRect/>
          </a:stretch>
        </p:blipFill>
        <p:spPr>
          <a:xfrm>
            <a:off x="2434260" y="4347275"/>
            <a:ext cx="2307452" cy="1889700"/>
          </a:xfrm>
          <a:prstGeom prst="rect">
            <a:avLst/>
          </a:prstGeom>
        </p:spPr>
      </p:pic>
      <p:sp>
        <p:nvSpPr>
          <p:cNvPr id="68" name="矩形 15">
            <a:extLst>
              <a:ext uri="{FF2B5EF4-FFF2-40B4-BE49-F238E27FC236}">
                <a16:creationId xmlns:a16="http://schemas.microsoft.com/office/drawing/2014/main" id="{9E02D190-C3AF-A24E-420B-A37C1876C2B4}"/>
              </a:ext>
            </a:extLst>
          </p:cNvPr>
          <p:cNvSpPr/>
          <p:nvPr/>
        </p:nvSpPr>
        <p:spPr>
          <a:xfrm>
            <a:off x="130303" y="6382143"/>
            <a:ext cx="2112666" cy="31918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prstClr val="white"/>
                </a:solidFill>
                <a:latin typeface="Calibri" panose="020F0502020204030204" pitchFamily="34" charset="0"/>
                <a:cs typeface="Calibri" panose="020F0502020204030204" pitchFamily="34" charset="0"/>
              </a:rPr>
              <a:t>Y</a:t>
            </a:r>
            <a:r>
              <a:rPr kumimoji="0" lang="en-US" sz="11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Chen</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et al., Inverse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nano-optics problems</a:t>
            </a:r>
            <a:r>
              <a:rPr lang="en-US" sz="1100" b="0" i="0" dirty="0">
                <a:solidFill>
                  <a:srgbClr val="EEF0FF"/>
                </a:solidFill>
                <a:effectLst/>
                <a:latin typeface="Google Sans"/>
              </a:rPr>
              <a:t> </a:t>
            </a:r>
            <a:r>
              <a:rPr lang="en-US" sz="1100" dirty="0">
                <a:solidFill>
                  <a:prstClr val="white"/>
                </a:solidFill>
                <a:latin typeface="Calibri" panose="020F0502020204030204" pitchFamily="34" charset="0"/>
                <a:cs typeface="Calibri" panose="020F0502020204030204" pitchFamily="34" charset="0"/>
              </a:rPr>
              <a:t>,</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(2020)</a:t>
            </a:r>
          </a:p>
        </p:txBody>
      </p:sp>
      <p:sp>
        <p:nvSpPr>
          <p:cNvPr id="69" name="矩形 15">
            <a:extLst>
              <a:ext uri="{FF2B5EF4-FFF2-40B4-BE49-F238E27FC236}">
                <a16:creationId xmlns:a16="http://schemas.microsoft.com/office/drawing/2014/main" id="{5917722A-A3DD-7A1E-AADE-1854D5A562F8}"/>
              </a:ext>
            </a:extLst>
          </p:cNvPr>
          <p:cNvSpPr/>
          <p:nvPr/>
        </p:nvSpPr>
        <p:spPr>
          <a:xfrm>
            <a:off x="2610076" y="6360322"/>
            <a:ext cx="2112666" cy="31918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dirty="0">
                <a:solidFill>
                  <a:prstClr val="white"/>
                </a:solidFill>
                <a:latin typeface="Calibri" panose="020F0502020204030204" pitchFamily="34" charset="0"/>
                <a:cs typeface="Calibri" panose="020F0502020204030204" pitchFamily="34" charset="0"/>
              </a:rPr>
              <a:t>Y</a:t>
            </a:r>
            <a:r>
              <a:rPr kumimoji="0" lang="en-US" sz="11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Chen</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 et al., Parameter Retrieval</a:t>
            </a:r>
            <a:r>
              <a:rPr lang="en-US" sz="1100" b="0" i="0" dirty="0">
                <a:solidFill>
                  <a:srgbClr val="EEF0FF"/>
                </a:solidFill>
                <a:effectLst/>
                <a:latin typeface="Google Sans"/>
              </a:rPr>
              <a:t> </a:t>
            </a:r>
            <a:r>
              <a:rPr lang="en-US" sz="1100" dirty="0">
                <a:solidFill>
                  <a:prstClr val="white"/>
                </a:solidFill>
                <a:latin typeface="Calibri" panose="020F0502020204030204" pitchFamily="34" charset="0"/>
                <a:cs typeface="Calibri" panose="020F0502020204030204" pitchFamily="34" charset="0"/>
              </a:rPr>
              <a:t>,</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(202</a:t>
            </a:r>
            <a:r>
              <a:rPr lang="en-US" sz="1100" dirty="0">
                <a:solidFill>
                  <a:prstClr val="white"/>
                </a:solidFill>
                <a:latin typeface="Calibri" panose="020F0502020204030204" pitchFamily="34" charset="0"/>
                <a:cs typeface="Calibri" panose="020F0502020204030204" pitchFamily="34" charset="0"/>
              </a:rPr>
              <a:t>2</a:t>
            </a:r>
            <a:r>
              <a:rPr kumimoji="0" lang="en-US" sz="11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213393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5B873-8012-AECE-38F8-13A5CC88B697}"/>
            </a:ext>
          </a:extLst>
        </p:cNvPr>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5A96B3D5-482A-5EE0-36A5-17F1719DAB87}"/>
              </a:ext>
            </a:extLst>
          </p:cNvPr>
          <p:cNvSpPr/>
          <p:nvPr/>
        </p:nvSpPr>
        <p:spPr>
          <a:xfrm>
            <a:off x="2045715" y="3986364"/>
            <a:ext cx="961465" cy="265686"/>
          </a:xfrm>
          <a:prstGeom prst="roundRect">
            <a:avLst/>
          </a:prstGeom>
          <a:solidFill>
            <a:srgbClr val="F8CE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43" name="Rectangle: Rounded Corners 42">
            <a:extLst>
              <a:ext uri="{FF2B5EF4-FFF2-40B4-BE49-F238E27FC236}">
                <a16:creationId xmlns:a16="http://schemas.microsoft.com/office/drawing/2014/main" id="{ECCD231D-71FF-646A-E2D4-8D7A471F23EA}"/>
              </a:ext>
            </a:extLst>
          </p:cNvPr>
          <p:cNvSpPr/>
          <p:nvPr/>
        </p:nvSpPr>
        <p:spPr>
          <a:xfrm>
            <a:off x="1892300" y="4406900"/>
            <a:ext cx="1271881" cy="320596"/>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C549F32-3349-EF61-A977-14B0D7D4D908}"/>
                  </a:ext>
                </a:extLst>
              </p:cNvPr>
              <p:cNvSpPr txBox="1"/>
              <p:nvPr/>
            </p:nvSpPr>
            <p:spPr>
              <a:xfrm>
                <a:off x="4810429" y="567559"/>
                <a:ext cx="3871842" cy="6290441"/>
              </a:xfrm>
              <a:prstGeom prst="rect">
                <a:avLst/>
              </a:prstGeom>
              <a:noFill/>
              <a:ln>
                <a:noFill/>
              </a:ln>
            </p:spPr>
            <p:txBody>
              <a:bodyPr rtlCol="0" anchor="t">
                <a:normAutofit/>
              </a:bodyPr>
              <a:lstStyle/>
              <a:p>
                <a:pPr algn="ctr">
                  <a:lnSpc>
                    <a:spcPct val="90000"/>
                  </a:lnSpc>
                  <a:spcAft>
                    <a:spcPts val="600"/>
                  </a:spcAft>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MRI machines create a </a:t>
                </a:r>
                <a:r>
                  <a:rPr lang="en-US"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magnetic field (B) </a:t>
                </a:r>
                <a:r>
                  <a:rPr lang="en-US"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to retrieve </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e</a:t>
                </a:r>
                <a:r>
                  <a:rPr lang="en-US"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lectrical properties (EP) (</a:t>
                </a:r>
                <a14:m>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𝜺</m:t>
                        </m:r>
                      </m:e>
                      <m:sub>
                        <m:r>
                          <a:rPr lang="en-US" b="1" i="1">
                            <a:latin typeface="Cambria Math" panose="02040503050406030204" pitchFamily="18" charset="0"/>
                            <a:ea typeface="Cambria Math" panose="02040503050406030204" pitchFamily="18" charset="0"/>
                          </a:rPr>
                          <m:t>𝒄</m:t>
                        </m:r>
                      </m:sub>
                    </m:sSub>
                  </m:oMath>
                </a14:m>
                <a:r>
                  <a:rPr lang="en-US"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a:t>
                </a:r>
              </a:p>
              <a:p>
                <a:pPr marL="285750" indent="-285750" algn="ctr">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Tomography Problem is solved with :</a:t>
                </a: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endParaRPr lang="en-US" b="1"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Motivation</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 </a:t>
                </a:r>
              </a:p>
              <a:p>
                <a:pPr algn="ctr">
                  <a:lnSpc>
                    <a:spcPct val="90000"/>
                  </a:lnSpc>
                  <a:spcAft>
                    <a:spcPts val="600"/>
                  </a:spcAft>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High-precision reconstructions improves the effectiveness of </a:t>
                </a:r>
              </a:p>
              <a:p>
                <a:pPr marL="742950" lvl="1"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Early tumor detection</a:t>
                </a:r>
              </a:p>
              <a:p>
                <a:pPr marL="742950" lvl="1"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Improved effectiveness of radiofrequency hyperthermia</a:t>
                </a:r>
              </a:p>
              <a:p>
                <a:pPr algn="ctr">
                  <a:lnSpc>
                    <a:spcPct val="90000"/>
                  </a:lnSpc>
                  <a:spcAft>
                    <a:spcPts val="600"/>
                  </a:spcAft>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457200" lvl="1" algn="ctr">
                  <a:lnSpc>
                    <a:spcPct val="90000"/>
                  </a:lnSpc>
                  <a:spcAft>
                    <a:spcPts val="600"/>
                  </a:spcAft>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 name="TextBox 8">
                <a:extLst>
                  <a:ext uri="{FF2B5EF4-FFF2-40B4-BE49-F238E27FC236}">
                    <a16:creationId xmlns:a16="http://schemas.microsoft.com/office/drawing/2014/main" id="{5C549F32-3349-EF61-A977-14B0D7D4D908}"/>
                  </a:ext>
                </a:extLst>
              </p:cNvPr>
              <p:cNvSpPr txBox="1">
                <a:spLocks noRot="1" noChangeAspect="1" noMove="1" noResize="1" noEditPoints="1" noAdjustHandles="1" noChangeArrowheads="1" noChangeShapeType="1" noTextEdit="1"/>
              </p:cNvSpPr>
              <p:nvPr/>
            </p:nvSpPr>
            <p:spPr>
              <a:xfrm>
                <a:off x="4810429" y="567559"/>
                <a:ext cx="3871842" cy="6290441"/>
              </a:xfrm>
              <a:prstGeom prst="rect">
                <a:avLst/>
              </a:prstGeom>
              <a:blipFill>
                <a:blip r:embed="rId3"/>
                <a:stretch>
                  <a:fillRect l="-1102" t="-872" r="-2362"/>
                </a:stretch>
              </a:blipFill>
              <a:ln>
                <a:noFill/>
              </a:ln>
            </p:spPr>
            <p:txBody>
              <a:bodyPr/>
              <a:lstStyle/>
              <a:p>
                <a:r>
                  <a:rPr lang="en-US">
                    <a:noFill/>
                  </a:rPr>
                  <a:t> </a:t>
                </a:r>
              </a:p>
            </p:txBody>
          </p:sp>
        </mc:Fallback>
      </mc:AlternateContent>
      <p:sp>
        <p:nvSpPr>
          <p:cNvPr id="14" name="Shape 661">
            <a:extLst>
              <a:ext uri="{FF2B5EF4-FFF2-40B4-BE49-F238E27FC236}">
                <a16:creationId xmlns:a16="http://schemas.microsoft.com/office/drawing/2014/main" id="{634ADB49-BAB4-A558-FFCC-931D85A0FB87}"/>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Introduction to Magnetic Resonance-Electrical Property Tomography (MR-EPT)</a:t>
            </a:r>
            <a:endParaRPr lang="en-US" sz="2000" kern="0" dirty="0">
              <a:solidFill>
                <a:schemeClr val="bg1"/>
              </a:solidFill>
              <a:latin typeface="Arial" panose="020B0604020202020204" pitchFamily="34" charset="0"/>
              <a:cs typeface="Arial" panose="020B0604020202020204" pitchFamily="34" charset="0"/>
              <a:sym typeface="Arial"/>
            </a:endParaRPr>
          </a:p>
        </p:txBody>
      </p:sp>
      <p:pic>
        <p:nvPicPr>
          <p:cNvPr id="3" name="Google Shape;293;p48">
            <a:extLst>
              <a:ext uri="{FF2B5EF4-FFF2-40B4-BE49-F238E27FC236}">
                <a16:creationId xmlns:a16="http://schemas.microsoft.com/office/drawing/2014/main" id="{20E17494-EF87-1259-DEE4-E6529F887FE9}"/>
              </a:ext>
            </a:extLst>
          </p:cNvPr>
          <p:cNvPicPr preferRelativeResize="0"/>
          <p:nvPr/>
        </p:nvPicPr>
        <p:blipFill rotWithShape="1">
          <a:blip r:embed="rId4">
            <a:alphaModFix/>
          </a:blip>
          <a:srcRect l="60497" t="52188" r="19888" b="16502"/>
          <a:stretch/>
        </p:blipFill>
        <p:spPr>
          <a:xfrm>
            <a:off x="2045715" y="2207359"/>
            <a:ext cx="903300" cy="1153550"/>
          </a:xfrm>
          <a:prstGeom prst="rect">
            <a:avLst/>
          </a:prstGeom>
          <a:noFill/>
          <a:ln>
            <a:noFill/>
          </a:ln>
        </p:spPr>
      </p:pic>
      <p:pic>
        <p:nvPicPr>
          <p:cNvPr id="4" name="Google Shape;299;p48">
            <a:extLst>
              <a:ext uri="{FF2B5EF4-FFF2-40B4-BE49-F238E27FC236}">
                <a16:creationId xmlns:a16="http://schemas.microsoft.com/office/drawing/2014/main" id="{9B5AEF8C-558C-6874-AFA2-AB6B7F933A2C}"/>
              </a:ext>
            </a:extLst>
          </p:cNvPr>
          <p:cNvPicPr preferRelativeResize="0"/>
          <p:nvPr/>
        </p:nvPicPr>
        <p:blipFill>
          <a:blip r:embed="rId5">
            <a:alphaModFix/>
          </a:blip>
          <a:stretch>
            <a:fillRect/>
          </a:stretch>
        </p:blipFill>
        <p:spPr>
          <a:xfrm>
            <a:off x="1385381" y="323059"/>
            <a:ext cx="2210300" cy="1593075"/>
          </a:xfrm>
          <a:prstGeom prst="rect">
            <a:avLst/>
          </a:prstGeom>
          <a:noFill/>
          <a:ln>
            <a:noFill/>
          </a:ln>
        </p:spPr>
      </p:pic>
      <p:sp>
        <p:nvSpPr>
          <p:cNvPr id="8" name="Google Shape;292;p48">
            <a:extLst>
              <a:ext uri="{FF2B5EF4-FFF2-40B4-BE49-F238E27FC236}">
                <a16:creationId xmlns:a16="http://schemas.microsoft.com/office/drawing/2014/main" id="{A0393123-B818-E9C4-49EF-A4F873917825}"/>
              </a:ext>
            </a:extLst>
          </p:cNvPr>
          <p:cNvSpPr txBox="1"/>
          <p:nvPr/>
        </p:nvSpPr>
        <p:spPr>
          <a:xfrm>
            <a:off x="3839550" y="3228900"/>
            <a:ext cx="1464900" cy="4002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dirty="0">
                <a:solidFill>
                  <a:schemeClr val="lt1"/>
                </a:solidFill>
              </a:rPr>
              <a:t>Permittivity</a:t>
            </a:r>
            <a:endParaRPr sz="600" b="1" dirty="0">
              <a:solidFill>
                <a:schemeClr val="lt1"/>
              </a:solidFill>
            </a:endParaRPr>
          </a:p>
        </p:txBody>
      </p:sp>
      <p:sp>
        <p:nvSpPr>
          <p:cNvPr id="11" name="TextBox 10">
            <a:extLst>
              <a:ext uri="{FF2B5EF4-FFF2-40B4-BE49-F238E27FC236}">
                <a16:creationId xmlns:a16="http://schemas.microsoft.com/office/drawing/2014/main" id="{59D3E248-B7D2-C5CA-6B91-5BAB5F820890}"/>
              </a:ext>
            </a:extLst>
          </p:cNvPr>
          <p:cNvSpPr txBox="1"/>
          <p:nvPr/>
        </p:nvSpPr>
        <p:spPr>
          <a:xfrm>
            <a:off x="495480" y="6337948"/>
            <a:ext cx="1352683" cy="369332"/>
          </a:xfrm>
          <a:prstGeom prst="rect">
            <a:avLst/>
          </a:prstGeom>
          <a:noFill/>
        </p:spPr>
        <p:txBody>
          <a:bodyPr wrap="square">
            <a:spAutoFit/>
          </a:bodyPr>
          <a:lstStyle/>
          <a:p>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Permittivity</a:t>
            </a:r>
            <a:endParaRPr lang="en-US" dirty="0"/>
          </a:p>
        </p:txBody>
      </p:sp>
      <p:pic>
        <p:nvPicPr>
          <p:cNvPr id="12" name="Google Shape;301;p48">
            <a:extLst>
              <a:ext uri="{FF2B5EF4-FFF2-40B4-BE49-F238E27FC236}">
                <a16:creationId xmlns:a16="http://schemas.microsoft.com/office/drawing/2014/main" id="{1A45A46D-6480-7F2E-BAD5-FAEF6B8B6877}"/>
              </a:ext>
            </a:extLst>
          </p:cNvPr>
          <p:cNvPicPr preferRelativeResize="0"/>
          <p:nvPr/>
        </p:nvPicPr>
        <p:blipFill>
          <a:blip r:embed="rId6">
            <a:alphaModFix/>
          </a:blip>
          <a:stretch>
            <a:fillRect/>
          </a:stretch>
        </p:blipFill>
        <p:spPr>
          <a:xfrm rot="10800000">
            <a:off x="3338068" y="4905286"/>
            <a:ext cx="1163650" cy="1324851"/>
          </a:xfrm>
          <a:prstGeom prst="rect">
            <a:avLst/>
          </a:prstGeom>
          <a:noFill/>
          <a:ln>
            <a:noFill/>
          </a:ln>
        </p:spPr>
      </p:pic>
      <p:sp>
        <p:nvSpPr>
          <p:cNvPr id="13" name="TextBox 12">
            <a:extLst>
              <a:ext uri="{FF2B5EF4-FFF2-40B4-BE49-F238E27FC236}">
                <a16:creationId xmlns:a16="http://schemas.microsoft.com/office/drawing/2014/main" id="{D04287EA-500E-EA9F-6A87-51A5C845876D}"/>
              </a:ext>
            </a:extLst>
          </p:cNvPr>
          <p:cNvSpPr txBox="1"/>
          <p:nvPr/>
        </p:nvSpPr>
        <p:spPr>
          <a:xfrm>
            <a:off x="3308391" y="6316156"/>
            <a:ext cx="1352683" cy="369332"/>
          </a:xfrm>
          <a:prstGeom prst="rect">
            <a:avLst/>
          </a:prstGeom>
          <a:noFill/>
        </p:spPr>
        <p:txBody>
          <a:bodyPr wrap="square">
            <a:spAutoFit/>
          </a:bodyPr>
          <a:lstStyle/>
          <a:p>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Conductivity</a:t>
            </a:r>
            <a:endParaRPr lang="en-US" dirty="0"/>
          </a:p>
        </p:txBody>
      </p:sp>
      <p:cxnSp>
        <p:nvCxnSpPr>
          <p:cNvPr id="17" name="Straight Arrow Connector 16">
            <a:extLst>
              <a:ext uri="{FF2B5EF4-FFF2-40B4-BE49-F238E27FC236}">
                <a16:creationId xmlns:a16="http://schemas.microsoft.com/office/drawing/2014/main" id="{FB613D19-BB51-F1B2-EFEB-6939B7E55A65}"/>
              </a:ext>
            </a:extLst>
          </p:cNvPr>
          <p:cNvCxnSpPr>
            <a:stCxn id="4" idx="2"/>
            <a:endCxn id="3" idx="0"/>
          </p:cNvCxnSpPr>
          <p:nvPr/>
        </p:nvCxnSpPr>
        <p:spPr>
          <a:xfrm>
            <a:off x="2490531" y="1916134"/>
            <a:ext cx="6834" cy="29122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408118E-8B56-746B-105E-F6A068AC136A}"/>
              </a:ext>
            </a:extLst>
          </p:cNvPr>
          <p:cNvCxnSpPr>
            <a:cxnSpLocks/>
            <a:stCxn id="3" idx="2"/>
          </p:cNvCxnSpPr>
          <p:nvPr/>
        </p:nvCxnSpPr>
        <p:spPr>
          <a:xfrm flipH="1">
            <a:off x="1127799" y="3360909"/>
            <a:ext cx="1369566" cy="154437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B934626-C00D-67E1-817D-FE8504B70F6A}"/>
              </a:ext>
            </a:extLst>
          </p:cNvPr>
          <p:cNvCxnSpPr>
            <a:cxnSpLocks/>
            <a:stCxn id="3" idx="2"/>
            <a:endCxn id="12" idx="2"/>
          </p:cNvCxnSpPr>
          <p:nvPr/>
        </p:nvCxnSpPr>
        <p:spPr>
          <a:xfrm>
            <a:off x="2497365" y="3360909"/>
            <a:ext cx="1422528" cy="154437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BB8ADAA2-4DF9-05EB-42C4-19C38A3682AB}"/>
              </a:ext>
            </a:extLst>
          </p:cNvPr>
          <p:cNvCxnSpPr>
            <a:cxnSpLocks/>
          </p:cNvCxnSpPr>
          <p:nvPr/>
        </p:nvCxnSpPr>
        <p:spPr>
          <a:xfrm>
            <a:off x="545974" y="4317836"/>
            <a:ext cx="3955744" cy="32708"/>
          </a:xfrm>
          <a:prstGeom prst="line">
            <a:avLst/>
          </a:prstGeom>
          <a:ln w="28575">
            <a:solidFill>
              <a:srgbClr val="FF0000"/>
            </a:solidFill>
            <a:prstDash val="dash"/>
          </a:ln>
        </p:spPr>
        <p:style>
          <a:lnRef idx="1">
            <a:schemeClr val="accent6"/>
          </a:lnRef>
          <a:fillRef idx="0">
            <a:schemeClr val="accent6"/>
          </a:fillRef>
          <a:effectRef idx="0">
            <a:schemeClr val="accent6"/>
          </a:effectRef>
          <a:fontRef idx="minor">
            <a:schemeClr val="tx1"/>
          </a:fontRef>
        </p:style>
      </p:cxnSp>
      <p:sp>
        <p:nvSpPr>
          <p:cNvPr id="28" name="TextBox 27">
            <a:extLst>
              <a:ext uri="{FF2B5EF4-FFF2-40B4-BE49-F238E27FC236}">
                <a16:creationId xmlns:a16="http://schemas.microsoft.com/office/drawing/2014/main" id="{9BB82197-63D7-FBF8-C90A-E7351CF9D0AC}"/>
              </a:ext>
            </a:extLst>
          </p:cNvPr>
          <p:cNvSpPr txBox="1"/>
          <p:nvPr/>
        </p:nvSpPr>
        <p:spPr>
          <a:xfrm>
            <a:off x="1892300" y="4358164"/>
            <a:ext cx="1271882" cy="369332"/>
          </a:xfrm>
          <a:prstGeom prst="rect">
            <a:avLst/>
          </a:prstGeom>
          <a:noFill/>
        </p:spPr>
        <p:txBody>
          <a:bodyPr wrap="square">
            <a:spAutoFit/>
          </a:bodyPr>
          <a:lstStyle/>
          <a:p>
            <a:pPr algn="ct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EPT</a:t>
            </a:r>
            <a:endParaRPr lang="en-US" dirty="0"/>
          </a:p>
        </p:txBody>
      </p:sp>
      <p:sp>
        <p:nvSpPr>
          <p:cNvPr id="42" name="TextBox 41">
            <a:extLst>
              <a:ext uri="{FF2B5EF4-FFF2-40B4-BE49-F238E27FC236}">
                <a16:creationId xmlns:a16="http://schemas.microsoft.com/office/drawing/2014/main" id="{A27C4A42-6A7A-3A95-9759-4750118B3864}"/>
              </a:ext>
            </a:extLst>
          </p:cNvPr>
          <p:cNvSpPr txBox="1"/>
          <p:nvPr/>
        </p:nvSpPr>
        <p:spPr>
          <a:xfrm>
            <a:off x="1798062" y="3929178"/>
            <a:ext cx="1507519" cy="369332"/>
          </a:xfrm>
          <a:prstGeom prst="rect">
            <a:avLst/>
          </a:prstGeom>
          <a:noFill/>
        </p:spPr>
        <p:txBody>
          <a:bodyPr wrap="square">
            <a:spAutoFit/>
          </a:bodyPr>
          <a:lstStyle/>
          <a:p>
            <a:pPr algn="ct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MRI Scan</a:t>
            </a:r>
          </a:p>
        </p:txBody>
      </p:sp>
      <p:pic>
        <p:nvPicPr>
          <p:cNvPr id="2" name="Google Shape;303;p48">
            <a:extLst>
              <a:ext uri="{FF2B5EF4-FFF2-40B4-BE49-F238E27FC236}">
                <a16:creationId xmlns:a16="http://schemas.microsoft.com/office/drawing/2014/main" id="{0694E6BE-7B42-7271-9E87-5CA0D5B53563}"/>
              </a:ext>
            </a:extLst>
          </p:cNvPr>
          <p:cNvPicPr preferRelativeResize="0"/>
          <p:nvPr/>
        </p:nvPicPr>
        <p:blipFill>
          <a:blip r:embed="rId7">
            <a:alphaModFix/>
          </a:blip>
          <a:stretch>
            <a:fillRect/>
          </a:stretch>
        </p:blipFill>
        <p:spPr>
          <a:xfrm rot="10800000">
            <a:off x="545974" y="4905286"/>
            <a:ext cx="1202222" cy="1379978"/>
          </a:xfrm>
          <a:prstGeom prst="rect">
            <a:avLst/>
          </a:prstGeom>
          <a:noFill/>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A2C419-A850-03FA-C9FF-8B71CDB395D0}"/>
                  </a:ext>
                </a:extLst>
              </p:cNvPr>
              <p:cNvSpPr txBox="1"/>
              <p:nvPr/>
            </p:nvSpPr>
            <p:spPr>
              <a:xfrm>
                <a:off x="4075326" y="1783629"/>
                <a:ext cx="3871842" cy="2381358"/>
              </a:xfrm>
              <a:prstGeom prst="rect">
                <a:avLst/>
              </a:prstGeom>
              <a:noFill/>
            </p:spPr>
            <p:txBody>
              <a:bodyPr wrap="square">
                <a:spAutoFit/>
              </a:bodyPr>
              <a:lstStyle/>
              <a:p>
                <a:pPr algn="ctr"/>
                <a:r>
                  <a:rPr lang="en-US" sz="1800" b="1" i="1" dirty="0">
                    <a:latin typeface="Cambria Math" panose="02040503050406030204" pitchFamily="18" charset="0"/>
                    <a:ea typeface="Cambria Math" panose="02040503050406030204" pitchFamily="18" charset="0"/>
                  </a:rPr>
                  <a:t>Generalized Helmholtz Model</a:t>
                </a:r>
              </a:p>
              <a:p>
                <a:pPr algn="ctr"/>
                <a:endParaRPr lang="en-US" sz="1800" b="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
                    </m:oMathParaPr>
                    <m:oMath xmlns:m="http://schemas.openxmlformats.org/officeDocument/2006/math">
                      <m:sSup>
                        <m:sSupPr>
                          <m:ctrlPr>
                            <a:rPr lang="en-US" sz="1800" b="0" i="1" smtClean="0">
                              <a:latin typeface="Cambria Math" panose="02040503050406030204" pitchFamily="18" charset="0"/>
                              <a:ea typeface="Cambria Math" panose="02040503050406030204" pitchFamily="18" charset="0"/>
                            </a:rPr>
                          </m:ctrlPr>
                        </m:sSupPr>
                        <m:e>
                          <m:r>
                            <m:rPr>
                              <m:sty m:val="p"/>
                            </m:rPr>
                            <a:rPr lang="en-US" sz="1800" b="0" i="1" smtClean="0">
                              <a:latin typeface="Cambria Math" panose="02040503050406030204" pitchFamily="18" charset="0"/>
                              <a:ea typeface="Cambria Math" panose="02040503050406030204" pitchFamily="18" charset="0"/>
                            </a:rPr>
                            <m:t>∇</m:t>
                          </m:r>
                        </m:e>
                        <m:sup>
                          <m:r>
                            <a:rPr lang="en-US" sz="1800" b="0" i="1" smtClean="0">
                              <a:latin typeface="Cambria Math" panose="02040503050406030204" pitchFamily="18" charset="0"/>
                              <a:ea typeface="Cambria Math" panose="02040503050406030204" pitchFamily="18" charset="0"/>
                            </a:rPr>
                            <m:t>2</m:t>
                          </m:r>
                        </m:sup>
                      </m:sSup>
                      <m:sSubSup>
                        <m:sSubSupPr>
                          <m:ctrlPr>
                            <a:rPr lang="en-US" sz="1800" b="1" i="1">
                              <a:latin typeface="Cambria Math" panose="02040503050406030204" pitchFamily="18" charset="0"/>
                              <a:ea typeface="Cambria Math" panose="02040503050406030204" pitchFamily="18" charset="0"/>
                            </a:rPr>
                          </m:ctrlPr>
                        </m:sSubSupPr>
                        <m:e>
                          <m:r>
                            <a:rPr lang="en-US" sz="1800" b="1" i="1">
                              <a:latin typeface="Cambria Math" panose="02040503050406030204" pitchFamily="18" charset="0"/>
                              <a:ea typeface="Cambria Math" panose="02040503050406030204" pitchFamily="18" charset="0"/>
                            </a:rPr>
                            <m:t>𝑩</m:t>
                          </m:r>
                        </m:e>
                        <m:sub>
                          <m:r>
                            <a:rPr lang="en-US" sz="1800" b="0" i="1" smtClean="0">
                              <a:latin typeface="Cambria Math" panose="02040503050406030204" pitchFamily="18" charset="0"/>
                              <a:ea typeface="Cambria Math" panose="02040503050406030204" pitchFamily="18" charset="0"/>
                            </a:rPr>
                            <m:t>1</m:t>
                          </m:r>
                        </m:sub>
                        <m:sup>
                          <m:r>
                            <a:rPr lang="en-US" sz="1800" b="1" i="1">
                              <a:latin typeface="Cambria Math" panose="02040503050406030204" pitchFamily="18" charset="0"/>
                              <a:ea typeface="Cambria Math" panose="02040503050406030204" pitchFamily="18" charset="0"/>
                            </a:rPr>
                            <m:t>+</m:t>
                          </m:r>
                        </m:sup>
                      </m:sSubSup>
                      <m:r>
                        <a:rPr lang="en-US" sz="1800" b="1" i="1" smtClean="0">
                          <a:latin typeface="Cambria Math" panose="02040503050406030204" pitchFamily="18" charset="0"/>
                          <a:ea typeface="Cambria Math" panose="02040503050406030204" pitchFamily="18" charset="0"/>
                        </a:rPr>
                        <m:t>+</m:t>
                      </m:r>
                      <m:sSubSup>
                        <m:sSubSupPr>
                          <m:ctrlPr>
                            <a:rPr lang="en-US" sz="180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sup>
                      </m:sSubSup>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𝜀</m:t>
                          </m:r>
                        </m:e>
                        <m:sub>
                          <m:r>
                            <a:rPr lang="en-US" sz="1800" b="0" i="1" smtClean="0">
                              <a:latin typeface="Cambria Math" panose="02040503050406030204" pitchFamily="18" charset="0"/>
                              <a:ea typeface="Cambria Math" panose="02040503050406030204" pitchFamily="18" charset="0"/>
                            </a:rPr>
                            <m:t>𝑐</m:t>
                          </m:r>
                        </m:sub>
                      </m:sSub>
                      <m:sSubSup>
                        <m:sSubSupPr>
                          <m:ctrlPr>
                            <a:rPr lang="en-US" sz="1800" b="1" i="1">
                              <a:latin typeface="Cambria Math" panose="02040503050406030204" pitchFamily="18" charset="0"/>
                              <a:ea typeface="Cambria Math" panose="02040503050406030204" pitchFamily="18" charset="0"/>
                            </a:rPr>
                          </m:ctrlPr>
                        </m:sSubSupPr>
                        <m:e>
                          <m:r>
                            <a:rPr lang="en-US" sz="1800" b="1" i="1">
                              <a:latin typeface="Cambria Math" panose="02040503050406030204" pitchFamily="18" charset="0"/>
                              <a:ea typeface="Cambria Math" panose="02040503050406030204" pitchFamily="18" charset="0"/>
                            </a:rPr>
                            <m:t>𝑩</m:t>
                          </m:r>
                        </m:e>
                        <m:sub>
                          <m:r>
                            <a:rPr lang="en-US" sz="1800" b="0" i="1" smtClean="0">
                              <a:latin typeface="Cambria Math" panose="02040503050406030204" pitchFamily="18" charset="0"/>
                              <a:ea typeface="Cambria Math" panose="02040503050406030204" pitchFamily="18" charset="0"/>
                            </a:rPr>
                            <m:t>1</m:t>
                          </m:r>
                        </m:sub>
                        <m:sup>
                          <m:r>
                            <a:rPr lang="en-US" sz="1800" b="1" i="1">
                              <a:latin typeface="Cambria Math" panose="02040503050406030204" pitchFamily="18" charset="0"/>
                              <a:ea typeface="Cambria Math" panose="02040503050406030204" pitchFamily="18" charset="0"/>
                            </a:rPr>
                            <m:t>+</m:t>
                          </m:r>
                        </m:sup>
                      </m:sSubSup>
                      <m:r>
                        <a:rPr lang="en-US" sz="1800" b="1" i="1" smtClean="0">
                          <a:latin typeface="Cambria Math" panose="02040503050406030204" pitchFamily="18" charset="0"/>
                          <a:ea typeface="Cambria Math" panose="02040503050406030204" pitchFamily="18" charset="0"/>
                        </a:rPr>
                        <m:t>=</m:t>
                      </m:r>
                      <m:d>
                        <m:dPr>
                          <m:ctrlPr>
                            <a:rPr lang="en-US" sz="1800" b="1" i="1" smtClean="0">
                              <a:latin typeface="Cambria Math" panose="02040503050406030204" pitchFamily="18" charset="0"/>
                              <a:ea typeface="Cambria Math" panose="02040503050406030204" pitchFamily="18" charset="0"/>
                            </a:rPr>
                          </m:ctrlPr>
                        </m:dPr>
                        <m:e>
                          <m:f>
                            <m:fPr>
                              <m:ctrlPr>
                                <a:rPr lang="en-US" sz="180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m:t>
                              </m:r>
                              <m:sSubSup>
                                <m:sSubSupPr>
                                  <m:ctrlPr>
                                    <a:rPr lang="en-US" sz="1800" b="1" i="1">
                                      <a:latin typeface="Cambria Math" panose="02040503050406030204" pitchFamily="18" charset="0"/>
                                      <a:ea typeface="Cambria Math" panose="02040503050406030204" pitchFamily="18" charset="0"/>
                                    </a:rPr>
                                  </m:ctrlPr>
                                </m:sSubSupPr>
                                <m:e>
                                  <m:r>
                                    <a:rPr lang="en-US" sz="1800" b="1" i="1">
                                      <a:latin typeface="Cambria Math" panose="02040503050406030204" pitchFamily="18" charset="0"/>
                                      <a:ea typeface="Cambria Math" panose="02040503050406030204" pitchFamily="18" charset="0"/>
                                    </a:rPr>
                                    <m:t>𝑩</m:t>
                                  </m:r>
                                </m:e>
                                <m:sub>
                                  <m:r>
                                    <a:rPr lang="en-US" sz="1800" i="1">
                                      <a:latin typeface="Cambria Math" panose="02040503050406030204" pitchFamily="18" charset="0"/>
                                      <a:ea typeface="Cambria Math" panose="02040503050406030204" pitchFamily="18" charset="0"/>
                                    </a:rPr>
                                    <m:t>1</m:t>
                                  </m:r>
                                </m:sub>
                                <m:sup>
                                  <m:r>
                                    <a:rPr lang="en-US" sz="1800" b="1" i="1">
                                      <a:latin typeface="Cambria Math" panose="02040503050406030204" pitchFamily="18" charset="0"/>
                                      <a:ea typeface="Cambria Math" panose="02040503050406030204" pitchFamily="18" charset="0"/>
                                    </a:rPr>
                                    <m:t>+</m:t>
                                  </m:r>
                                </m:sup>
                              </m:sSubSup>
                            </m:num>
                            <m:den>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𝑖</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sSubSup>
                                <m:sSubSupPr>
                                  <m:ctrlPr>
                                    <a:rPr lang="en-US" sz="1800" b="1" i="1">
                                      <a:latin typeface="Cambria Math" panose="02040503050406030204" pitchFamily="18" charset="0"/>
                                      <a:ea typeface="Cambria Math" panose="02040503050406030204" pitchFamily="18" charset="0"/>
                                    </a:rPr>
                                  </m:ctrlPr>
                                </m:sSubSupPr>
                                <m:e>
                                  <m:r>
                                    <a:rPr lang="en-US" sz="1800" b="1" i="1">
                                      <a:latin typeface="Cambria Math" panose="02040503050406030204" pitchFamily="18" charset="0"/>
                                      <a:ea typeface="Cambria Math" panose="02040503050406030204" pitchFamily="18" charset="0"/>
                                    </a:rPr>
                                    <m:t>𝑩</m:t>
                                  </m:r>
                                </m:e>
                                <m:sub>
                                  <m:r>
                                    <a:rPr lang="en-US" sz="1800" i="1">
                                      <a:latin typeface="Cambria Math" panose="02040503050406030204" pitchFamily="18" charset="0"/>
                                      <a:ea typeface="Cambria Math" panose="02040503050406030204" pitchFamily="18" charset="0"/>
                                    </a:rPr>
                                    <m:t>1</m:t>
                                  </m:r>
                                </m:sub>
                                <m:sup>
                                  <m:r>
                                    <a:rPr lang="en-US" sz="1800" b="1" i="1">
                                      <a:latin typeface="Cambria Math" panose="02040503050406030204" pitchFamily="18" charset="0"/>
                                      <a:ea typeface="Cambria Math" panose="02040503050406030204" pitchFamily="18" charset="0"/>
                                    </a:rPr>
                                    <m:t>+</m:t>
                                  </m:r>
                                </m:sup>
                              </m:sSubSup>
                            </m:num>
                            <m:den>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𝑦</m:t>
                              </m:r>
                            </m:den>
                          </m:f>
                        </m:e>
                      </m:d>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𝒈</m:t>
                              </m:r>
                            </m:e>
                            <m:sub>
                              <m:r>
                                <a:rPr lang="en-US" sz="1800" b="0" i="1" smtClean="0">
                                  <a:latin typeface="Cambria Math" panose="02040503050406030204" pitchFamily="18" charset="0"/>
                                  <a:ea typeface="Cambria Math" panose="02040503050406030204" pitchFamily="18" charset="0"/>
                                </a:rPr>
                                <m:t>𝑥</m:t>
                              </m:r>
                            </m:sub>
                          </m:sSub>
                          <m:r>
                            <a:rPr lang="en-US" sz="1800" b="0" i="1" smtClean="0">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𝑖</m:t>
                              </m:r>
                              <m:r>
                                <a:rPr lang="en-US" sz="1800" b="1" i="1" smtClean="0">
                                  <a:latin typeface="Cambria Math" panose="02040503050406030204" pitchFamily="18" charset="0"/>
                                  <a:ea typeface="Cambria Math" panose="02040503050406030204" pitchFamily="18" charset="0"/>
                                </a:rPr>
                                <m:t>𝒈</m:t>
                              </m:r>
                            </m:e>
                            <m:sub>
                              <m:r>
                                <a:rPr lang="en-US" sz="1800" b="0" i="1" smtClean="0">
                                  <a:latin typeface="Cambria Math" panose="02040503050406030204" pitchFamily="18" charset="0"/>
                                  <a:ea typeface="Cambria Math" panose="02040503050406030204" pitchFamily="18" charset="0"/>
                                </a:rPr>
                                <m:t>𝑦</m:t>
                              </m:r>
                            </m:sub>
                          </m:sSub>
                        </m:e>
                      </m:d>
                      <m:r>
                        <a:rPr lang="en-US" sz="1800" b="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sSubSup>
                            <m:sSubSupPr>
                              <m:ctrlPr>
                                <a:rPr lang="en-US" sz="1800" b="1" i="1">
                                  <a:latin typeface="Cambria Math" panose="02040503050406030204" pitchFamily="18" charset="0"/>
                                  <a:ea typeface="Cambria Math" panose="02040503050406030204" pitchFamily="18" charset="0"/>
                                </a:rPr>
                              </m:ctrlPr>
                            </m:sSubSupPr>
                            <m:e>
                              <m:r>
                                <a:rPr lang="en-US" sz="1800" b="1" i="1">
                                  <a:latin typeface="Cambria Math" panose="02040503050406030204" pitchFamily="18" charset="0"/>
                                  <a:ea typeface="Cambria Math" panose="02040503050406030204" pitchFamily="18" charset="0"/>
                                </a:rPr>
                                <m:t>𝑩</m:t>
                              </m:r>
                            </m:e>
                            <m:sub>
                              <m:r>
                                <a:rPr lang="en-US" sz="1800" i="1">
                                  <a:latin typeface="Cambria Math" panose="02040503050406030204" pitchFamily="18" charset="0"/>
                                  <a:ea typeface="Cambria Math" panose="02040503050406030204" pitchFamily="18" charset="0"/>
                                </a:rPr>
                                <m:t>1</m:t>
                              </m:r>
                            </m:sub>
                            <m:sup>
                              <m:r>
                                <a:rPr lang="en-US" sz="1800" b="1" i="1">
                                  <a:latin typeface="Cambria Math" panose="02040503050406030204" pitchFamily="18" charset="0"/>
                                  <a:ea typeface="Cambria Math" panose="02040503050406030204" pitchFamily="18" charset="0"/>
                                </a:rPr>
                                <m:t>+</m:t>
                              </m:r>
                            </m:sup>
                          </m:sSubSup>
                        </m:num>
                        <m:den>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𝑧</m:t>
                          </m:r>
                        </m:den>
                      </m:f>
                      <m:sSub>
                        <m:sSubPr>
                          <m:ctrlPr>
                            <a:rPr lang="en-US" sz="1800" i="1" smtClean="0">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𝒈</m:t>
                          </m:r>
                        </m:e>
                        <m:sub>
                          <m:r>
                            <a:rPr lang="en-US" sz="1800" b="0" i="1" smtClean="0">
                              <a:latin typeface="Cambria Math" panose="02040503050406030204" pitchFamily="18" charset="0"/>
                              <a:ea typeface="Cambria Math" panose="02040503050406030204" pitchFamily="18" charset="0"/>
                            </a:rPr>
                            <m:t>𝑧</m:t>
                          </m:r>
                        </m:sub>
                      </m:sSub>
                    </m:oMath>
                  </m:oMathPara>
                </a14:m>
                <a:endParaRPr lang="en-US" sz="1800" dirty="0"/>
              </a:p>
              <a:p>
                <a:pPr algn="ctr"/>
                <a:r>
                  <a:rPr lang="en-US" sz="1800" dirty="0"/>
                  <a:t>Where </a:t>
                </a:r>
                <a14:m>
                  <m:oMath xmlns:m="http://schemas.openxmlformats.org/officeDocument/2006/math">
                    <m:r>
                      <a:rPr lang="en-US" sz="1800" b="1" i="1" smtClean="0">
                        <a:latin typeface="Cambria Math" panose="02040503050406030204" pitchFamily="18" charset="0"/>
                        <a:ea typeface="Cambria Math" panose="02040503050406030204" pitchFamily="18" charset="0"/>
                      </a:rPr>
                      <m:t>𝒈</m:t>
                    </m:r>
                    <m:r>
                      <a:rPr lang="en-US" sz="1800" b="1"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m:t>
                    </m:r>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ln</m:t>
                        </m:r>
                      </m:fName>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𝜀</m:t>
                            </m:r>
                          </m:e>
                          <m:sub>
                            <m:r>
                              <a:rPr lang="en-US" sz="1800" i="1">
                                <a:latin typeface="Cambria Math" panose="02040503050406030204" pitchFamily="18" charset="0"/>
                                <a:ea typeface="Cambria Math" panose="02040503050406030204" pitchFamily="18" charset="0"/>
                              </a:rPr>
                              <m:t>𝑐</m:t>
                            </m:r>
                          </m:sub>
                        </m:sSub>
                      </m:e>
                    </m:func>
                  </m:oMath>
                </a14:m>
                <a:endParaRPr lang="en-US" sz="1800" dirty="0"/>
              </a:p>
            </p:txBody>
          </p:sp>
        </mc:Choice>
        <mc:Fallback xmlns="">
          <p:sp>
            <p:nvSpPr>
              <p:cNvPr id="10" name="TextBox 9">
                <a:extLst>
                  <a:ext uri="{FF2B5EF4-FFF2-40B4-BE49-F238E27FC236}">
                    <a16:creationId xmlns:a16="http://schemas.microsoft.com/office/drawing/2014/main" id="{E4A2C419-A850-03FA-C9FF-8B71CDB395D0}"/>
                  </a:ext>
                </a:extLst>
              </p:cNvPr>
              <p:cNvSpPr txBox="1">
                <a:spLocks noRot="1" noChangeAspect="1" noMove="1" noResize="1" noEditPoints="1" noAdjustHandles="1" noChangeArrowheads="1" noChangeShapeType="1" noTextEdit="1"/>
              </p:cNvSpPr>
              <p:nvPr/>
            </p:nvSpPr>
            <p:spPr>
              <a:xfrm>
                <a:off x="4075326" y="1783629"/>
                <a:ext cx="3871842" cy="2381358"/>
              </a:xfrm>
              <a:prstGeom prst="rect">
                <a:avLst/>
              </a:prstGeom>
              <a:blipFill>
                <a:blip r:embed="rId8"/>
                <a:stretch>
                  <a:fillRect t="-1795" b="-3333"/>
                </a:stretch>
              </a:blipFill>
            </p:spPr>
            <p:txBody>
              <a:bodyPr/>
              <a:lstStyle/>
              <a:p>
                <a:r>
                  <a:rPr lang="en-US">
                    <a:noFill/>
                  </a:rPr>
                  <a:t> </a:t>
                </a:r>
              </a:p>
            </p:txBody>
          </p:sp>
        </mc:Fallback>
      </mc:AlternateContent>
      <p:grpSp>
        <p:nvGrpSpPr>
          <p:cNvPr id="35" name="Group 34">
            <a:extLst>
              <a:ext uri="{FF2B5EF4-FFF2-40B4-BE49-F238E27FC236}">
                <a16:creationId xmlns:a16="http://schemas.microsoft.com/office/drawing/2014/main" id="{DF24E071-5C8E-526B-DDCD-CB98F54CE307}"/>
              </a:ext>
            </a:extLst>
          </p:cNvPr>
          <p:cNvGrpSpPr/>
          <p:nvPr/>
        </p:nvGrpSpPr>
        <p:grpSpPr>
          <a:xfrm>
            <a:off x="6578799" y="3033921"/>
            <a:ext cx="2523727" cy="1129599"/>
            <a:chOff x="6555063" y="2858086"/>
            <a:chExt cx="2523727" cy="1129599"/>
          </a:xfrm>
        </p:grpSpPr>
        <p:sp>
          <p:nvSpPr>
            <p:cNvPr id="18" name="Oval 17">
              <a:extLst>
                <a:ext uri="{FF2B5EF4-FFF2-40B4-BE49-F238E27FC236}">
                  <a16:creationId xmlns:a16="http://schemas.microsoft.com/office/drawing/2014/main" id="{3FF66530-7875-D1E8-1202-62AD16430804}"/>
                </a:ext>
              </a:extLst>
            </p:cNvPr>
            <p:cNvSpPr/>
            <p:nvPr/>
          </p:nvSpPr>
          <p:spPr>
            <a:xfrm>
              <a:off x="6555063" y="3587486"/>
              <a:ext cx="549931" cy="40019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69CAFF75-38C9-463A-A306-82B068A9D04D}"/>
                </a:ext>
              </a:extLst>
            </p:cNvPr>
            <p:cNvSpPr txBox="1"/>
            <p:nvPr/>
          </p:nvSpPr>
          <p:spPr>
            <a:xfrm>
              <a:off x="7423348" y="2858086"/>
              <a:ext cx="1655442" cy="674031"/>
            </a:xfrm>
            <a:prstGeom prst="rect">
              <a:avLst/>
            </a:prstGeom>
            <a:noFill/>
          </p:spPr>
          <p:txBody>
            <a:bodyPr wrap="square">
              <a:spAutoFit/>
            </a:bodyPr>
            <a:lstStyle/>
            <a:p>
              <a:pPr algn="ctr">
                <a:lnSpc>
                  <a:spcPct val="90000"/>
                </a:lnSpc>
                <a:spcAft>
                  <a:spcPts val="600"/>
                </a:spcAft>
              </a:pPr>
              <a:r>
                <a:rPr lang="en-US" sz="1400" b="1" dirty="0">
                  <a:solidFill>
                    <a:schemeClr val="dk2"/>
                  </a:solidFill>
                  <a:latin typeface="Calibri" panose="020F0502020204030204" pitchFamily="34" charset="0"/>
                  <a:ea typeface="Calibri" panose="020F0502020204030204" pitchFamily="34" charset="0"/>
                  <a:cs typeface="Calibri" panose="020F0502020204030204" pitchFamily="34" charset="0"/>
                </a:rPr>
                <a:t>parameter to be retrieved based on training data</a:t>
              </a:r>
              <a:endParaRPr lang="en-US" sz="1400"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9" name="Straight Arrow Connector 28">
              <a:extLst>
                <a:ext uri="{FF2B5EF4-FFF2-40B4-BE49-F238E27FC236}">
                  <a16:creationId xmlns:a16="http://schemas.microsoft.com/office/drawing/2014/main" id="{87AF4D8B-FB4E-1365-9590-BD1E133361F3}"/>
                </a:ext>
              </a:extLst>
            </p:cNvPr>
            <p:cNvCxnSpPr>
              <a:cxnSpLocks/>
              <a:stCxn id="18" idx="6"/>
            </p:cNvCxnSpPr>
            <p:nvPr/>
          </p:nvCxnSpPr>
          <p:spPr>
            <a:xfrm flipV="1">
              <a:off x="7104994" y="3429000"/>
              <a:ext cx="479644" cy="35858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11634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981;p82">
            <a:extLst>
              <a:ext uri="{FF2B5EF4-FFF2-40B4-BE49-F238E27FC236}">
                <a16:creationId xmlns:a16="http://schemas.microsoft.com/office/drawing/2014/main" id="{A0961128-C77A-D89C-3061-A723F046C0E9}"/>
              </a:ext>
            </a:extLst>
          </p:cNvPr>
          <p:cNvSpPr txBox="1"/>
          <p:nvPr/>
        </p:nvSpPr>
        <p:spPr>
          <a:xfrm>
            <a:off x="13241295" y="5936991"/>
            <a:ext cx="535800" cy="43239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a:solidFill>
                  <a:schemeClr val="tx1"/>
                </a:solidFill>
              </a:rPr>
              <a:t>2.5</a:t>
            </a:r>
            <a:endParaRPr>
              <a:solidFill>
                <a:schemeClr val="tx1"/>
              </a:solidFill>
            </a:endParaRPr>
          </a:p>
        </p:txBody>
      </p:sp>
      <p:sp>
        <p:nvSpPr>
          <p:cNvPr id="41" name="Google Shape;982;p82">
            <a:extLst>
              <a:ext uri="{FF2B5EF4-FFF2-40B4-BE49-F238E27FC236}">
                <a16:creationId xmlns:a16="http://schemas.microsoft.com/office/drawing/2014/main" id="{92E82416-824B-B0FF-2479-0388EBD1BB12}"/>
              </a:ext>
            </a:extLst>
          </p:cNvPr>
          <p:cNvSpPr txBox="1"/>
          <p:nvPr/>
        </p:nvSpPr>
        <p:spPr>
          <a:xfrm>
            <a:off x="13241295" y="7003791"/>
            <a:ext cx="535800" cy="43239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a:solidFill>
                  <a:schemeClr val="tx1"/>
                </a:solidFill>
              </a:rPr>
              <a:t>0</a:t>
            </a:r>
            <a:endParaRPr>
              <a:solidFill>
                <a:schemeClr val="tx1"/>
              </a:solidFill>
            </a:endParaRPr>
          </a:p>
        </p:txBody>
      </p:sp>
      <p:sp>
        <p:nvSpPr>
          <p:cNvPr id="44" name="Google Shape;985;p82">
            <a:extLst>
              <a:ext uri="{FF2B5EF4-FFF2-40B4-BE49-F238E27FC236}">
                <a16:creationId xmlns:a16="http://schemas.microsoft.com/office/drawing/2014/main" id="{2E53CB47-01BA-DB08-B019-0A2505D4A9C6}"/>
              </a:ext>
            </a:extLst>
          </p:cNvPr>
          <p:cNvSpPr txBox="1"/>
          <p:nvPr/>
        </p:nvSpPr>
        <p:spPr>
          <a:xfrm>
            <a:off x="13241295" y="5251191"/>
            <a:ext cx="535800" cy="43239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a:solidFill>
                  <a:schemeClr val="tx1"/>
                </a:solidFill>
              </a:rPr>
              <a:t>30</a:t>
            </a:r>
            <a:endParaRPr>
              <a:solidFill>
                <a:schemeClr val="tx1"/>
              </a:solidFill>
            </a:endParaRPr>
          </a:p>
        </p:txBody>
      </p:sp>
      <p:sp>
        <p:nvSpPr>
          <p:cNvPr id="45" name="Google Shape;986;p82">
            <a:extLst>
              <a:ext uri="{FF2B5EF4-FFF2-40B4-BE49-F238E27FC236}">
                <a16:creationId xmlns:a16="http://schemas.microsoft.com/office/drawing/2014/main" id="{845849E0-B7D3-431B-B1B7-FDD59F38AC4B}"/>
              </a:ext>
            </a:extLst>
          </p:cNvPr>
          <p:cNvSpPr txBox="1"/>
          <p:nvPr/>
        </p:nvSpPr>
        <p:spPr>
          <a:xfrm>
            <a:off x="13241295" y="4031991"/>
            <a:ext cx="535800" cy="43239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a:solidFill>
                  <a:schemeClr val="tx1"/>
                </a:solidFill>
              </a:rPr>
              <a:t>80</a:t>
            </a:r>
            <a:endParaRPr>
              <a:solidFill>
                <a:schemeClr val="tx1"/>
              </a:solidFill>
            </a:endParaRPr>
          </a:p>
        </p:txBody>
      </p:sp>
      <p:pic>
        <p:nvPicPr>
          <p:cNvPr id="48" name="Google Shape;412;p55">
            <a:extLst>
              <a:ext uri="{FF2B5EF4-FFF2-40B4-BE49-F238E27FC236}">
                <a16:creationId xmlns:a16="http://schemas.microsoft.com/office/drawing/2014/main" id="{1107D983-674E-ED02-8EE2-7EEEBA5C2BBF}"/>
              </a:ext>
            </a:extLst>
          </p:cNvPr>
          <p:cNvPicPr preferRelativeResize="0"/>
          <p:nvPr/>
        </p:nvPicPr>
        <p:blipFill>
          <a:blip r:embed="rId3">
            <a:alphaModFix/>
          </a:blip>
          <a:stretch>
            <a:fillRect/>
          </a:stretch>
        </p:blipFill>
        <p:spPr>
          <a:xfrm>
            <a:off x="4329674" y="1892328"/>
            <a:ext cx="1276350" cy="1676400"/>
          </a:xfrm>
          <a:prstGeom prst="rect">
            <a:avLst/>
          </a:prstGeom>
          <a:noFill/>
          <a:ln>
            <a:noFill/>
          </a:ln>
        </p:spPr>
      </p:pic>
      <p:pic>
        <p:nvPicPr>
          <p:cNvPr id="49" name="Google Shape;413;p55">
            <a:extLst>
              <a:ext uri="{FF2B5EF4-FFF2-40B4-BE49-F238E27FC236}">
                <a16:creationId xmlns:a16="http://schemas.microsoft.com/office/drawing/2014/main" id="{31DAAB5E-E79C-A21B-18CD-A0BD2EEEA791}"/>
              </a:ext>
            </a:extLst>
          </p:cNvPr>
          <p:cNvPicPr preferRelativeResize="0"/>
          <p:nvPr/>
        </p:nvPicPr>
        <p:blipFill>
          <a:blip r:embed="rId4">
            <a:alphaModFix/>
          </a:blip>
          <a:stretch>
            <a:fillRect/>
          </a:stretch>
        </p:blipFill>
        <p:spPr>
          <a:xfrm>
            <a:off x="5913062" y="1911378"/>
            <a:ext cx="1247775" cy="1638300"/>
          </a:xfrm>
          <a:prstGeom prst="rect">
            <a:avLst/>
          </a:prstGeom>
          <a:noFill/>
          <a:ln>
            <a:noFill/>
          </a:ln>
        </p:spPr>
      </p:pic>
      <p:pic>
        <p:nvPicPr>
          <p:cNvPr id="50" name="Google Shape;414;p55">
            <a:extLst>
              <a:ext uri="{FF2B5EF4-FFF2-40B4-BE49-F238E27FC236}">
                <a16:creationId xmlns:a16="http://schemas.microsoft.com/office/drawing/2014/main" id="{ED7CFC38-4D72-B661-6333-3A5EFEC1917A}"/>
              </a:ext>
            </a:extLst>
          </p:cNvPr>
          <p:cNvPicPr preferRelativeResize="0"/>
          <p:nvPr/>
        </p:nvPicPr>
        <p:blipFill>
          <a:blip r:embed="rId5">
            <a:alphaModFix/>
          </a:blip>
          <a:stretch>
            <a:fillRect/>
          </a:stretch>
        </p:blipFill>
        <p:spPr>
          <a:xfrm>
            <a:off x="7467887" y="1916141"/>
            <a:ext cx="1247775" cy="1628775"/>
          </a:xfrm>
          <a:prstGeom prst="rect">
            <a:avLst/>
          </a:prstGeom>
          <a:noFill/>
          <a:ln>
            <a:noFill/>
          </a:ln>
        </p:spPr>
      </p:pic>
      <p:sp>
        <p:nvSpPr>
          <p:cNvPr id="51" name="Google Shape;415;p55">
            <a:extLst>
              <a:ext uri="{FF2B5EF4-FFF2-40B4-BE49-F238E27FC236}">
                <a16:creationId xmlns:a16="http://schemas.microsoft.com/office/drawing/2014/main" id="{E8A18AB6-E89E-DE26-B246-3B7E9E70B731}"/>
              </a:ext>
            </a:extLst>
          </p:cNvPr>
          <p:cNvSpPr txBox="1"/>
          <p:nvPr/>
        </p:nvSpPr>
        <p:spPr>
          <a:xfrm>
            <a:off x="4210474" y="1026022"/>
            <a:ext cx="4955400" cy="83557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b="1" dirty="0">
                <a:solidFill>
                  <a:schemeClr val="tx1"/>
                </a:solidFill>
              </a:rPr>
              <a:t>                                 Conductivity </a:t>
            </a:r>
            <a:br>
              <a:rPr lang="en" b="1" dirty="0">
                <a:solidFill>
                  <a:schemeClr val="tx1"/>
                </a:solidFill>
              </a:rPr>
            </a:br>
            <a:r>
              <a:rPr lang="en" b="1" dirty="0">
                <a:solidFill>
                  <a:schemeClr val="tx1"/>
                </a:solidFill>
              </a:rPr>
              <a:t>                </a:t>
            </a:r>
            <a:r>
              <a:rPr lang="en" dirty="0">
                <a:solidFill>
                  <a:schemeClr val="tx1"/>
                </a:solidFill>
              </a:rPr>
              <a:t>                  Reconstruction       Reconstruction</a:t>
            </a:r>
            <a:endParaRPr dirty="0">
              <a:solidFill>
                <a:schemeClr val="tx1"/>
              </a:solidFill>
            </a:endParaRPr>
          </a:p>
          <a:p>
            <a:pPr marL="0" lvl="0" indent="0" algn="l" rtl="0">
              <a:lnSpc>
                <a:spcPct val="115000"/>
              </a:lnSpc>
              <a:spcBef>
                <a:spcPts val="0"/>
              </a:spcBef>
              <a:spcAft>
                <a:spcPts val="0"/>
              </a:spcAft>
              <a:buNone/>
            </a:pPr>
            <a:r>
              <a:rPr lang="en" dirty="0">
                <a:solidFill>
                  <a:schemeClr val="tx1"/>
                </a:solidFill>
              </a:rPr>
              <a:t>  Ground-Truth             SNR = inf.               SNR = 100</a:t>
            </a:r>
            <a:endParaRPr dirty="0">
              <a:solidFill>
                <a:schemeClr val="tx1"/>
              </a:solidFill>
            </a:endParaRPr>
          </a:p>
        </p:txBody>
      </p:sp>
      <p:sp>
        <p:nvSpPr>
          <p:cNvPr id="58" name="Shape 661">
            <a:extLst>
              <a:ext uri="{FF2B5EF4-FFF2-40B4-BE49-F238E27FC236}">
                <a16:creationId xmlns:a16="http://schemas.microsoft.com/office/drawing/2014/main" id="{1792A2DF-A404-ACAF-03A0-8489762D6B24}"/>
              </a:ext>
            </a:extLst>
          </p:cNvPr>
          <p:cNvSpPr/>
          <p:nvPr/>
        </p:nvSpPr>
        <p:spPr>
          <a:xfrm>
            <a:off x="0" y="0"/>
            <a:ext cx="9144000"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MR-EPT – Limitations of Traditional Methods</a:t>
            </a:r>
            <a:endParaRPr lang="en-US" sz="2000" kern="0" dirty="0">
              <a:solidFill>
                <a:schemeClr val="bg1"/>
              </a:solidFill>
              <a:latin typeface="Arial" panose="020B0604020202020204" pitchFamily="34" charset="0"/>
              <a:cs typeface="Arial" panose="020B0604020202020204" pitchFamily="34" charset="0"/>
              <a:sym typeface="Arial"/>
            </a:endParaRPr>
          </a:p>
        </p:txBody>
      </p:sp>
      <p:sp>
        <p:nvSpPr>
          <p:cNvPr id="59" name="TextBox 58">
            <a:extLst>
              <a:ext uri="{FF2B5EF4-FFF2-40B4-BE49-F238E27FC236}">
                <a16:creationId xmlns:a16="http://schemas.microsoft.com/office/drawing/2014/main" id="{FACFF397-57AA-70AF-C715-E1266563B1CA}"/>
              </a:ext>
            </a:extLst>
          </p:cNvPr>
          <p:cNvSpPr txBox="1"/>
          <p:nvPr/>
        </p:nvSpPr>
        <p:spPr>
          <a:xfrm>
            <a:off x="381402" y="1831466"/>
            <a:ext cx="3428598" cy="4102662"/>
          </a:xfrm>
          <a:prstGeom prst="rect">
            <a:avLst/>
          </a:prstGeom>
          <a:noFill/>
        </p:spPr>
        <p:txBody>
          <a:bodyPr wrap="square">
            <a:spAutoFit/>
          </a:bodyPr>
          <a:lstStyle/>
          <a:p>
            <a:pPr>
              <a:lnSpc>
                <a:spcPct val="90000"/>
              </a:lnSpc>
              <a:spcAft>
                <a:spcPts val="600"/>
              </a:spcAft>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Traditional approach for </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MR-EPT</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a:t>
            </a: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Finite Element Method(</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FEM</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a:t>
            </a:r>
          </a:p>
          <a:p>
            <a:pPr marL="742950" lvl="1" indent="-285750">
              <a:lnSpc>
                <a:spcPct val="90000"/>
              </a:lnSpc>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Sensitive to noisy data</a:t>
            </a: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Artifacts caused by numerical differentiation </a:t>
            </a:r>
          </a:p>
          <a:p>
            <a:pPr marL="742950" lvl="1" indent="-285750">
              <a:lnSpc>
                <a:spcPct val="90000"/>
              </a:lnSpc>
              <a:spcAft>
                <a:spcPts val="600"/>
              </a:spcAft>
              <a:buFont typeface="Arial" panose="020B0604020202020204" pitchFamily="34" charset="0"/>
              <a:buChar char="•"/>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Desired PINN Improvements:</a:t>
            </a:r>
          </a:p>
          <a:p>
            <a:pPr marL="285750" indent="-285750">
              <a:lnSpc>
                <a:spcPct val="90000"/>
              </a:lnSpc>
              <a:spcAft>
                <a:spcPts val="600"/>
              </a:spcAft>
              <a:buFont typeface="Arial" panose="020B0604020202020204" pitchFamily="34" charset="0"/>
              <a:buChar char="•"/>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Analytical derivatives </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reduce </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artifacts</a:t>
            </a: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Strong denoising capabilities</a:t>
            </a: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Increased spatial resolution</a:t>
            </a:r>
            <a:endPar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29" name="Group 1028">
            <a:extLst>
              <a:ext uri="{FF2B5EF4-FFF2-40B4-BE49-F238E27FC236}">
                <a16:creationId xmlns:a16="http://schemas.microsoft.com/office/drawing/2014/main" id="{D13D2731-AECE-3B38-2BEF-E556C76F32C0}"/>
              </a:ext>
            </a:extLst>
          </p:cNvPr>
          <p:cNvGrpSpPr/>
          <p:nvPr/>
        </p:nvGrpSpPr>
        <p:grpSpPr>
          <a:xfrm>
            <a:off x="6379511" y="4031991"/>
            <a:ext cx="2383787" cy="2280709"/>
            <a:chOff x="6015648" y="4072321"/>
            <a:chExt cx="2383787" cy="2280709"/>
          </a:xfrm>
        </p:grpSpPr>
        <p:pic>
          <p:nvPicPr>
            <p:cNvPr id="56" name="Picture 2" descr="Finite element head model constructed using magnetic resonance imaging (MRI) data. (a) Cross-sectional view of the realistic human head model. (b) Locations of the 61 electrodes overlayed on the scalp surface.">
              <a:extLst>
                <a:ext uri="{FF2B5EF4-FFF2-40B4-BE49-F238E27FC236}">
                  <a16:creationId xmlns:a16="http://schemas.microsoft.com/office/drawing/2014/main" id="{87FE25CF-0BB5-1217-254D-D8B90E67DC7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r="66139" b="2"/>
            <a:stretch/>
          </p:blipFill>
          <p:spPr bwMode="auto">
            <a:xfrm>
              <a:off x="6510310" y="4149351"/>
              <a:ext cx="1889125" cy="220367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27" name="TextBox 1026">
              <a:extLst>
                <a:ext uri="{FF2B5EF4-FFF2-40B4-BE49-F238E27FC236}">
                  <a16:creationId xmlns:a16="http://schemas.microsoft.com/office/drawing/2014/main" id="{69734136-A6BF-07A1-1784-6A1869593CD0}"/>
                </a:ext>
              </a:extLst>
            </p:cNvPr>
            <p:cNvSpPr txBox="1"/>
            <p:nvPr/>
          </p:nvSpPr>
          <p:spPr>
            <a:xfrm>
              <a:off x="6015648" y="4072321"/>
              <a:ext cx="828675" cy="369332"/>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endParaRPr lang="en-US" dirty="0"/>
            </a:p>
          </p:txBody>
        </p:sp>
      </p:grpSp>
      <p:pic>
        <p:nvPicPr>
          <p:cNvPr id="57" name="Picture 56" descr="Finite element head model constructed using magnetic resonance imaging (MRI) data. (a) Cross-sectional view of the realistic human head model. (b) Locations of the 61 electrodes overlayed on the scalp surface.">
            <a:extLst>
              <a:ext uri="{FF2B5EF4-FFF2-40B4-BE49-F238E27FC236}">
                <a16:creationId xmlns:a16="http://schemas.microsoft.com/office/drawing/2014/main" id="{6D499595-F169-7F28-5742-C4FD33C62B7D}"/>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34929" t="29074" r="38516"/>
          <a:stretch/>
        </p:blipFill>
        <p:spPr bwMode="auto">
          <a:xfrm>
            <a:off x="8395682" y="6068073"/>
            <a:ext cx="748318" cy="7900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Google Shape;957;p82">
            <a:extLst>
              <a:ext uri="{FF2B5EF4-FFF2-40B4-BE49-F238E27FC236}">
                <a16:creationId xmlns:a16="http://schemas.microsoft.com/office/drawing/2014/main" id="{999350E3-BEEC-BBE8-DE30-7E66385731B5}"/>
              </a:ext>
            </a:extLst>
          </p:cNvPr>
          <p:cNvPicPr preferRelativeResize="0"/>
          <p:nvPr/>
        </p:nvPicPr>
        <p:blipFill rotWithShape="1">
          <a:blip r:embed="rId8">
            <a:alphaModFix/>
          </a:blip>
          <a:srcRect l="15036" t="8793" r="51159" b="15854"/>
          <a:stretch/>
        </p:blipFill>
        <p:spPr>
          <a:xfrm>
            <a:off x="5654966" y="4781550"/>
            <a:ext cx="992525" cy="1371600"/>
          </a:xfrm>
          <a:prstGeom prst="rect">
            <a:avLst/>
          </a:prstGeom>
          <a:noFill/>
          <a:ln>
            <a:noFill/>
          </a:ln>
        </p:spPr>
      </p:pic>
      <p:pic>
        <p:nvPicPr>
          <p:cNvPr id="1033" name="Google Shape;961;p82">
            <a:extLst>
              <a:ext uri="{FF2B5EF4-FFF2-40B4-BE49-F238E27FC236}">
                <a16:creationId xmlns:a16="http://schemas.microsoft.com/office/drawing/2014/main" id="{B1174FED-6B73-2E96-5E51-0F9AE42E2347}"/>
              </a:ext>
            </a:extLst>
          </p:cNvPr>
          <p:cNvPicPr preferRelativeResize="0"/>
          <p:nvPr/>
        </p:nvPicPr>
        <p:blipFill>
          <a:blip r:embed="rId9">
            <a:alphaModFix/>
          </a:blip>
          <a:stretch>
            <a:fillRect/>
          </a:stretch>
        </p:blipFill>
        <p:spPr>
          <a:xfrm rot="10800000">
            <a:off x="4349280" y="4775227"/>
            <a:ext cx="1051560" cy="1371601"/>
          </a:xfrm>
          <a:prstGeom prst="rect">
            <a:avLst/>
          </a:prstGeom>
          <a:noFill/>
          <a:ln>
            <a:noFill/>
          </a:ln>
        </p:spPr>
      </p:pic>
      <p:sp>
        <p:nvSpPr>
          <p:cNvPr id="1034" name="Google Shape;962;p82">
            <a:extLst>
              <a:ext uri="{FF2B5EF4-FFF2-40B4-BE49-F238E27FC236}">
                <a16:creationId xmlns:a16="http://schemas.microsoft.com/office/drawing/2014/main" id="{73FC566F-78DE-6B45-290F-521A26AAA090}"/>
              </a:ext>
            </a:extLst>
          </p:cNvPr>
          <p:cNvSpPr txBox="1"/>
          <p:nvPr/>
        </p:nvSpPr>
        <p:spPr>
          <a:xfrm>
            <a:off x="4134873" y="4183181"/>
            <a:ext cx="1520100" cy="6156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a:solidFill>
                  <a:schemeClr val="tx1"/>
                </a:solidFill>
              </a:rPr>
              <a:t>MPRAGE</a:t>
            </a:r>
            <a:endParaRPr b="1">
              <a:solidFill>
                <a:schemeClr val="tx1"/>
              </a:solidFill>
            </a:endParaRPr>
          </a:p>
          <a:p>
            <a:pPr marL="0" lvl="0" indent="0" algn="ctr" rtl="0">
              <a:spcBef>
                <a:spcPts val="0"/>
              </a:spcBef>
              <a:spcAft>
                <a:spcPts val="0"/>
              </a:spcAft>
              <a:buNone/>
            </a:pPr>
            <a:r>
              <a:rPr lang="en" b="1">
                <a:solidFill>
                  <a:schemeClr val="tx1"/>
                </a:solidFill>
              </a:rPr>
              <a:t>1 mm</a:t>
            </a:r>
            <a:endParaRPr b="1">
              <a:solidFill>
                <a:schemeClr val="tx1"/>
              </a:solidFill>
            </a:endParaRPr>
          </a:p>
        </p:txBody>
      </p:sp>
      <p:sp>
        <p:nvSpPr>
          <p:cNvPr id="1035" name="Google Shape;963;p82">
            <a:extLst>
              <a:ext uri="{FF2B5EF4-FFF2-40B4-BE49-F238E27FC236}">
                <a16:creationId xmlns:a16="http://schemas.microsoft.com/office/drawing/2014/main" id="{112F2D8D-CE2D-75E9-F1DF-D09798DA0ED5}"/>
              </a:ext>
            </a:extLst>
          </p:cNvPr>
          <p:cNvSpPr txBox="1"/>
          <p:nvPr/>
        </p:nvSpPr>
        <p:spPr>
          <a:xfrm>
            <a:off x="5354073" y="4190435"/>
            <a:ext cx="1520100" cy="6156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a:solidFill>
                  <a:schemeClr val="tx1"/>
                </a:solidFill>
              </a:rPr>
              <a:t>MPRAGE</a:t>
            </a:r>
            <a:endParaRPr b="1">
              <a:solidFill>
                <a:schemeClr val="tx1"/>
              </a:solidFill>
            </a:endParaRPr>
          </a:p>
          <a:p>
            <a:pPr marL="0" lvl="0" indent="0" algn="ctr" rtl="0">
              <a:spcBef>
                <a:spcPts val="0"/>
              </a:spcBef>
              <a:spcAft>
                <a:spcPts val="0"/>
              </a:spcAft>
              <a:buNone/>
            </a:pPr>
            <a:r>
              <a:rPr lang="en" b="1">
                <a:solidFill>
                  <a:schemeClr val="tx1"/>
                </a:solidFill>
              </a:rPr>
              <a:t>5 mm</a:t>
            </a:r>
            <a:endParaRPr b="1">
              <a:solidFill>
                <a:schemeClr val="tx1"/>
              </a:solidFill>
            </a:endParaRPr>
          </a:p>
        </p:txBody>
      </p:sp>
      <p:sp>
        <p:nvSpPr>
          <p:cNvPr id="2" name="Rectangle: Rounded Corners 1">
            <a:extLst>
              <a:ext uri="{FF2B5EF4-FFF2-40B4-BE49-F238E27FC236}">
                <a16:creationId xmlns:a16="http://schemas.microsoft.com/office/drawing/2014/main" id="{5217CD8C-AEA1-6637-409E-2F31A288ABC4}"/>
              </a:ext>
            </a:extLst>
          </p:cNvPr>
          <p:cNvSpPr/>
          <p:nvPr/>
        </p:nvSpPr>
        <p:spPr>
          <a:xfrm>
            <a:off x="5726802" y="933207"/>
            <a:ext cx="3217985" cy="300596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806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4F086-7073-7EDF-C27C-C00EDEB9B514}"/>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D673901A-0F98-3250-E21C-36464982B1AA}"/>
              </a:ext>
            </a:extLst>
          </p:cNvPr>
          <p:cNvSpPr/>
          <p:nvPr/>
        </p:nvSpPr>
        <p:spPr>
          <a:xfrm>
            <a:off x="3792627" y="2909963"/>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A1D6120C-297B-A19C-7BA0-210F2E19997B}"/>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 Starting PIFON point</a:t>
            </a:r>
            <a:endParaRPr lang="en-US" altLang="zh-CN" sz="2000" kern="0" dirty="0">
              <a:solidFill>
                <a:schemeClr val="bg1"/>
              </a:solidFill>
              <a:latin typeface="+mj-lt"/>
              <a:cs typeface="Arial" panose="020B0604020202020204" pitchFamily="34" charset="0"/>
              <a:sym typeface="Arial"/>
            </a:endParaRPr>
          </a:p>
        </p:txBody>
      </p:sp>
      <p:sp>
        <p:nvSpPr>
          <p:cNvPr id="4" name="TextBox 3">
            <a:extLst>
              <a:ext uri="{FF2B5EF4-FFF2-40B4-BE49-F238E27FC236}">
                <a16:creationId xmlns:a16="http://schemas.microsoft.com/office/drawing/2014/main" id="{317D5FDA-1F42-1FDE-0973-D491A492B1A4}"/>
              </a:ext>
            </a:extLst>
          </p:cNvPr>
          <p:cNvSpPr txBox="1"/>
          <p:nvPr/>
        </p:nvSpPr>
        <p:spPr>
          <a:xfrm>
            <a:off x="304838" y="648330"/>
            <a:ext cx="5090431" cy="3200876"/>
          </a:xfrm>
          <a:prstGeom prst="rect">
            <a:avLst/>
          </a:prstGeom>
          <a:noFill/>
        </p:spPr>
        <p:txBody>
          <a:bodyPr wrap="square">
            <a:spAutoFit/>
          </a:bodyPr>
          <a:lstStyle/>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PIFON – 2023</a:t>
            </a:r>
          </a:p>
          <a:p>
            <a:pPr>
              <a:lnSpc>
                <a:spcPct val="90000"/>
              </a:lnSpc>
              <a:spcAft>
                <a:spcPts val="600"/>
              </a:spcAft>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EPT Using Physics-Informed Fourier Networks</a:t>
            </a:r>
          </a:p>
          <a:p>
            <a:pPr marL="285750" indent="-285750">
              <a:lnSpc>
                <a:spcPct val="90000"/>
              </a:lnSpc>
              <a:spcAft>
                <a:spcPts val="600"/>
              </a:spcAft>
              <a:buFont typeface="Wingdings" panose="05000000000000000000" pitchFamily="2" charset="2"/>
              <a:buChar char="v"/>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Developed PINN framework for EPT</a:t>
            </a:r>
          </a:p>
          <a:p>
            <a:pPr marL="285750" indent="-285750">
              <a:lnSpc>
                <a:spcPct val="90000"/>
              </a:lnSpc>
              <a:spcAft>
                <a:spcPts val="600"/>
              </a:spcAft>
              <a:buFont typeface="Wingdings" panose="05000000000000000000" pitchFamily="2" charset="2"/>
              <a:buChar char="v"/>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Reconstruction results of &lt;10% with Noisy Data</a:t>
            </a:r>
          </a:p>
          <a:p>
            <a:pPr marL="285750" indent="-285750">
              <a:lnSpc>
                <a:spcPct val="90000"/>
              </a:lnSpc>
              <a:spcAft>
                <a:spcPts val="600"/>
              </a:spcAft>
              <a:buFont typeface="Wingdings" panose="05000000000000000000" pitchFamily="2" charset="2"/>
              <a:buChar char="v"/>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Struggles with contrast</a:t>
            </a:r>
          </a:p>
          <a:p>
            <a:pPr marL="285750" indent="-285750">
              <a:lnSpc>
                <a:spcPct val="90000"/>
              </a:lnSpc>
              <a:spcAft>
                <a:spcPts val="600"/>
              </a:spcAft>
              <a:buFont typeface="Wingdings" panose="05000000000000000000" pitchFamily="2" charset="2"/>
              <a:buChar char="v"/>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Working with our collaborators from New York University, Department of Radiology</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a:t>
            </a: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 2024 -</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a:t>
            </a: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Now</a:t>
            </a:r>
          </a:p>
          <a:p>
            <a:pPr marL="285750" indent="-285750">
              <a:lnSpc>
                <a:spcPct val="90000"/>
              </a:lnSpc>
              <a:spcAft>
                <a:spcPts val="600"/>
              </a:spcAft>
              <a:buFont typeface="Wingdings" panose="05000000000000000000" pitchFamily="2" charset="2"/>
              <a:buChar char="v"/>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Developing High-Precision Reconstruction </a:t>
            </a:r>
          </a:p>
          <a:p>
            <a:pPr marL="285750" indent="-285750">
              <a:lnSpc>
                <a:spcPct val="90000"/>
              </a:lnSpc>
              <a:spcAft>
                <a:spcPts val="600"/>
              </a:spcAft>
              <a:buFont typeface="Wingdings" panose="05000000000000000000" pitchFamily="2" charset="2"/>
              <a:buChar char="v"/>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2">
            <a:extLst>
              <a:ext uri="{FF2B5EF4-FFF2-40B4-BE49-F238E27FC236}">
                <a16:creationId xmlns:a16="http://schemas.microsoft.com/office/drawing/2014/main" id="{1E306ED6-0ABC-D1DE-4F9F-569782D51E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888"/>
          <a:stretch/>
        </p:blipFill>
        <p:spPr bwMode="auto">
          <a:xfrm>
            <a:off x="989093" y="4110678"/>
            <a:ext cx="2512252" cy="24663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9BB395E-0A92-2551-48D8-2ED4FA1C925F}"/>
              </a:ext>
            </a:extLst>
          </p:cNvPr>
          <p:cNvPicPr>
            <a:picLocks noChangeAspect="1"/>
          </p:cNvPicPr>
          <p:nvPr/>
        </p:nvPicPr>
        <p:blipFill>
          <a:blip r:embed="rId4"/>
          <a:stretch>
            <a:fillRect/>
          </a:stretch>
        </p:blipFill>
        <p:spPr>
          <a:xfrm>
            <a:off x="4300151" y="3669918"/>
            <a:ext cx="4720281" cy="3070984"/>
          </a:xfrm>
          <a:prstGeom prst="rect">
            <a:avLst/>
          </a:prstGeom>
        </p:spPr>
      </p:pic>
      <p:sp>
        <p:nvSpPr>
          <p:cNvPr id="9" name="Google Shape;872;p79">
            <a:extLst>
              <a:ext uri="{FF2B5EF4-FFF2-40B4-BE49-F238E27FC236}">
                <a16:creationId xmlns:a16="http://schemas.microsoft.com/office/drawing/2014/main" id="{B6874817-75B4-F675-1011-E3628B215D8C}"/>
              </a:ext>
            </a:extLst>
          </p:cNvPr>
          <p:cNvSpPr txBox="1"/>
          <p:nvPr/>
        </p:nvSpPr>
        <p:spPr>
          <a:xfrm>
            <a:off x="5332410" y="3366900"/>
            <a:ext cx="2850068" cy="40007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dirty="0">
                <a:solidFill>
                  <a:schemeClr val="tx1"/>
                </a:solidFill>
              </a:rPr>
              <a:t>PIFON Framework</a:t>
            </a:r>
            <a:endParaRPr b="1" dirty="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15EAEA-C1AE-3E73-9F7D-5E7189450782}"/>
                  </a:ext>
                </a:extLst>
              </p:cNvPr>
              <p:cNvSpPr txBox="1"/>
              <p:nvPr/>
            </p:nvSpPr>
            <p:spPr>
              <a:xfrm>
                <a:off x="1069789" y="3931389"/>
                <a:ext cx="981075" cy="307777"/>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𝜀</m:t>
                          </m:r>
                        </m:e>
                        <m:sub>
                          <m:r>
                            <a:rPr lang="en-US" sz="1400" b="0" i="1" smtClean="0">
                              <a:latin typeface="Cambria Math" panose="02040503050406030204" pitchFamily="18" charset="0"/>
                            </a:rPr>
                            <m:t>𝑟</m:t>
                          </m:r>
                        </m:sub>
                      </m:sSub>
                    </m:oMath>
                  </m:oMathPara>
                </a14:m>
                <a:endParaRPr lang="en-US" sz="1400" dirty="0"/>
              </a:p>
            </p:txBody>
          </p:sp>
        </mc:Choice>
        <mc:Fallback xmlns="">
          <p:sp>
            <p:nvSpPr>
              <p:cNvPr id="10" name="TextBox 9">
                <a:extLst>
                  <a:ext uri="{FF2B5EF4-FFF2-40B4-BE49-F238E27FC236}">
                    <a16:creationId xmlns:a16="http://schemas.microsoft.com/office/drawing/2014/main" id="{F115EAEA-C1AE-3E73-9F7D-5E7189450782}"/>
                  </a:ext>
                </a:extLst>
              </p:cNvPr>
              <p:cNvSpPr txBox="1">
                <a:spLocks noRot="1" noChangeAspect="1" noMove="1" noResize="1" noEditPoints="1" noAdjustHandles="1" noChangeArrowheads="1" noChangeShapeType="1" noTextEdit="1"/>
              </p:cNvSpPr>
              <p:nvPr/>
            </p:nvSpPr>
            <p:spPr>
              <a:xfrm>
                <a:off x="1069789" y="3931389"/>
                <a:ext cx="981075" cy="307777"/>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9E17F38-8393-754A-529E-A9D300D37660}"/>
                  </a:ext>
                </a:extLst>
              </p:cNvPr>
              <p:cNvSpPr txBox="1"/>
              <p:nvPr/>
            </p:nvSpPr>
            <p:spPr>
              <a:xfrm>
                <a:off x="2317900" y="3908217"/>
                <a:ext cx="866281" cy="334066"/>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𝜀</m:t>
                              </m:r>
                            </m:e>
                            <m:sub>
                              <m:r>
                                <a:rPr lang="en-US" sz="1400" i="1">
                                  <a:latin typeface="Cambria Math" panose="02040503050406030204" pitchFamily="18" charset="0"/>
                                </a:rPr>
                                <m:t>𝑟</m:t>
                              </m:r>
                            </m:sub>
                          </m:sSub>
                        </m:e>
                      </m:acc>
                    </m:oMath>
                  </m:oMathPara>
                </a14:m>
                <a:endParaRPr lang="en-US" sz="1400" dirty="0"/>
              </a:p>
            </p:txBody>
          </p:sp>
        </mc:Choice>
        <mc:Fallback xmlns="">
          <p:sp>
            <p:nvSpPr>
              <p:cNvPr id="11" name="TextBox 10">
                <a:extLst>
                  <a:ext uri="{FF2B5EF4-FFF2-40B4-BE49-F238E27FC236}">
                    <a16:creationId xmlns:a16="http://schemas.microsoft.com/office/drawing/2014/main" id="{D9E17F38-8393-754A-529E-A9D300D37660}"/>
                  </a:ext>
                </a:extLst>
              </p:cNvPr>
              <p:cNvSpPr txBox="1">
                <a:spLocks noRot="1" noChangeAspect="1" noMove="1" noResize="1" noEditPoints="1" noAdjustHandles="1" noChangeArrowheads="1" noChangeShapeType="1" noTextEdit="1"/>
              </p:cNvSpPr>
              <p:nvPr/>
            </p:nvSpPr>
            <p:spPr>
              <a:xfrm>
                <a:off x="2317900" y="3908217"/>
                <a:ext cx="866281" cy="334066"/>
              </a:xfrm>
              <a:prstGeom prst="rect">
                <a:avLst/>
              </a:prstGeom>
              <a:blipFill>
                <a:blip r:embed="rId6"/>
                <a:stretch>
                  <a:fillRect r="-4861" b="-1578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20B315-E570-BCD1-7472-D351AB283899}"/>
                  </a:ext>
                </a:extLst>
              </p:cNvPr>
              <p:cNvSpPr txBox="1"/>
              <p:nvPr/>
            </p:nvSpPr>
            <p:spPr>
              <a:xfrm>
                <a:off x="2439964" y="5210423"/>
                <a:ext cx="660251" cy="334066"/>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𝜎</m:t>
                          </m:r>
                        </m:e>
                      </m:acc>
                    </m:oMath>
                  </m:oMathPara>
                </a14:m>
                <a:endParaRPr lang="en-US" sz="1400" dirty="0"/>
              </a:p>
            </p:txBody>
          </p:sp>
        </mc:Choice>
        <mc:Fallback xmlns="">
          <p:sp>
            <p:nvSpPr>
              <p:cNvPr id="14" name="TextBox 13">
                <a:extLst>
                  <a:ext uri="{FF2B5EF4-FFF2-40B4-BE49-F238E27FC236}">
                    <a16:creationId xmlns:a16="http://schemas.microsoft.com/office/drawing/2014/main" id="{F820B315-E570-BCD1-7472-D351AB283899}"/>
                  </a:ext>
                </a:extLst>
              </p:cNvPr>
              <p:cNvSpPr txBox="1">
                <a:spLocks noRot="1" noChangeAspect="1" noMove="1" noResize="1" noEditPoints="1" noAdjustHandles="1" noChangeArrowheads="1" noChangeShapeType="1" noTextEdit="1"/>
              </p:cNvSpPr>
              <p:nvPr/>
            </p:nvSpPr>
            <p:spPr>
              <a:xfrm>
                <a:off x="2439964" y="5210423"/>
                <a:ext cx="660251" cy="334066"/>
              </a:xfrm>
              <a:prstGeom prst="rect">
                <a:avLst/>
              </a:prstGeom>
              <a:blipFill>
                <a:blip r:embed="rId7"/>
                <a:stretch>
                  <a:fillRect r="-5405" b="-1403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391BE54-3513-78AF-460A-40AB76738891}"/>
                  </a:ext>
                </a:extLst>
              </p:cNvPr>
              <p:cNvSpPr txBox="1"/>
              <p:nvPr/>
            </p:nvSpPr>
            <p:spPr>
              <a:xfrm>
                <a:off x="1301961" y="5195015"/>
                <a:ext cx="516729" cy="334066"/>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r>
                        <a:rPr lang="en-US" sz="1400" b="0" i="1" smtClean="0">
                          <a:latin typeface="Cambria Math" panose="02040503050406030204" pitchFamily="18" charset="0"/>
                        </a:rPr>
                        <m:t>𝜎</m:t>
                      </m:r>
                    </m:oMath>
                  </m:oMathPara>
                </a14:m>
                <a:endParaRPr lang="en-US" sz="1400" dirty="0"/>
              </a:p>
            </p:txBody>
          </p:sp>
        </mc:Choice>
        <mc:Fallback xmlns="">
          <p:sp>
            <p:nvSpPr>
              <p:cNvPr id="16" name="TextBox 15">
                <a:extLst>
                  <a:ext uri="{FF2B5EF4-FFF2-40B4-BE49-F238E27FC236}">
                    <a16:creationId xmlns:a16="http://schemas.microsoft.com/office/drawing/2014/main" id="{2391BE54-3513-78AF-460A-40AB76738891}"/>
                  </a:ext>
                </a:extLst>
              </p:cNvPr>
              <p:cNvSpPr txBox="1">
                <a:spLocks noRot="1" noChangeAspect="1" noMove="1" noResize="1" noEditPoints="1" noAdjustHandles="1" noChangeArrowheads="1" noChangeShapeType="1" noTextEdit="1"/>
              </p:cNvSpPr>
              <p:nvPr/>
            </p:nvSpPr>
            <p:spPr>
              <a:xfrm>
                <a:off x="1301961" y="5195015"/>
                <a:ext cx="516729" cy="334066"/>
              </a:xfrm>
              <a:prstGeom prst="rect">
                <a:avLst/>
              </a:prstGeom>
              <a:blipFill>
                <a:blip r:embed="rId8"/>
                <a:stretch>
                  <a:fillRect b="-15789"/>
                </a:stretch>
              </a:blipFill>
              <a:ln>
                <a:solidFill>
                  <a:schemeClr val="bg1"/>
                </a:solidFill>
              </a:ln>
            </p:spPr>
            <p:txBody>
              <a:bodyPr/>
              <a:lstStyle/>
              <a:p>
                <a:r>
                  <a:rPr lang="en-US">
                    <a:noFill/>
                  </a:rPr>
                  <a:t> </a:t>
                </a:r>
              </a:p>
            </p:txBody>
          </p:sp>
        </mc:Fallback>
      </mc:AlternateContent>
      <p:sp>
        <p:nvSpPr>
          <p:cNvPr id="18" name="Google Shape;872;p79">
            <a:extLst>
              <a:ext uri="{FF2B5EF4-FFF2-40B4-BE49-F238E27FC236}">
                <a16:creationId xmlns:a16="http://schemas.microsoft.com/office/drawing/2014/main" id="{315BFE9A-4FDD-33E1-E6C8-1F1DE7C8F723}"/>
              </a:ext>
            </a:extLst>
          </p:cNvPr>
          <p:cNvSpPr txBox="1"/>
          <p:nvPr/>
        </p:nvSpPr>
        <p:spPr>
          <a:xfrm>
            <a:off x="820185" y="6484930"/>
            <a:ext cx="2850068" cy="40007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dirty="0">
                <a:solidFill>
                  <a:schemeClr val="tx1"/>
                </a:solidFill>
              </a:rPr>
              <a:t>PIFON Results</a:t>
            </a:r>
            <a:endParaRPr b="1" dirty="0">
              <a:solidFill>
                <a:schemeClr val="tx1"/>
              </a:solidFill>
            </a:endParaRPr>
          </a:p>
        </p:txBody>
      </p:sp>
    </p:spTree>
    <p:extLst>
      <p:ext uri="{BB962C8B-B14F-4D97-AF65-F5344CB8AC3E}">
        <p14:creationId xmlns:p14="http://schemas.microsoft.com/office/powerpoint/2010/main" val="95075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7867C-3B5D-EE43-1A78-716875A614F6}"/>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3C36BDD1-BE08-E205-DE8D-53210C7F9AFD}"/>
              </a:ext>
            </a:extLst>
          </p:cNvPr>
          <p:cNvSpPr/>
          <p:nvPr/>
        </p:nvSpPr>
        <p:spPr>
          <a:xfrm>
            <a:off x="3792627" y="2909963"/>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142A3106-A5B3-6BFA-2322-968BB89C0E74}"/>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 Developed B Network During this Project</a:t>
            </a:r>
            <a:endParaRPr lang="en-US" altLang="zh-CN" sz="2000" kern="0" dirty="0">
              <a:solidFill>
                <a:schemeClr val="bg1"/>
              </a:solidFill>
              <a:latin typeface="+mj-lt"/>
              <a:cs typeface="Arial" panose="020B0604020202020204" pitchFamily="34" charset="0"/>
              <a:sym typeface="Arial"/>
            </a:endParaRPr>
          </a:p>
        </p:txBody>
      </p:sp>
      <p:pic>
        <p:nvPicPr>
          <p:cNvPr id="11270" name="Picture 6">
            <a:extLst>
              <a:ext uri="{FF2B5EF4-FFF2-40B4-BE49-F238E27FC236}">
                <a16:creationId xmlns:a16="http://schemas.microsoft.com/office/drawing/2014/main" id="{2C6BDD6C-EDA8-8FCE-0CF1-D2B9F2156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129"/>
          <a:stretch/>
        </p:blipFill>
        <p:spPr bwMode="auto">
          <a:xfrm>
            <a:off x="2465894" y="2228535"/>
            <a:ext cx="6678106" cy="46224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BFB59DD-0E3F-5B38-BCD2-CB4A2BB5284F}"/>
              </a:ext>
            </a:extLst>
          </p:cNvPr>
          <p:cNvSpPr txBox="1"/>
          <p:nvPr/>
        </p:nvSpPr>
        <p:spPr>
          <a:xfrm>
            <a:off x="84344" y="459931"/>
            <a:ext cx="3462883" cy="3200876"/>
          </a:xfrm>
          <a:prstGeom prst="rect">
            <a:avLst/>
          </a:prstGeom>
          <a:noFill/>
        </p:spPr>
        <p:txBody>
          <a:bodyPr wrap="square">
            <a:spAutoFit/>
          </a:bodyPr>
          <a:lstStyle/>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Developed Sections</a:t>
            </a:r>
          </a:p>
          <a:p>
            <a:pPr marL="285750"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Eigenfunction Decomposition</a:t>
            </a: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Specific Frequency Tuning</a:t>
            </a: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Expansion of Random Fourier Features</a:t>
            </a:r>
          </a:p>
          <a:p>
            <a:pPr>
              <a:lnSpc>
                <a:spcPct val="90000"/>
              </a:lnSpc>
              <a:spcAft>
                <a:spcPts val="600"/>
              </a:spcAft>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Additional Utilized techniques</a:t>
            </a:r>
            <a:endParaRPr lang="en-US" sz="1800" b="1"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l-GR" sz="1800" b="0" i="0" u="none" strike="noStrike" dirty="0">
                <a:solidFill>
                  <a:srgbClr val="000000"/>
                </a:solidFill>
                <a:effectLst/>
                <a:latin typeface="Times New Roman" panose="02020603050405020304" pitchFamily="18" charset="0"/>
              </a:rPr>
              <a:t>β-</a:t>
            </a:r>
            <a:r>
              <a:rPr lang="en-US" sz="1800" b="0" i="0" u="none" strike="noStrike" dirty="0">
                <a:solidFill>
                  <a:srgbClr val="000000"/>
                </a:solidFill>
                <a:effectLst/>
                <a:latin typeface="Times New Roman" panose="02020603050405020304" pitchFamily="18" charset="0"/>
              </a:rPr>
              <a:t>Swish</a:t>
            </a:r>
          </a:p>
          <a:p>
            <a:pPr marL="285750" indent="-285750">
              <a:lnSpc>
                <a:spcPct val="90000"/>
              </a:lnSpc>
              <a:spcAft>
                <a:spcPts val="600"/>
              </a:spcAft>
              <a:buFont typeface="Arial" panose="020B0604020202020204" pitchFamily="34" charset="0"/>
              <a:buChar char="•"/>
            </a:pPr>
            <a:endPar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CF8FAD3-BBBF-DA0E-5896-E215DE36963C}"/>
                  </a:ext>
                </a:extLst>
              </p:cNvPr>
              <p:cNvSpPr txBox="1"/>
              <p:nvPr/>
            </p:nvSpPr>
            <p:spPr>
              <a:xfrm>
                <a:off x="4918841" y="1230166"/>
                <a:ext cx="4225159" cy="646331"/>
              </a:xfrm>
              <a:prstGeom prst="rect">
                <a:avLst/>
              </a:prstGeom>
              <a:noFill/>
            </p:spPr>
            <p:txBody>
              <a:bodyPr wrap="square">
                <a:spAutoFit/>
              </a:bodyPr>
              <a:lstStyle/>
              <a:p>
                <a:pPr algn="just">
                  <a:lnSpc>
                    <a:spcPct val="90000"/>
                  </a:lnSpc>
                  <a:spcAft>
                    <a:spcPts val="600"/>
                  </a:spcAft>
                </a:pPr>
                <a:r>
                  <a:rPr lang="en-US" sz="2000" b="1" dirty="0">
                    <a:solidFill>
                      <a:schemeClr val="dk2"/>
                    </a:solidFill>
                    <a:latin typeface="Calibri" panose="020F0502020204030204" pitchFamily="34" charset="0"/>
                    <a:ea typeface="Calibri" panose="020F0502020204030204" pitchFamily="34" charset="0"/>
                    <a:cs typeface="Calibri" panose="020F0502020204030204" pitchFamily="34" charset="0"/>
                  </a:rPr>
                  <a:t>Our developed architecture (Python-TensorFlow code) for </a:t>
                </a:r>
                <a14:m>
                  <m:oMath xmlns:m="http://schemas.openxmlformats.org/officeDocument/2006/math">
                    <m:sSubSup>
                      <m:sSubSupPr>
                        <m:ctrlPr>
                          <a:rPr lang="en-US" sz="2000" b="1" i="1" smtClean="0">
                            <a:solidFill>
                              <a:schemeClr val="dk2"/>
                            </a:solidFill>
                            <a:latin typeface="Cambria Math" panose="02040503050406030204" pitchFamily="18" charset="0"/>
                            <a:ea typeface="Calibri" panose="020F0502020204030204" pitchFamily="34" charset="0"/>
                            <a:cs typeface="Calibri" panose="020F0502020204030204" pitchFamily="34" charset="0"/>
                          </a:rPr>
                        </m:ctrlPr>
                      </m:sSubSupPr>
                      <m:e>
                        <m:r>
                          <m:rPr>
                            <m:sty m:val="p"/>
                          </m:rPr>
                          <a:rPr lang="en-US" sz="2000" b="1" i="1" smtClean="0">
                            <a:solidFill>
                              <a:schemeClr val="dk2"/>
                            </a:solidFill>
                            <a:latin typeface="Cambria Math" panose="02040503050406030204" pitchFamily="18" charset="0"/>
                            <a:ea typeface="Calibri" panose="020F0502020204030204" pitchFamily="34" charset="0"/>
                            <a:cs typeface="Calibri" panose="020F0502020204030204" pitchFamily="34" charset="0"/>
                          </a:rPr>
                          <m:t>B</m:t>
                        </m:r>
                      </m:e>
                      <m:sub>
                        <m:r>
                          <a:rPr lang="en-US" sz="2000"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t>1</m:t>
                        </m:r>
                      </m:sub>
                      <m:sup>
                        <m:r>
                          <a:rPr lang="en-US" sz="2000"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t>+</m:t>
                        </m:r>
                      </m:sup>
                    </m:sSubSup>
                    <m:r>
                      <a:rPr lang="en-US" sz="2000" b="1" i="0" smtClean="0">
                        <a:solidFill>
                          <a:schemeClr val="dk2"/>
                        </a:solidFill>
                        <a:latin typeface="Cambria Math" panose="02040503050406030204" pitchFamily="18" charset="0"/>
                        <a:ea typeface="Calibri" panose="020F0502020204030204" pitchFamily="34" charset="0"/>
                        <a:cs typeface="Calibri" panose="020F0502020204030204" pitchFamily="34" charset="0"/>
                      </a:rPr>
                      <m:t> </m:t>
                    </m:r>
                  </m:oMath>
                </a14:m>
                <a:r>
                  <a:rPr lang="en-US" sz="2000" b="1" dirty="0">
                    <a:solidFill>
                      <a:schemeClr val="dk2"/>
                    </a:solidFill>
                    <a:latin typeface="Calibri" panose="020F0502020204030204" pitchFamily="34" charset="0"/>
                    <a:ea typeface="Calibri" panose="020F0502020204030204" pitchFamily="34" charset="0"/>
                    <a:cs typeface="Calibri" panose="020F0502020204030204" pitchFamily="34" charset="0"/>
                  </a:rPr>
                  <a:t>Network</a:t>
                </a:r>
                <a:endParaRPr lang="en-US" sz="20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TextBox 4">
                <a:extLst>
                  <a:ext uri="{FF2B5EF4-FFF2-40B4-BE49-F238E27FC236}">
                    <a16:creationId xmlns:a16="http://schemas.microsoft.com/office/drawing/2014/main" id="{1CF8FAD3-BBBF-DA0E-5896-E215DE36963C}"/>
                  </a:ext>
                </a:extLst>
              </p:cNvPr>
              <p:cNvSpPr txBox="1">
                <a:spLocks noRot="1" noChangeAspect="1" noMove="1" noResize="1" noEditPoints="1" noAdjustHandles="1" noChangeArrowheads="1" noChangeShapeType="1" noTextEdit="1"/>
              </p:cNvSpPr>
              <p:nvPr/>
            </p:nvSpPr>
            <p:spPr>
              <a:xfrm>
                <a:off x="4918841" y="1230166"/>
                <a:ext cx="4225159" cy="646331"/>
              </a:xfrm>
              <a:prstGeom prst="rect">
                <a:avLst/>
              </a:prstGeom>
              <a:blipFill>
                <a:blip r:embed="rId4"/>
                <a:stretch>
                  <a:fillRect l="-1587" t="-10377" r="-1443" b="-160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Google Shape;872;p79">
                <a:extLst>
                  <a:ext uri="{FF2B5EF4-FFF2-40B4-BE49-F238E27FC236}">
                    <a16:creationId xmlns:a16="http://schemas.microsoft.com/office/drawing/2014/main" id="{201C24B4-04E7-D991-F0A8-790218727F4F}"/>
                  </a:ext>
                </a:extLst>
              </p:cNvPr>
              <p:cNvSpPr txBox="1"/>
              <p:nvPr/>
            </p:nvSpPr>
            <p:spPr>
              <a:xfrm>
                <a:off x="544464" y="3197192"/>
                <a:ext cx="963819" cy="34719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B</m:t>
                          </m:r>
                        </m:e>
                        <m:sub>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m:t>
                          </m:r>
                        </m:sup>
                      </m:sSubSup>
                      <m:r>
                        <a:rPr lang="en-US" b="0" i="1" smtClean="0">
                          <a:solidFill>
                            <a:schemeClr val="tx1"/>
                          </a:solidFill>
                          <a:latin typeface="Cambria Math" panose="02040503050406030204" pitchFamily="18" charset="0"/>
                        </a:rPr>
                        <m:t>|</m:t>
                      </m:r>
                    </m:oMath>
                  </m:oMathPara>
                </a14:m>
                <a:endParaRPr dirty="0">
                  <a:solidFill>
                    <a:schemeClr val="tx1"/>
                  </a:solidFill>
                </a:endParaRPr>
              </a:p>
            </p:txBody>
          </p:sp>
        </mc:Choice>
        <mc:Fallback xmlns="">
          <p:sp>
            <p:nvSpPr>
              <p:cNvPr id="12" name="Google Shape;872;p79">
                <a:extLst>
                  <a:ext uri="{FF2B5EF4-FFF2-40B4-BE49-F238E27FC236}">
                    <a16:creationId xmlns:a16="http://schemas.microsoft.com/office/drawing/2014/main" id="{201C24B4-04E7-D991-F0A8-790218727F4F}"/>
                  </a:ext>
                </a:extLst>
              </p:cNvPr>
              <p:cNvSpPr txBox="1">
                <a:spLocks noRot="1" noChangeAspect="1" noMove="1" noResize="1" noEditPoints="1" noAdjustHandles="1" noChangeArrowheads="1" noChangeShapeType="1" noTextEdit="1"/>
              </p:cNvSpPr>
              <p:nvPr/>
            </p:nvSpPr>
            <p:spPr>
              <a:xfrm>
                <a:off x="544464" y="3197192"/>
                <a:ext cx="963819" cy="347191"/>
              </a:xfrm>
              <a:prstGeom prst="rect">
                <a:avLst/>
              </a:prstGeom>
              <a:blipFill>
                <a:blip r:embed="rId5"/>
                <a:stretch>
                  <a:fillRect b="-10526"/>
                </a:stretch>
              </a:blipFill>
              <a:ln>
                <a:noFill/>
              </a:ln>
            </p:spPr>
            <p:txBody>
              <a:bodyPr/>
              <a:lstStyle/>
              <a:p>
                <a:r>
                  <a:rPr lang="en-US">
                    <a:noFill/>
                  </a:rPr>
                  <a:t> </a:t>
                </a:r>
              </a:p>
            </p:txBody>
          </p:sp>
        </mc:Fallback>
      </mc:AlternateContent>
      <p:sp>
        <p:nvSpPr>
          <p:cNvPr id="13" name="Google Shape;873;p79">
            <a:extLst>
              <a:ext uri="{FF2B5EF4-FFF2-40B4-BE49-F238E27FC236}">
                <a16:creationId xmlns:a16="http://schemas.microsoft.com/office/drawing/2014/main" id="{A32AFB36-6610-D339-1727-200DEC525312}"/>
              </a:ext>
            </a:extLst>
          </p:cNvPr>
          <p:cNvSpPr txBox="1"/>
          <p:nvPr/>
        </p:nvSpPr>
        <p:spPr>
          <a:xfrm>
            <a:off x="301226" y="4881779"/>
            <a:ext cx="1467040" cy="34719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dirty="0">
                <a:solidFill>
                  <a:schemeClr val="tx1"/>
                </a:solidFill>
              </a:rPr>
              <a:t>Phase</a:t>
            </a:r>
            <a:endParaRPr dirty="0">
              <a:solidFill>
                <a:schemeClr val="tx1"/>
              </a:solidFill>
            </a:endParaRPr>
          </a:p>
        </p:txBody>
      </p:sp>
      <p:pic>
        <p:nvPicPr>
          <p:cNvPr id="15" name="Picture 7">
            <a:extLst>
              <a:ext uri="{FF2B5EF4-FFF2-40B4-BE49-F238E27FC236}">
                <a16:creationId xmlns:a16="http://schemas.microsoft.com/office/drawing/2014/main" id="{90407613-114B-81D2-CC7A-5485609862E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8774" t="2004" r="61173" b="81858"/>
          <a:stretch/>
        </p:blipFill>
        <p:spPr bwMode="auto">
          <a:xfrm>
            <a:off x="481803" y="3572197"/>
            <a:ext cx="1105887" cy="112808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
            <a:extLst>
              <a:ext uri="{FF2B5EF4-FFF2-40B4-BE49-F238E27FC236}">
                <a16:creationId xmlns:a16="http://schemas.microsoft.com/office/drawing/2014/main" id="{FD53EE20-C530-2BA6-C757-61DC5FFFE9B6}"/>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7786" t="1851" r="12161" b="82011"/>
          <a:stretch/>
        </p:blipFill>
        <p:spPr bwMode="auto">
          <a:xfrm>
            <a:off x="481803" y="5214352"/>
            <a:ext cx="1160427" cy="1183717"/>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873;p79">
            <a:extLst>
              <a:ext uri="{FF2B5EF4-FFF2-40B4-BE49-F238E27FC236}">
                <a16:creationId xmlns:a16="http://schemas.microsoft.com/office/drawing/2014/main" id="{71398282-8995-4192-0DA8-88C35C391E45}"/>
              </a:ext>
            </a:extLst>
          </p:cNvPr>
          <p:cNvSpPr txBox="1"/>
          <p:nvPr/>
        </p:nvSpPr>
        <p:spPr>
          <a:xfrm>
            <a:off x="-417186" y="4594053"/>
            <a:ext cx="1467040" cy="534155"/>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dirty="0">
                <a:solidFill>
                  <a:schemeClr val="tx1"/>
                </a:solidFill>
              </a:rPr>
              <a:t>Noisy</a:t>
            </a:r>
          </a:p>
          <a:p>
            <a:pPr marL="0" lvl="0" indent="0" algn="ctr" rtl="0">
              <a:spcBef>
                <a:spcPts val="0"/>
              </a:spcBef>
              <a:spcAft>
                <a:spcPts val="0"/>
              </a:spcAft>
              <a:buNone/>
            </a:pPr>
            <a:r>
              <a:rPr lang="en" dirty="0">
                <a:solidFill>
                  <a:schemeClr val="tx1"/>
                </a:solidFill>
              </a:rPr>
              <a:t>Data</a:t>
            </a:r>
            <a:endParaRPr dirty="0">
              <a:solidFill>
                <a:schemeClr val="tx1"/>
              </a:solidFill>
            </a:endParaRPr>
          </a:p>
        </p:txBody>
      </p:sp>
      <p:sp>
        <p:nvSpPr>
          <p:cNvPr id="20" name="Arrow: Right 19">
            <a:extLst>
              <a:ext uri="{FF2B5EF4-FFF2-40B4-BE49-F238E27FC236}">
                <a16:creationId xmlns:a16="http://schemas.microsoft.com/office/drawing/2014/main" id="{CCA68246-D951-3460-16C2-987B95D0DAC4}"/>
              </a:ext>
            </a:extLst>
          </p:cNvPr>
          <p:cNvSpPr/>
          <p:nvPr/>
        </p:nvSpPr>
        <p:spPr>
          <a:xfrm>
            <a:off x="1678813" y="4613106"/>
            <a:ext cx="835125" cy="41250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31471B7E-80A0-F6D6-DD0C-E5D0A7D5B2F3}"/>
              </a:ext>
            </a:extLst>
          </p:cNvPr>
          <p:cNvCxnSpPr>
            <a:cxnSpLocks/>
          </p:cNvCxnSpPr>
          <p:nvPr/>
        </p:nvCxnSpPr>
        <p:spPr>
          <a:xfrm>
            <a:off x="3364992" y="941832"/>
            <a:ext cx="714639" cy="114194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A1BBC8E9-0C09-4F21-1363-B7002054E13F}"/>
              </a:ext>
            </a:extLst>
          </p:cNvPr>
          <p:cNvSpPr/>
          <p:nvPr/>
        </p:nvSpPr>
        <p:spPr>
          <a:xfrm>
            <a:off x="3211566" y="2083777"/>
            <a:ext cx="2114140" cy="2775123"/>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38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AC99-4AD1-0210-7450-61ACBAF1DBD7}"/>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F93936D1-2476-ED49-B410-64F9D676D714}"/>
              </a:ext>
            </a:extLst>
          </p:cNvPr>
          <p:cNvSpPr/>
          <p:nvPr/>
        </p:nvSpPr>
        <p:spPr>
          <a:xfrm>
            <a:off x="3792627" y="2909963"/>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DCA009D0-334A-7225-804C-4BEFFB1AACA8}"/>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 Developed EP Network During this Project</a:t>
            </a:r>
            <a:endParaRPr lang="en-US" altLang="zh-CN" sz="2000" kern="0" dirty="0">
              <a:solidFill>
                <a:schemeClr val="bg1"/>
              </a:solidFill>
              <a:latin typeface="+mj-lt"/>
              <a:cs typeface="Arial" panose="020B0604020202020204" pitchFamily="34" charset="0"/>
              <a:sym typeface="Arial"/>
            </a:endParaRPr>
          </a:p>
        </p:txBody>
      </p:sp>
      <p:pic>
        <p:nvPicPr>
          <p:cNvPr id="11268" name="Picture 4">
            <a:extLst>
              <a:ext uri="{FF2B5EF4-FFF2-40B4-BE49-F238E27FC236}">
                <a16:creationId xmlns:a16="http://schemas.microsoft.com/office/drawing/2014/main" id="{BDAF3A9B-9868-596B-7B83-F8FBF643F6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282"/>
          <a:stretch/>
        </p:blipFill>
        <p:spPr bwMode="auto">
          <a:xfrm>
            <a:off x="160477" y="2767753"/>
            <a:ext cx="7651531" cy="409024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E780D39-9E75-B663-9DD0-818A6FFC9F2F}"/>
                  </a:ext>
                </a:extLst>
              </p:cNvPr>
              <p:cNvSpPr txBox="1"/>
              <p:nvPr/>
            </p:nvSpPr>
            <p:spPr>
              <a:xfrm>
                <a:off x="25864" y="476431"/>
                <a:ext cx="5522636" cy="3040832"/>
              </a:xfrm>
              <a:prstGeom prst="rect">
                <a:avLst/>
              </a:prstGeom>
              <a:noFill/>
            </p:spPr>
            <p:txBody>
              <a:bodyPr wrap="square">
                <a:spAutoFit/>
              </a:bodyPr>
              <a:lstStyle/>
              <a:p>
                <a:pPr>
                  <a:lnSpc>
                    <a:spcPct val="90000"/>
                  </a:lnSpc>
                  <a:spcAft>
                    <a:spcPts val="600"/>
                  </a:spcAft>
                </a:pPr>
                <a:r>
                  <a:rPr lang="en-US" sz="2400" b="1" dirty="0">
                    <a:solidFill>
                      <a:schemeClr val="dk2"/>
                    </a:solidFill>
                    <a:latin typeface="Calibri" panose="020F0502020204030204" pitchFamily="34" charset="0"/>
                    <a:ea typeface="Calibri" panose="020F0502020204030204" pitchFamily="34" charset="0"/>
                    <a:cs typeface="Calibri" panose="020F0502020204030204" pitchFamily="34" charset="0"/>
                  </a:rPr>
                  <a:t>This work’s developed architecture (Python-TensorFlow code) for </a:t>
                </a:r>
                <a14:m>
                  <m:oMath xmlns:m="http://schemas.openxmlformats.org/officeDocument/2006/math">
                    <m:sSub>
                      <m:sSubPr>
                        <m:ctrlPr>
                          <a:rPr lang="en-US" sz="2400" b="1" i="1" smtClean="0">
                            <a:solidFill>
                              <a:schemeClr val="dk2"/>
                            </a:solidFill>
                            <a:latin typeface="Cambria Math" panose="02040503050406030204" pitchFamily="18" charset="0"/>
                            <a:ea typeface="Calibri" panose="020F0502020204030204" pitchFamily="34" charset="0"/>
                            <a:cs typeface="Calibri" panose="020F0502020204030204" pitchFamily="34" charset="0"/>
                          </a:rPr>
                        </m:ctrlPr>
                      </m:sSubPr>
                      <m:e>
                        <m:r>
                          <a:rPr lang="en-US" sz="2400" b="1" i="1" smtClean="0">
                            <a:solidFill>
                              <a:schemeClr val="dk2"/>
                            </a:solidFill>
                            <a:latin typeface="Cambria Math" panose="02040503050406030204" pitchFamily="18" charset="0"/>
                            <a:ea typeface="Calibri" panose="020F0502020204030204" pitchFamily="34" charset="0"/>
                            <a:cs typeface="Calibri" panose="020F0502020204030204" pitchFamily="34" charset="0"/>
                          </a:rPr>
                          <m:t>𝜺</m:t>
                        </m:r>
                      </m:e>
                      <m:sub>
                        <m:r>
                          <a:rPr lang="en-US" sz="2400" b="1" i="0" smtClean="0">
                            <a:solidFill>
                              <a:schemeClr val="dk2"/>
                            </a:solidFill>
                            <a:latin typeface="Cambria Math" panose="02040503050406030204" pitchFamily="18" charset="0"/>
                            <a:ea typeface="Calibri" panose="020F0502020204030204" pitchFamily="34" charset="0"/>
                            <a:cs typeface="Calibri" panose="020F0502020204030204" pitchFamily="34" charset="0"/>
                          </a:rPr>
                          <m:t>𝐜</m:t>
                        </m:r>
                      </m:sub>
                    </m:sSub>
                    <m:r>
                      <a:rPr lang="en-US" sz="2400" b="1" i="0" smtClean="0">
                        <a:solidFill>
                          <a:schemeClr val="dk2"/>
                        </a:solidFill>
                        <a:latin typeface="Cambria Math" panose="02040503050406030204" pitchFamily="18" charset="0"/>
                        <a:ea typeface="Calibri" panose="020F0502020204030204" pitchFamily="34" charset="0"/>
                        <a:cs typeface="Calibri" panose="020F0502020204030204" pitchFamily="34" charset="0"/>
                      </a:rPr>
                      <m:t> </m:t>
                    </m:r>
                  </m:oMath>
                </a14:m>
                <a:r>
                  <a:rPr lang="en-US" sz="2400" b="1" dirty="0">
                    <a:solidFill>
                      <a:schemeClr val="dk2"/>
                    </a:solidFill>
                    <a:latin typeface="Calibri" panose="020F0502020204030204" pitchFamily="34" charset="0"/>
                    <a:ea typeface="Calibri" panose="020F0502020204030204" pitchFamily="34" charset="0"/>
                    <a:cs typeface="Calibri" panose="020F0502020204030204" pitchFamily="34" charset="0"/>
                  </a:rPr>
                  <a:t>Network</a:t>
                </a:r>
                <a:endParaRPr lang="en-US" b="1" dirty="0"/>
              </a:p>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Developed Sections</a:t>
                </a:r>
              </a:p>
              <a:p>
                <a:pPr marL="285750"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Multiscale Dropout</a:t>
                </a: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High-Precision Network</a:t>
                </a: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Reconstruction error of .1%</a:t>
                </a:r>
              </a:p>
              <a:p>
                <a:pPr marL="285750" indent="-285750">
                  <a:lnSpc>
                    <a:spcPct val="90000"/>
                  </a:lnSpc>
                  <a:spcAft>
                    <a:spcPts val="600"/>
                  </a:spcAft>
                  <a:buFont typeface="Arial" panose="020B0604020202020204" pitchFamily="34" charset="0"/>
                  <a:buChar char="•"/>
                </a:pPr>
                <a:endPar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6E780D39-9E75-B663-9DD0-818A6FFC9F2F}"/>
                  </a:ext>
                </a:extLst>
              </p:cNvPr>
              <p:cNvSpPr txBox="1">
                <a:spLocks noRot="1" noChangeAspect="1" noMove="1" noResize="1" noEditPoints="1" noAdjustHandles="1" noChangeArrowheads="1" noChangeShapeType="1" noTextEdit="1"/>
              </p:cNvSpPr>
              <p:nvPr/>
            </p:nvSpPr>
            <p:spPr>
              <a:xfrm>
                <a:off x="25864" y="476431"/>
                <a:ext cx="5522636" cy="3040832"/>
              </a:xfrm>
              <a:prstGeom prst="rect">
                <a:avLst/>
              </a:prstGeom>
              <a:blipFill>
                <a:blip r:embed="rId4"/>
                <a:stretch>
                  <a:fillRect l="-1656" t="-2806" r="-22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D58FC42A-BBC8-E1F0-A4E1-AD49D1768365}"/>
              </a:ext>
            </a:extLst>
          </p:cNvPr>
          <p:cNvGrpSpPr/>
          <p:nvPr/>
        </p:nvGrpSpPr>
        <p:grpSpPr>
          <a:xfrm>
            <a:off x="6368624" y="438694"/>
            <a:ext cx="2635735" cy="2848695"/>
            <a:chOff x="6285256" y="-63454"/>
            <a:chExt cx="2858744" cy="3089722"/>
          </a:xfrm>
        </p:grpSpPr>
        <p:pic>
          <p:nvPicPr>
            <p:cNvPr id="2" name="Picture 9">
              <a:extLst>
                <a:ext uri="{FF2B5EF4-FFF2-40B4-BE49-F238E27FC236}">
                  <a16:creationId xmlns:a16="http://schemas.microsoft.com/office/drawing/2014/main" id="{BA728F96-61A9-4210-89BE-09A185E4760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055" t="54771" r="11121" b="29447"/>
            <a:stretch/>
          </p:blipFill>
          <p:spPr bwMode="auto">
            <a:xfrm>
              <a:off x="6470126" y="848574"/>
              <a:ext cx="948073" cy="934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Google Shape;872;p79">
                  <a:extLst>
                    <a:ext uri="{FF2B5EF4-FFF2-40B4-BE49-F238E27FC236}">
                      <a16:creationId xmlns:a16="http://schemas.microsoft.com/office/drawing/2014/main" id="{5EB71C7E-E6FA-4CBA-1D29-01915748478F}"/>
                    </a:ext>
                  </a:extLst>
                </p:cNvPr>
                <p:cNvSpPr txBox="1"/>
                <p:nvPr/>
              </p:nvSpPr>
              <p:spPr>
                <a:xfrm>
                  <a:off x="6642665" y="402008"/>
                  <a:ext cx="602993" cy="3984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14:m>
                    <m:oMathPara xmlns:m="http://schemas.openxmlformats.org/officeDocument/2006/math">
                      <m:oMathParaPr>
                        <m:jc m:val="centerGroup"/>
                      </m:oMathParaPr>
                      <m:oMath xmlns:m="http://schemas.openxmlformats.org/officeDocument/2006/math">
                        <m:acc>
                          <m:accPr>
                            <m:chr m:val="̂"/>
                            <m:ctrlPr>
                              <a:rPr lang="en-US" sz="1800" i="1" smtClean="0">
                                <a:solidFill>
                                  <a:schemeClr val="tx1"/>
                                </a:solidFill>
                                <a:latin typeface="Cambria Math" panose="02040503050406030204" pitchFamily="18" charset="0"/>
                              </a:rPr>
                            </m:ctrlPr>
                          </m:acc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𝜀</m:t>
                                </m:r>
                              </m:e>
                              <m:sub>
                                <m:r>
                                  <a:rPr lang="en-US" sz="1800" i="1">
                                    <a:solidFill>
                                      <a:schemeClr val="tx1"/>
                                    </a:solidFill>
                                    <a:latin typeface="Cambria Math" panose="02040503050406030204" pitchFamily="18" charset="0"/>
                                  </a:rPr>
                                  <m:t>𝑟</m:t>
                                </m:r>
                              </m:sub>
                            </m:sSub>
                          </m:e>
                        </m:acc>
                      </m:oMath>
                    </m:oMathPara>
                  </a14:m>
                  <a:endParaRPr sz="1800" dirty="0">
                    <a:solidFill>
                      <a:schemeClr val="tx1"/>
                    </a:solidFill>
                  </a:endParaRPr>
                </a:p>
              </p:txBody>
            </p:sp>
          </mc:Choice>
          <mc:Fallback xmlns="">
            <p:sp>
              <p:nvSpPr>
                <p:cNvPr id="3" name="Google Shape;872;p79">
                  <a:extLst>
                    <a:ext uri="{FF2B5EF4-FFF2-40B4-BE49-F238E27FC236}">
                      <a16:creationId xmlns:a16="http://schemas.microsoft.com/office/drawing/2014/main" id="{5EB71C7E-E6FA-4CBA-1D29-01915748478F}"/>
                    </a:ext>
                  </a:extLst>
                </p:cNvPr>
                <p:cNvSpPr txBox="1">
                  <a:spLocks noRot="1" noChangeAspect="1" noMove="1" noResize="1" noEditPoints="1" noAdjustHandles="1" noChangeArrowheads="1" noChangeShapeType="1" noTextEdit="1"/>
                </p:cNvSpPr>
                <p:nvPr/>
              </p:nvSpPr>
              <p:spPr>
                <a:xfrm>
                  <a:off x="6642665" y="402008"/>
                  <a:ext cx="602993" cy="398401"/>
                </a:xfrm>
                <a:prstGeom prst="rect">
                  <a:avLst/>
                </a:prstGeom>
                <a:blipFill>
                  <a:blip r:embed="rId6"/>
                  <a:stretch>
                    <a:fillRect r="-15385" b="-9836"/>
                  </a:stretch>
                </a:blipFill>
                <a:ln>
                  <a:noFill/>
                </a:ln>
              </p:spPr>
              <p:txBody>
                <a:bodyPr/>
                <a:lstStyle/>
                <a:p>
                  <a:r>
                    <a:rPr lang="en-US">
                      <a:noFill/>
                    </a:rPr>
                    <a:t> </a:t>
                  </a:r>
                </a:p>
              </p:txBody>
            </p:sp>
          </mc:Fallback>
        </mc:AlternateContent>
        <p:pic>
          <p:nvPicPr>
            <p:cNvPr id="8" name="Picture 9">
              <a:extLst>
                <a:ext uri="{FF2B5EF4-FFF2-40B4-BE49-F238E27FC236}">
                  <a16:creationId xmlns:a16="http://schemas.microsoft.com/office/drawing/2014/main" id="{FC7E8AC9-2E75-782E-047B-AD20771FEE56}"/>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182" t="81159" r="10994" b="3059"/>
            <a:stretch/>
          </p:blipFill>
          <p:spPr bwMode="auto">
            <a:xfrm>
              <a:off x="6470126" y="2086354"/>
              <a:ext cx="948073" cy="934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Google Shape;872;p79">
                  <a:extLst>
                    <a:ext uri="{FF2B5EF4-FFF2-40B4-BE49-F238E27FC236}">
                      <a16:creationId xmlns:a16="http://schemas.microsoft.com/office/drawing/2014/main" id="{B42B8204-4CBF-497A-C7C9-CE27AF8145C2}"/>
                    </a:ext>
                  </a:extLst>
                </p:cNvPr>
                <p:cNvSpPr txBox="1"/>
                <p:nvPr/>
              </p:nvSpPr>
              <p:spPr>
                <a:xfrm>
                  <a:off x="6691090" y="1708973"/>
                  <a:ext cx="602993" cy="3984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𝜎</m:t>
                            </m:r>
                          </m:e>
                        </m:acc>
                      </m:oMath>
                    </m:oMathPara>
                  </a14:m>
                  <a:endParaRPr sz="1800" dirty="0">
                    <a:solidFill>
                      <a:schemeClr val="tx1"/>
                    </a:solidFill>
                  </a:endParaRPr>
                </a:p>
              </p:txBody>
            </p:sp>
          </mc:Choice>
          <mc:Fallback xmlns="">
            <p:sp>
              <p:nvSpPr>
                <p:cNvPr id="9" name="Google Shape;872;p79">
                  <a:extLst>
                    <a:ext uri="{FF2B5EF4-FFF2-40B4-BE49-F238E27FC236}">
                      <a16:creationId xmlns:a16="http://schemas.microsoft.com/office/drawing/2014/main" id="{B42B8204-4CBF-497A-C7C9-CE27AF8145C2}"/>
                    </a:ext>
                  </a:extLst>
                </p:cNvPr>
                <p:cNvSpPr txBox="1">
                  <a:spLocks noRot="1" noChangeAspect="1" noMove="1" noResize="1" noEditPoints="1" noAdjustHandles="1" noChangeArrowheads="1" noChangeShapeType="1" noTextEdit="1"/>
                </p:cNvSpPr>
                <p:nvPr/>
              </p:nvSpPr>
              <p:spPr>
                <a:xfrm>
                  <a:off x="6691090" y="1708973"/>
                  <a:ext cx="602993" cy="398401"/>
                </a:xfrm>
                <a:prstGeom prst="rect">
                  <a:avLst/>
                </a:prstGeom>
                <a:blipFill>
                  <a:blip r:embed="rId7"/>
                  <a:stretch>
                    <a:fillRect r="-21978" b="-1667"/>
                  </a:stretch>
                </a:blipFill>
                <a:ln>
                  <a:noFill/>
                </a:ln>
              </p:spPr>
              <p:txBody>
                <a:bodyPr/>
                <a:lstStyle/>
                <a:p>
                  <a:r>
                    <a:rPr lang="en-US">
                      <a:noFill/>
                    </a:rPr>
                    <a:t> </a:t>
                  </a:r>
                </a:p>
              </p:txBody>
            </p:sp>
          </mc:Fallback>
        </mc:AlternateContent>
        <p:pic>
          <p:nvPicPr>
            <p:cNvPr id="11" name="Picture 11">
              <a:extLst>
                <a:ext uri="{FF2B5EF4-FFF2-40B4-BE49-F238E27FC236}">
                  <a16:creationId xmlns:a16="http://schemas.microsoft.com/office/drawing/2014/main" id="{F1E834DC-ED9E-2F96-FC6C-59ACF7A87F7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8506" t="54563" r="60840" b="29363"/>
            <a:stretch/>
          </p:blipFill>
          <p:spPr bwMode="auto">
            <a:xfrm>
              <a:off x="7940988" y="827804"/>
              <a:ext cx="978970" cy="97565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1">
              <a:extLst>
                <a:ext uri="{FF2B5EF4-FFF2-40B4-BE49-F238E27FC236}">
                  <a16:creationId xmlns:a16="http://schemas.microsoft.com/office/drawing/2014/main" id="{803856B1-6FF3-BEE0-5C45-7F5DC7DB7F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58347" t="54741" r="11770" b="29493"/>
            <a:stretch/>
          </p:blipFill>
          <p:spPr bwMode="auto">
            <a:xfrm>
              <a:off x="7943154" y="2046748"/>
              <a:ext cx="976804" cy="979520"/>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872;p79">
              <a:extLst>
                <a:ext uri="{FF2B5EF4-FFF2-40B4-BE49-F238E27FC236}">
                  <a16:creationId xmlns:a16="http://schemas.microsoft.com/office/drawing/2014/main" id="{8EA9F7E2-5962-3152-ABEA-AA2F88A90D6F}"/>
                </a:ext>
              </a:extLst>
            </p:cNvPr>
            <p:cNvSpPr txBox="1"/>
            <p:nvPr/>
          </p:nvSpPr>
          <p:spPr>
            <a:xfrm>
              <a:off x="7826189" y="-63454"/>
              <a:ext cx="1317811" cy="63745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800" dirty="0">
                  <a:solidFill>
                    <a:schemeClr val="tx1"/>
                  </a:solidFill>
                </a:rPr>
                <a:t>Absolute Error</a:t>
              </a:r>
              <a:endParaRPr sz="1800" dirty="0">
                <a:solidFill>
                  <a:schemeClr val="tx1"/>
                </a:solidFill>
              </a:endParaRPr>
            </a:p>
          </p:txBody>
        </p:sp>
        <p:sp>
          <p:nvSpPr>
            <p:cNvPr id="22" name="Google Shape;872;p79">
              <a:extLst>
                <a:ext uri="{FF2B5EF4-FFF2-40B4-BE49-F238E27FC236}">
                  <a16:creationId xmlns:a16="http://schemas.microsoft.com/office/drawing/2014/main" id="{EE9CA3CD-A0FB-EC22-AADE-469959676FBD}"/>
                </a:ext>
              </a:extLst>
            </p:cNvPr>
            <p:cNvSpPr txBox="1"/>
            <p:nvPr/>
          </p:nvSpPr>
          <p:spPr>
            <a:xfrm>
              <a:off x="6285256" y="53740"/>
              <a:ext cx="1317811" cy="3984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1800" dirty="0">
                  <a:solidFill>
                    <a:schemeClr val="tx1"/>
                  </a:solidFill>
                </a:rPr>
                <a:t>Predicted</a:t>
              </a:r>
              <a:endParaRPr sz="1800" dirty="0">
                <a:solidFill>
                  <a:schemeClr val="tx1"/>
                </a:solidFill>
              </a:endParaRPr>
            </a:p>
          </p:txBody>
        </p:sp>
        <mc:AlternateContent xmlns:mc="http://schemas.openxmlformats.org/markup-compatibility/2006" xmlns:a14="http://schemas.microsoft.com/office/drawing/2010/main">
          <mc:Choice Requires="a14">
            <p:sp>
              <p:nvSpPr>
                <p:cNvPr id="23" name="Google Shape;872;p79">
                  <a:extLst>
                    <a:ext uri="{FF2B5EF4-FFF2-40B4-BE49-F238E27FC236}">
                      <a16:creationId xmlns:a16="http://schemas.microsoft.com/office/drawing/2014/main" id="{243EDFE5-EE80-4468-8C76-8C047BB6861E}"/>
                    </a:ext>
                  </a:extLst>
                </p:cNvPr>
                <p:cNvSpPr txBox="1"/>
                <p:nvPr/>
              </p:nvSpPr>
              <p:spPr>
                <a:xfrm>
                  <a:off x="8235468" y="457810"/>
                  <a:ext cx="602993" cy="3984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.12%</m:t>
                        </m:r>
                      </m:oMath>
                    </m:oMathPara>
                  </a14:m>
                  <a:endParaRPr sz="1800" dirty="0">
                    <a:solidFill>
                      <a:schemeClr val="tx1"/>
                    </a:solidFill>
                  </a:endParaRPr>
                </a:p>
              </p:txBody>
            </p:sp>
          </mc:Choice>
          <mc:Fallback xmlns="">
            <p:sp>
              <p:nvSpPr>
                <p:cNvPr id="23" name="Google Shape;872;p79">
                  <a:extLst>
                    <a:ext uri="{FF2B5EF4-FFF2-40B4-BE49-F238E27FC236}">
                      <a16:creationId xmlns:a16="http://schemas.microsoft.com/office/drawing/2014/main" id="{243EDFE5-EE80-4468-8C76-8C047BB6861E}"/>
                    </a:ext>
                  </a:extLst>
                </p:cNvPr>
                <p:cNvSpPr txBox="1">
                  <a:spLocks noRot="1" noChangeAspect="1" noMove="1" noResize="1" noEditPoints="1" noAdjustHandles="1" noChangeArrowheads="1" noChangeShapeType="1" noTextEdit="1"/>
                </p:cNvSpPr>
                <p:nvPr/>
              </p:nvSpPr>
              <p:spPr>
                <a:xfrm>
                  <a:off x="8235468" y="457810"/>
                  <a:ext cx="602993" cy="398401"/>
                </a:xfrm>
                <a:prstGeom prst="rect">
                  <a:avLst/>
                </a:prstGeom>
                <a:blipFill>
                  <a:blip r:embed="rId9"/>
                  <a:stretch>
                    <a:fillRect l="-8791" r="-6593" b="-11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Google Shape;872;p79">
                  <a:extLst>
                    <a:ext uri="{FF2B5EF4-FFF2-40B4-BE49-F238E27FC236}">
                      <a16:creationId xmlns:a16="http://schemas.microsoft.com/office/drawing/2014/main" id="{34E1CF51-B1A4-82A7-5056-6A1A7460E5A9}"/>
                    </a:ext>
                  </a:extLst>
                </p:cNvPr>
                <p:cNvSpPr txBox="1"/>
                <p:nvPr/>
              </p:nvSpPr>
              <p:spPr>
                <a:xfrm>
                  <a:off x="8183598" y="1708972"/>
                  <a:ext cx="602993" cy="39840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.08%</m:t>
                        </m:r>
                      </m:oMath>
                    </m:oMathPara>
                  </a14:m>
                  <a:endParaRPr sz="1800" dirty="0">
                    <a:solidFill>
                      <a:schemeClr val="tx1"/>
                    </a:solidFill>
                  </a:endParaRPr>
                </a:p>
              </p:txBody>
            </p:sp>
          </mc:Choice>
          <mc:Fallback xmlns="">
            <p:sp>
              <p:nvSpPr>
                <p:cNvPr id="24" name="Google Shape;872;p79">
                  <a:extLst>
                    <a:ext uri="{FF2B5EF4-FFF2-40B4-BE49-F238E27FC236}">
                      <a16:creationId xmlns:a16="http://schemas.microsoft.com/office/drawing/2014/main" id="{34E1CF51-B1A4-82A7-5056-6A1A7460E5A9}"/>
                    </a:ext>
                  </a:extLst>
                </p:cNvPr>
                <p:cNvSpPr txBox="1">
                  <a:spLocks noRot="1" noChangeAspect="1" noMove="1" noResize="1" noEditPoints="1" noAdjustHandles="1" noChangeArrowheads="1" noChangeShapeType="1" noTextEdit="1"/>
                </p:cNvSpPr>
                <p:nvPr/>
              </p:nvSpPr>
              <p:spPr>
                <a:xfrm>
                  <a:off x="8183598" y="1708972"/>
                  <a:ext cx="602993" cy="398401"/>
                </a:xfrm>
                <a:prstGeom prst="rect">
                  <a:avLst/>
                </a:prstGeom>
                <a:blipFill>
                  <a:blip r:embed="rId10"/>
                  <a:stretch>
                    <a:fillRect l="-8791" r="-6593" b="-13333"/>
                  </a:stretch>
                </a:blipFill>
                <a:ln>
                  <a:noFill/>
                </a:ln>
              </p:spPr>
              <p:txBody>
                <a:bodyPr/>
                <a:lstStyle/>
                <a:p>
                  <a:r>
                    <a:rPr lang="en-US">
                      <a:noFill/>
                    </a:rPr>
                    <a:t> </a:t>
                  </a:r>
                </a:p>
              </p:txBody>
            </p:sp>
          </mc:Fallback>
        </mc:AlternateContent>
      </p:grpSp>
      <p:sp>
        <p:nvSpPr>
          <p:cNvPr id="13" name="Rectangle: Rounded Corners 12">
            <a:extLst>
              <a:ext uri="{FF2B5EF4-FFF2-40B4-BE49-F238E27FC236}">
                <a16:creationId xmlns:a16="http://schemas.microsoft.com/office/drawing/2014/main" id="{A66F91F0-27C0-2991-2FE2-42FE87F303C3}"/>
              </a:ext>
            </a:extLst>
          </p:cNvPr>
          <p:cNvSpPr/>
          <p:nvPr/>
        </p:nvSpPr>
        <p:spPr>
          <a:xfrm>
            <a:off x="1161288" y="5541264"/>
            <a:ext cx="3575304" cy="1316736"/>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31554121-78E1-8B88-14DB-C85D5AB46323}"/>
              </a:ext>
            </a:extLst>
          </p:cNvPr>
          <p:cNvSpPr/>
          <p:nvPr/>
        </p:nvSpPr>
        <p:spPr>
          <a:xfrm>
            <a:off x="2175711" y="2777248"/>
            <a:ext cx="1032328" cy="26543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34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661">
            <a:extLst>
              <a:ext uri="{FF2B5EF4-FFF2-40B4-BE49-F238E27FC236}">
                <a16:creationId xmlns:a16="http://schemas.microsoft.com/office/drawing/2014/main" id="{E9686177-7E2F-BFBE-51DA-20126A94509E}"/>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Our Proposed Modified Mean Squared Error (MSE) Metric</a:t>
            </a:r>
            <a:endParaRPr lang="en-US" altLang="zh-CN" sz="2000" kern="0" dirty="0">
              <a:solidFill>
                <a:schemeClr val="bg1"/>
              </a:solidFill>
              <a:latin typeface="+mj-lt"/>
              <a:cs typeface="Arial" panose="020B0604020202020204" pitchFamily="34" charset="0"/>
              <a:sym typeface="Arial"/>
            </a:endParaRPr>
          </a:p>
        </p:txBody>
      </p:sp>
      <p:pic>
        <p:nvPicPr>
          <p:cNvPr id="25604" name="Picture 4">
            <a:extLst>
              <a:ext uri="{FF2B5EF4-FFF2-40B4-BE49-F238E27FC236}">
                <a16:creationId xmlns:a16="http://schemas.microsoft.com/office/drawing/2014/main" id="{9249D7D0-0017-FDF5-0897-C1005D8ACC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62759" b="75002"/>
          <a:stretch/>
        </p:blipFill>
        <p:spPr bwMode="auto">
          <a:xfrm>
            <a:off x="171450" y="3274479"/>
            <a:ext cx="4174548" cy="209580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9EF9CD59-B0F8-4CC2-368E-95CB95E15F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000" r="15878" b="75002"/>
          <a:stretch/>
        </p:blipFill>
        <p:spPr bwMode="auto">
          <a:xfrm>
            <a:off x="4422198" y="3274479"/>
            <a:ext cx="4721802" cy="2095802"/>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872;p79">
            <a:extLst>
              <a:ext uri="{FF2B5EF4-FFF2-40B4-BE49-F238E27FC236}">
                <a16:creationId xmlns:a16="http://schemas.microsoft.com/office/drawing/2014/main" id="{F2289A7D-BDEF-9A72-3125-AD4B1EC8DEA5}"/>
              </a:ext>
            </a:extLst>
          </p:cNvPr>
          <p:cNvSpPr txBox="1"/>
          <p:nvPr/>
        </p:nvSpPr>
        <p:spPr>
          <a:xfrm>
            <a:off x="4004820" y="6765920"/>
            <a:ext cx="2850068" cy="40007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dirty="0">
                <a:solidFill>
                  <a:schemeClr val="tx1"/>
                </a:solidFill>
              </a:rPr>
              <a:t>PIFON Results</a:t>
            </a:r>
            <a:endParaRPr b="1" dirty="0">
              <a:solidFill>
                <a:schemeClr val="tx1"/>
              </a:solidFill>
            </a:endParaRPr>
          </a:p>
        </p:txBody>
      </p:sp>
      <p:grpSp>
        <p:nvGrpSpPr>
          <p:cNvPr id="12" name="Group 11">
            <a:extLst>
              <a:ext uri="{FF2B5EF4-FFF2-40B4-BE49-F238E27FC236}">
                <a16:creationId xmlns:a16="http://schemas.microsoft.com/office/drawing/2014/main" id="{8C02C919-F615-7350-7050-A9514D180EDB}"/>
              </a:ext>
            </a:extLst>
          </p:cNvPr>
          <p:cNvGrpSpPr/>
          <p:nvPr/>
        </p:nvGrpSpPr>
        <p:grpSpPr>
          <a:xfrm>
            <a:off x="2402567" y="842643"/>
            <a:ext cx="1558017" cy="2007080"/>
            <a:chOff x="2458402" y="840673"/>
            <a:chExt cx="946579" cy="1372810"/>
          </a:xfrm>
        </p:grpSpPr>
        <p:pic>
          <p:nvPicPr>
            <p:cNvPr id="4" name="Picture 2">
              <a:extLst>
                <a:ext uri="{FF2B5EF4-FFF2-40B4-BE49-F238E27FC236}">
                  <a16:creationId xmlns:a16="http://schemas.microsoft.com/office/drawing/2014/main" id="{432F0C86-A5CB-2BAD-1809-A2B8A26BAC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21" r="42069" b="53736"/>
            <a:stretch/>
          </p:blipFill>
          <p:spPr bwMode="auto">
            <a:xfrm>
              <a:off x="2458402" y="1072452"/>
              <a:ext cx="946579" cy="114103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505F9A7-337F-60AA-583B-968F6CBF0E83}"/>
                </a:ext>
              </a:extLst>
            </p:cNvPr>
            <p:cNvSpPr txBox="1"/>
            <p:nvPr/>
          </p:nvSpPr>
          <p:spPr>
            <a:xfrm>
              <a:off x="2558492" y="840673"/>
              <a:ext cx="798340" cy="357874"/>
            </a:xfrm>
            <a:prstGeom prst="rect">
              <a:avLst/>
            </a:prstGeom>
            <a:solidFill>
              <a:schemeClr val="bg1"/>
            </a:solidFill>
            <a:ln>
              <a:solidFill>
                <a:schemeClr val="bg1"/>
              </a:solidFill>
            </a:ln>
          </p:spPr>
          <p:txBody>
            <a:bodyPr wrap="square" rtlCol="0">
              <a:spAutoFit/>
            </a:bodyPr>
            <a:lstStyle/>
            <a:p>
              <a:pPr algn="ctr"/>
              <a:r>
                <a:rPr lang="en-US" sz="1400" dirty="0"/>
                <a:t>PIFON</a:t>
              </a:r>
            </a:p>
            <a:p>
              <a:pPr algn="ctr"/>
              <a:r>
                <a:rPr lang="en-US" sz="1400" dirty="0"/>
                <a:t>Starting Point</a:t>
              </a:r>
            </a:p>
          </p:txBody>
        </p:sp>
      </p:grpSp>
      <p:cxnSp>
        <p:nvCxnSpPr>
          <p:cNvPr id="14" name="Straight Arrow Connector 13">
            <a:extLst>
              <a:ext uri="{FF2B5EF4-FFF2-40B4-BE49-F238E27FC236}">
                <a16:creationId xmlns:a16="http://schemas.microsoft.com/office/drawing/2014/main" id="{6464D826-A675-D101-517B-FAED787A9318}"/>
              </a:ext>
            </a:extLst>
          </p:cNvPr>
          <p:cNvCxnSpPr>
            <a:cxnSpLocks/>
          </p:cNvCxnSpPr>
          <p:nvPr/>
        </p:nvCxnSpPr>
        <p:spPr>
          <a:xfrm>
            <a:off x="3228727" y="2690648"/>
            <a:ext cx="0" cy="5838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8319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04809-4535-FFEE-199F-05DCD0FB4D98}"/>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B112C2F9-C318-00F6-59DF-CCCCDB8E9AB0}"/>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Our Proposed Modified Mean Squared Error (MSE) Metric</a:t>
            </a:r>
            <a:endParaRPr lang="en-US" altLang="zh-CN" sz="2000" kern="0" dirty="0">
              <a:solidFill>
                <a:schemeClr val="bg1"/>
              </a:solidFill>
              <a:latin typeface="+mj-lt"/>
              <a:cs typeface="Arial" panose="020B0604020202020204" pitchFamily="34" charset="0"/>
              <a:sym typeface="Arial"/>
            </a:endParaRPr>
          </a:p>
        </p:txBody>
      </p:sp>
      <p:grpSp>
        <p:nvGrpSpPr>
          <p:cNvPr id="3" name="Group 2">
            <a:extLst>
              <a:ext uri="{FF2B5EF4-FFF2-40B4-BE49-F238E27FC236}">
                <a16:creationId xmlns:a16="http://schemas.microsoft.com/office/drawing/2014/main" id="{407E680A-E985-4612-0A4A-5F8E6241D788}"/>
              </a:ext>
            </a:extLst>
          </p:cNvPr>
          <p:cNvGrpSpPr/>
          <p:nvPr/>
        </p:nvGrpSpPr>
        <p:grpSpPr>
          <a:xfrm>
            <a:off x="376672" y="710525"/>
            <a:ext cx="4662920" cy="1089162"/>
            <a:chOff x="85725" y="2381099"/>
            <a:chExt cx="8972550" cy="2095802"/>
          </a:xfrm>
        </p:grpSpPr>
        <p:pic>
          <p:nvPicPr>
            <p:cNvPr id="25604" name="Picture 4">
              <a:extLst>
                <a:ext uri="{FF2B5EF4-FFF2-40B4-BE49-F238E27FC236}">
                  <a16:creationId xmlns:a16="http://schemas.microsoft.com/office/drawing/2014/main" id="{62402B91-6FB6-ECB3-EC78-A1F777C93B7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 r="62759" b="75002"/>
            <a:stretch/>
          </p:blipFill>
          <p:spPr bwMode="auto">
            <a:xfrm>
              <a:off x="85725" y="2381099"/>
              <a:ext cx="4174548" cy="209580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26BAA933-39DE-10A4-9FE2-1CB415DB77F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2000" r="15878" b="75002"/>
            <a:stretch/>
          </p:blipFill>
          <p:spPr bwMode="auto">
            <a:xfrm>
              <a:off x="4336473" y="2381099"/>
              <a:ext cx="4721802" cy="2095802"/>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4">
            <a:extLst>
              <a:ext uri="{FF2B5EF4-FFF2-40B4-BE49-F238E27FC236}">
                <a16:creationId xmlns:a16="http://schemas.microsoft.com/office/drawing/2014/main" id="{5B20E223-2FBC-5F90-5D6E-B082602504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151" r="52366" b="39037"/>
          <a:stretch/>
        </p:blipFill>
        <p:spPr bwMode="auto">
          <a:xfrm>
            <a:off x="189635" y="1799687"/>
            <a:ext cx="8417837" cy="4601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612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386A1-39B8-F648-4C35-DDC7B864C038}"/>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32722E8C-ABC5-37EC-2EA6-4927059F5562}"/>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Our Proposed Modified Mean Squared Error (MSE) Metric</a:t>
            </a:r>
            <a:endParaRPr lang="en-US" altLang="zh-CN" sz="2000" kern="0" dirty="0">
              <a:solidFill>
                <a:schemeClr val="bg1"/>
              </a:solidFill>
              <a:latin typeface="+mj-lt"/>
              <a:cs typeface="Arial" panose="020B0604020202020204" pitchFamily="34" charset="0"/>
              <a:sym typeface="Arial"/>
            </a:endParaRPr>
          </a:p>
        </p:txBody>
      </p:sp>
      <p:pic>
        <p:nvPicPr>
          <p:cNvPr id="4" name="Picture 4">
            <a:extLst>
              <a:ext uri="{FF2B5EF4-FFF2-40B4-BE49-F238E27FC236}">
                <a16:creationId xmlns:a16="http://schemas.microsoft.com/office/drawing/2014/main" id="{9E2B81D7-F5F7-9E92-C0E4-B3EBFA42E6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705" t="61481" r="3549"/>
          <a:stretch/>
        </p:blipFill>
        <p:spPr bwMode="auto">
          <a:xfrm>
            <a:off x="400051" y="3128087"/>
            <a:ext cx="8379909" cy="35636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CDA50A-9FE3-548A-C85D-61D843EEB7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954" t="32287" r="16146" b="39021"/>
          <a:stretch/>
        </p:blipFill>
        <p:spPr bwMode="auto">
          <a:xfrm>
            <a:off x="2891617" y="1056583"/>
            <a:ext cx="3597904" cy="215062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E2E0E302-86AD-61D2-B1A2-A872B13CE7A8}"/>
              </a:ext>
            </a:extLst>
          </p:cNvPr>
          <p:cNvGrpSpPr/>
          <p:nvPr/>
        </p:nvGrpSpPr>
        <p:grpSpPr>
          <a:xfrm>
            <a:off x="169684" y="489024"/>
            <a:ext cx="2900855" cy="2518487"/>
            <a:chOff x="94593" y="609600"/>
            <a:chExt cx="2900855" cy="2518487"/>
          </a:xfrm>
        </p:grpSpPr>
        <p:pic>
          <p:nvPicPr>
            <p:cNvPr id="25604" name="Picture 4">
              <a:extLst>
                <a:ext uri="{FF2B5EF4-FFF2-40B4-BE49-F238E27FC236}">
                  <a16:creationId xmlns:a16="http://schemas.microsoft.com/office/drawing/2014/main" id="{7BEC5FCA-FF21-B513-D50D-EA72BD805F8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52366" b="39203"/>
            <a:stretch/>
          </p:blipFill>
          <p:spPr bwMode="auto">
            <a:xfrm>
              <a:off x="94593" y="688666"/>
              <a:ext cx="2555451" cy="24394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37795D49-A0D6-666C-2F86-DC6204A4FC82}"/>
                </a:ext>
              </a:extLst>
            </p:cNvPr>
            <p:cNvSpPr/>
            <p:nvPr/>
          </p:nvSpPr>
          <p:spPr>
            <a:xfrm>
              <a:off x="2060027" y="609600"/>
              <a:ext cx="935421" cy="7882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F627F045-DDCE-2D00-92DB-FD8B71818DC2}"/>
              </a:ext>
            </a:extLst>
          </p:cNvPr>
          <p:cNvSpPr txBox="1"/>
          <p:nvPr/>
        </p:nvSpPr>
        <p:spPr>
          <a:xfrm>
            <a:off x="6984039" y="1221328"/>
            <a:ext cx="1990277" cy="1742015"/>
          </a:xfrm>
          <a:prstGeom prst="rect">
            <a:avLst/>
          </a:prstGeom>
          <a:noFill/>
        </p:spPr>
        <p:txBody>
          <a:bodyPr wrap="square">
            <a:spAutoFit/>
          </a:bodyPr>
          <a:lstStyle/>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Dropout Layers</a:t>
            </a:r>
          </a:p>
          <a:p>
            <a:pPr marL="285750"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Randomly Drops neurons during training</a:t>
            </a: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Decrease overfitting</a:t>
            </a:r>
          </a:p>
        </p:txBody>
      </p:sp>
    </p:spTree>
    <p:extLst>
      <p:ext uri="{BB962C8B-B14F-4D97-AF65-F5344CB8AC3E}">
        <p14:creationId xmlns:p14="http://schemas.microsoft.com/office/powerpoint/2010/main" val="390553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F2F6D-A2A8-EEC2-B8A8-C5AA5F8947E2}"/>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DA302AAD-3D88-532C-93CC-16D557E3D4FA}"/>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Our Proposed Modified Mean Squared Error (MSE) Metric</a:t>
            </a:r>
            <a:endParaRPr lang="en-US" altLang="zh-CN" sz="2000" kern="0" dirty="0">
              <a:solidFill>
                <a:schemeClr val="bg1"/>
              </a:solidFill>
              <a:latin typeface="+mj-lt"/>
              <a:cs typeface="Arial" panose="020B0604020202020204" pitchFamily="34" charset="0"/>
              <a:sym typeface="Arial"/>
            </a:endParaRPr>
          </a:p>
        </p:txBody>
      </p:sp>
      <p:pic>
        <p:nvPicPr>
          <p:cNvPr id="25604" name="Picture 4">
            <a:extLst>
              <a:ext uri="{FF2B5EF4-FFF2-40B4-BE49-F238E27FC236}">
                <a16:creationId xmlns:a16="http://schemas.microsoft.com/office/drawing/2014/main" id="{F1E8DB75-C453-9AFF-8512-FEE8CB7FF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528557"/>
            <a:ext cx="8343900" cy="624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838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779E-15B8-C055-EF8A-964D00BC6B98}"/>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A6CAA073-B396-D19E-5C22-665B8DD880AD}"/>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63E5DC5A-14B9-4F0D-3F21-80D90558343D}"/>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 Proposed Modified MSE Results</a:t>
            </a:r>
            <a:endParaRPr lang="en-US" altLang="zh-CN" sz="2000" kern="0" dirty="0">
              <a:solidFill>
                <a:schemeClr val="bg1"/>
              </a:solidFill>
              <a:latin typeface="+mj-lt"/>
              <a:cs typeface="Arial" panose="020B0604020202020204" pitchFamily="34" charset="0"/>
              <a:sym typeface="Arial"/>
            </a:endParaRPr>
          </a:p>
        </p:txBody>
      </p:sp>
      <p:sp>
        <p:nvSpPr>
          <p:cNvPr id="11" name="TextBox 10">
            <a:extLst>
              <a:ext uri="{FF2B5EF4-FFF2-40B4-BE49-F238E27FC236}">
                <a16:creationId xmlns:a16="http://schemas.microsoft.com/office/drawing/2014/main" id="{26B74AD4-3DE7-BC95-BC63-28B599F9A67E}"/>
              </a:ext>
            </a:extLst>
          </p:cNvPr>
          <p:cNvSpPr txBox="1"/>
          <p:nvPr/>
        </p:nvSpPr>
        <p:spPr>
          <a:xfrm>
            <a:off x="1766884" y="656842"/>
            <a:ext cx="4817942" cy="757130"/>
          </a:xfrm>
          <a:prstGeom prst="rect">
            <a:avLst/>
          </a:prstGeom>
          <a:noFill/>
        </p:spPr>
        <p:txBody>
          <a:bodyPr wrap="square">
            <a:spAutoFit/>
          </a:bodyPr>
          <a:lstStyle/>
          <a:p>
            <a:pPr algn="ctr">
              <a:lnSpc>
                <a:spcPct val="90000"/>
              </a:lnSpc>
              <a:spcAft>
                <a:spcPts val="600"/>
              </a:spcAft>
            </a:pPr>
            <a:r>
              <a:rPr lang="en-US" sz="2400" b="1" dirty="0">
                <a:solidFill>
                  <a:schemeClr val="dk2"/>
                </a:solidFill>
                <a:latin typeface="Calibri" panose="020F0502020204030204" pitchFamily="34" charset="0"/>
                <a:ea typeface="Calibri" panose="020F0502020204030204" pitchFamily="34" charset="0"/>
                <a:cs typeface="Calibri" panose="020F0502020204030204" pitchFamily="34" charset="0"/>
              </a:rPr>
              <a:t>This work’s novel Mean Squared Error Modification*</a:t>
            </a:r>
            <a:endParaRPr lang="en-US" sz="24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pic>
        <p:nvPicPr>
          <p:cNvPr id="13" name="Picture 2">
            <a:extLst>
              <a:ext uri="{FF2B5EF4-FFF2-40B4-BE49-F238E27FC236}">
                <a16:creationId xmlns:a16="http://schemas.microsoft.com/office/drawing/2014/main" id="{959AB49C-8F4E-9F6C-2844-24581B8B983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262" t="11755" r="30763" b="3284"/>
          <a:stretch/>
        </p:blipFill>
        <p:spPr bwMode="auto">
          <a:xfrm>
            <a:off x="2375624" y="1920557"/>
            <a:ext cx="1922729" cy="49531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8FA270CC-6596-3851-A739-4A9D61BFB40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44" t="12070" r="72159" b="4163"/>
          <a:stretch/>
        </p:blipFill>
        <p:spPr bwMode="auto">
          <a:xfrm>
            <a:off x="217747" y="1921454"/>
            <a:ext cx="2006601" cy="483611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44FFC48-B6A9-EF33-2594-5B04A64F19C3}"/>
              </a:ext>
            </a:extLst>
          </p:cNvPr>
          <p:cNvSpPr txBox="1"/>
          <p:nvPr/>
        </p:nvSpPr>
        <p:spPr>
          <a:xfrm>
            <a:off x="415407" y="1591282"/>
            <a:ext cx="1611279" cy="369332"/>
          </a:xfrm>
          <a:prstGeom prst="rect">
            <a:avLst/>
          </a:prstGeom>
          <a:noFill/>
        </p:spPr>
        <p:txBody>
          <a:bodyPr wrap="square" rtlCol="0">
            <a:spAutoFit/>
          </a:bodyPr>
          <a:lstStyle/>
          <a:p>
            <a:r>
              <a:rPr lang="en-US" dirty="0"/>
              <a:t>Classic MSE</a:t>
            </a:r>
          </a:p>
        </p:txBody>
      </p:sp>
      <p:sp>
        <p:nvSpPr>
          <p:cNvPr id="21" name="TextBox 20">
            <a:extLst>
              <a:ext uri="{FF2B5EF4-FFF2-40B4-BE49-F238E27FC236}">
                <a16:creationId xmlns:a16="http://schemas.microsoft.com/office/drawing/2014/main" id="{E5D0E6C6-6664-0EA0-F6C0-10E450E7BD33}"/>
              </a:ext>
            </a:extLst>
          </p:cNvPr>
          <p:cNvSpPr txBox="1"/>
          <p:nvPr/>
        </p:nvSpPr>
        <p:spPr>
          <a:xfrm>
            <a:off x="2452550" y="1551225"/>
            <a:ext cx="1922729" cy="369332"/>
          </a:xfrm>
          <a:prstGeom prst="rect">
            <a:avLst/>
          </a:prstGeom>
          <a:noFill/>
        </p:spPr>
        <p:txBody>
          <a:bodyPr wrap="square" rtlCol="0">
            <a:spAutoFit/>
          </a:bodyPr>
          <a:lstStyle/>
          <a:p>
            <a:r>
              <a:rPr lang="en-US" dirty="0"/>
              <a:t>Modified MSE*</a:t>
            </a:r>
          </a:p>
        </p:txBody>
      </p:sp>
      <p:pic>
        <p:nvPicPr>
          <p:cNvPr id="12298" name="Picture 10">
            <a:hlinkClick r:id="rId4"/>
            <a:extLst>
              <a:ext uri="{FF2B5EF4-FFF2-40B4-BE49-F238E27FC236}">
                <a16:creationId xmlns:a16="http://schemas.microsoft.com/office/drawing/2014/main" id="{E48C7A57-78FD-3CC3-845E-9892163DE69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69499" y="1531213"/>
            <a:ext cx="3886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2299" name="Picture 11">
            <a:hlinkClick r:id="rId6"/>
            <a:extLst>
              <a:ext uri="{FF2B5EF4-FFF2-40B4-BE49-F238E27FC236}">
                <a16:creationId xmlns:a16="http://schemas.microsoft.com/office/drawing/2014/main" id="{FF7FAA03-0769-8593-37EF-B7C5C08515B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69499" y="2445613"/>
            <a:ext cx="3657600" cy="95250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F55C2553-933B-F384-3EC9-FF79E64917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7256" y="3771900"/>
            <a:ext cx="4671523" cy="3073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69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CF1D9-E1BC-7B9E-CC95-3CDE7E40D13F}"/>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4133994D-5F11-1EFE-DA28-F415093F5B7D}"/>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84016AA3-7260-4B83-295D-10536A6ADDB3}"/>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 2D Plane Wave Excitation Results</a:t>
            </a:r>
            <a:endParaRPr lang="en-US" altLang="zh-CN" sz="2000" kern="0" dirty="0">
              <a:solidFill>
                <a:schemeClr val="bg1"/>
              </a:solidFill>
              <a:latin typeface="+mj-lt"/>
              <a:cs typeface="Arial" panose="020B0604020202020204" pitchFamily="34" charset="0"/>
              <a:sym typeface="Arial"/>
            </a:endParaRPr>
          </a:p>
        </p:txBody>
      </p:sp>
      <p:pic>
        <p:nvPicPr>
          <p:cNvPr id="14338" name="Picture 2">
            <a:extLst>
              <a:ext uri="{FF2B5EF4-FFF2-40B4-BE49-F238E27FC236}">
                <a16:creationId xmlns:a16="http://schemas.microsoft.com/office/drawing/2014/main" id="{EF6ED5AC-BDDC-9154-8606-1E841AC1DE4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724" b="52701"/>
          <a:stretch/>
        </p:blipFill>
        <p:spPr bwMode="auto">
          <a:xfrm>
            <a:off x="2794556" y="613647"/>
            <a:ext cx="2956639" cy="2696709"/>
          </a:xfrm>
          <a:prstGeom prst="rect">
            <a:avLst/>
          </a:prstGeom>
          <a:noFill/>
          <a:extLst>
            <a:ext uri="{909E8E84-426E-40DD-AFC4-6F175D3DCCD1}">
              <a14:hiddenFill xmlns:a14="http://schemas.microsoft.com/office/drawing/2010/main">
                <a:solidFill>
                  <a:srgbClr val="FFFFFF"/>
                </a:solidFill>
              </a14:hiddenFill>
            </a:ext>
          </a:extLst>
        </p:spPr>
      </p:pic>
      <p:pic>
        <p:nvPicPr>
          <p:cNvPr id="14339" name="Picture 3">
            <a:extLst>
              <a:ext uri="{FF2B5EF4-FFF2-40B4-BE49-F238E27FC236}">
                <a16:creationId xmlns:a16="http://schemas.microsoft.com/office/drawing/2014/main" id="{69F8B2C1-689F-0EED-A90F-F7D5F7F3D1D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52701"/>
          <a:stretch/>
        </p:blipFill>
        <p:spPr bwMode="auto">
          <a:xfrm>
            <a:off x="5751195" y="557757"/>
            <a:ext cx="3070860" cy="2752599"/>
          </a:xfrm>
          <a:prstGeom prst="rect">
            <a:avLst/>
          </a:prstGeom>
          <a:noFill/>
          <a:extLst>
            <a:ext uri="{909E8E84-426E-40DD-AFC4-6F175D3DCCD1}">
              <a14:hiddenFill xmlns:a14="http://schemas.microsoft.com/office/drawing/2010/main">
                <a:solidFill>
                  <a:srgbClr val="FFFFFF"/>
                </a:solidFill>
              </a14:hiddenFill>
            </a:ext>
          </a:extLst>
        </p:spPr>
      </p:pic>
      <p:pic>
        <p:nvPicPr>
          <p:cNvPr id="14341" name="Picture 5">
            <a:extLst>
              <a:ext uri="{FF2B5EF4-FFF2-40B4-BE49-F238E27FC236}">
                <a16:creationId xmlns:a16="http://schemas.microsoft.com/office/drawing/2014/main" id="{C1C5AC88-FFB3-E569-E8B7-00F5E031886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1643"/>
          <a:stretch/>
        </p:blipFill>
        <p:spPr bwMode="auto">
          <a:xfrm>
            <a:off x="5751195" y="3499665"/>
            <a:ext cx="3195825" cy="29281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80DDB20-A835-EBA8-1EE3-52650F81A6EE}"/>
                  </a:ext>
                </a:extLst>
              </p:cNvPr>
              <p:cNvSpPr txBox="1"/>
              <p:nvPr/>
            </p:nvSpPr>
            <p:spPr>
              <a:xfrm>
                <a:off x="287190" y="3845538"/>
                <a:ext cx="5003670" cy="1754326"/>
              </a:xfrm>
              <a:prstGeom prst="rect">
                <a:avLst/>
              </a:prstGeom>
              <a:solidFill>
                <a:schemeClr val="bg1"/>
              </a:solidFill>
            </p:spPr>
            <p:txBody>
              <a:bodyPr wrap="square" rtlCol="0">
                <a:spAutoFit/>
              </a:bodyPr>
              <a:lstStyle/>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0" smtClean="0">
                        <a:latin typeface="Cambria Math" panose="02040503050406030204" pitchFamily="18" charset="0"/>
                      </a:rPr>
                      <m:t> </m:t>
                    </m:r>
                  </m:oMath>
                </a14:m>
                <a:r>
                  <a:rPr lang="en-US" dirty="0"/>
                  <a:t>Field resolution of [50x50] corrupted with Gaussian noise of peak SNR of 200 </a:t>
                </a:r>
              </a:p>
              <a:p>
                <a:endParaRPr lang="en-US" dirty="0"/>
              </a:p>
              <a:p>
                <a:r>
                  <a:rPr lang="en-US" dirty="0"/>
                  <a:t>Relative permittivity </a:t>
                </a:r>
                <a:r>
                  <a:rPr lang="en-US" b="1" dirty="0"/>
                  <a:t>PNAE of .005%</a:t>
                </a:r>
              </a:p>
              <a:p>
                <a:endParaRPr lang="en-US" dirty="0"/>
              </a:p>
              <a:p>
                <a:r>
                  <a:rPr lang="en-US" dirty="0"/>
                  <a:t>Conductivity </a:t>
                </a:r>
                <a:r>
                  <a:rPr lang="en-US" b="1" dirty="0"/>
                  <a:t>PNAE of .009%</a:t>
                </a:r>
              </a:p>
            </p:txBody>
          </p:sp>
        </mc:Choice>
        <mc:Fallback xmlns="">
          <p:sp>
            <p:nvSpPr>
              <p:cNvPr id="2" name="TextBox 1">
                <a:extLst>
                  <a:ext uri="{FF2B5EF4-FFF2-40B4-BE49-F238E27FC236}">
                    <a16:creationId xmlns:a16="http://schemas.microsoft.com/office/drawing/2014/main" id="{480DDB20-A835-EBA8-1EE3-52650F81A6EE}"/>
                  </a:ext>
                </a:extLst>
              </p:cNvPr>
              <p:cNvSpPr txBox="1">
                <a:spLocks noRot="1" noChangeAspect="1" noMove="1" noResize="1" noEditPoints="1" noAdjustHandles="1" noChangeArrowheads="1" noChangeShapeType="1" noTextEdit="1"/>
              </p:cNvSpPr>
              <p:nvPr/>
            </p:nvSpPr>
            <p:spPr>
              <a:xfrm>
                <a:off x="287190" y="3845538"/>
                <a:ext cx="5003670" cy="1754326"/>
              </a:xfrm>
              <a:prstGeom prst="rect">
                <a:avLst/>
              </a:prstGeom>
              <a:blipFill>
                <a:blip r:embed="rId5"/>
                <a:stretch>
                  <a:fillRect l="-974" t="-2083" b="-4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B3BAFEE-00D5-9133-C8F8-AD351191AB88}"/>
                  </a:ext>
                </a:extLst>
              </p:cNvPr>
              <p:cNvSpPr txBox="1"/>
              <p:nvPr/>
            </p:nvSpPr>
            <p:spPr>
              <a:xfrm>
                <a:off x="7611455" y="1811598"/>
                <a:ext cx="660251" cy="334066"/>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𝜎</m:t>
                          </m:r>
                        </m:e>
                      </m:acc>
                    </m:oMath>
                  </m:oMathPara>
                </a14:m>
                <a:endParaRPr lang="en-US" sz="1400" dirty="0"/>
              </a:p>
            </p:txBody>
          </p:sp>
        </mc:Choice>
        <mc:Fallback xmlns="">
          <p:sp>
            <p:nvSpPr>
              <p:cNvPr id="8" name="TextBox 7">
                <a:extLst>
                  <a:ext uri="{FF2B5EF4-FFF2-40B4-BE49-F238E27FC236}">
                    <a16:creationId xmlns:a16="http://schemas.microsoft.com/office/drawing/2014/main" id="{6B3BAFEE-00D5-9133-C8F8-AD351191AB88}"/>
                  </a:ext>
                </a:extLst>
              </p:cNvPr>
              <p:cNvSpPr txBox="1">
                <a:spLocks noRot="1" noChangeAspect="1" noMove="1" noResize="1" noEditPoints="1" noAdjustHandles="1" noChangeArrowheads="1" noChangeShapeType="1" noTextEdit="1"/>
              </p:cNvSpPr>
              <p:nvPr/>
            </p:nvSpPr>
            <p:spPr>
              <a:xfrm>
                <a:off x="7611455" y="1811598"/>
                <a:ext cx="660251" cy="334066"/>
              </a:xfrm>
              <a:prstGeom prst="rect">
                <a:avLst/>
              </a:prstGeom>
              <a:blipFill>
                <a:blip r:embed="rId6"/>
                <a:stretch>
                  <a:fillRect r="-5455" b="-1578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2AF9253-B436-1350-8126-F415B9A29B26}"/>
                  </a:ext>
                </a:extLst>
              </p:cNvPr>
              <p:cNvSpPr txBox="1"/>
              <p:nvPr/>
            </p:nvSpPr>
            <p:spPr>
              <a:xfrm>
                <a:off x="7630625" y="3339207"/>
                <a:ext cx="867547" cy="307777"/>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m:t>
                      </m:r>
                      <m:r>
                        <a:rPr lang="en-US" sz="1400" i="1">
                          <a:latin typeface="Cambria Math" panose="02040503050406030204" pitchFamily="18" charset="0"/>
                        </a:rPr>
                        <m:t>𝜎</m:t>
                      </m:r>
                      <m:r>
                        <a:rPr lang="en-US" sz="1400" i="1">
                          <a:latin typeface="Cambria Math" panose="02040503050406030204" pitchFamily="18" charset="0"/>
                        </a:rPr>
                        <m:t>−</m:t>
                      </m:r>
                      <m:acc>
                        <m:accPr>
                          <m:chr m:val="̂"/>
                          <m:ctrlPr>
                            <a:rPr lang="en-US" sz="1400" i="1">
                              <a:latin typeface="Cambria Math" panose="02040503050406030204" pitchFamily="18" charset="0"/>
                            </a:rPr>
                          </m:ctrlPr>
                        </m:accPr>
                        <m:e>
                          <m:r>
                            <a:rPr lang="en-US" sz="1400" i="1">
                              <a:latin typeface="Cambria Math" panose="02040503050406030204" pitchFamily="18" charset="0"/>
                            </a:rPr>
                            <m:t>𝜎</m:t>
                          </m:r>
                        </m:e>
                      </m:acc>
                      <m:r>
                        <a:rPr lang="en-US" sz="1400" i="1">
                          <a:latin typeface="Cambria Math" panose="02040503050406030204" pitchFamily="18" charset="0"/>
                        </a:rPr>
                        <m:t>|</m:t>
                      </m:r>
                    </m:oMath>
                  </m:oMathPara>
                </a14:m>
                <a:endParaRPr lang="en-US" sz="1400" dirty="0"/>
              </a:p>
            </p:txBody>
          </p:sp>
        </mc:Choice>
        <mc:Fallback xmlns="">
          <p:sp>
            <p:nvSpPr>
              <p:cNvPr id="9" name="TextBox 8">
                <a:extLst>
                  <a:ext uri="{FF2B5EF4-FFF2-40B4-BE49-F238E27FC236}">
                    <a16:creationId xmlns:a16="http://schemas.microsoft.com/office/drawing/2014/main" id="{22AF9253-B436-1350-8126-F415B9A29B26}"/>
                  </a:ext>
                </a:extLst>
              </p:cNvPr>
              <p:cNvSpPr txBox="1">
                <a:spLocks noRot="1" noChangeAspect="1" noMove="1" noResize="1" noEditPoints="1" noAdjustHandles="1" noChangeArrowheads="1" noChangeShapeType="1" noTextEdit="1"/>
              </p:cNvSpPr>
              <p:nvPr/>
            </p:nvSpPr>
            <p:spPr>
              <a:xfrm>
                <a:off x="7630625" y="3339207"/>
                <a:ext cx="867547" cy="307777"/>
              </a:xfrm>
              <a:prstGeom prst="rect">
                <a:avLst/>
              </a:prstGeom>
              <a:blipFill>
                <a:blip r:embed="rId7"/>
                <a:stretch>
                  <a:fillRect r="-6250" b="-7692"/>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956A37D-A490-43EE-1313-FF306F91433F}"/>
                  </a:ext>
                </a:extLst>
              </p:cNvPr>
              <p:cNvSpPr txBox="1"/>
              <p:nvPr/>
            </p:nvSpPr>
            <p:spPr>
              <a:xfrm>
                <a:off x="7607107" y="430733"/>
                <a:ext cx="732445" cy="182880"/>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oMath>
                  </m:oMathPara>
                </a14:m>
                <a:endParaRPr lang="en-US" sz="1400" dirty="0"/>
              </a:p>
            </p:txBody>
          </p:sp>
        </mc:Choice>
        <mc:Fallback xmlns="">
          <p:sp>
            <p:nvSpPr>
              <p:cNvPr id="10" name="TextBox 9">
                <a:extLst>
                  <a:ext uri="{FF2B5EF4-FFF2-40B4-BE49-F238E27FC236}">
                    <a16:creationId xmlns:a16="http://schemas.microsoft.com/office/drawing/2014/main" id="{C956A37D-A490-43EE-1313-FF306F91433F}"/>
                  </a:ext>
                </a:extLst>
              </p:cNvPr>
              <p:cNvSpPr txBox="1">
                <a:spLocks noRot="1" noChangeAspect="1" noMove="1" noResize="1" noEditPoints="1" noAdjustHandles="1" noChangeArrowheads="1" noChangeShapeType="1" noTextEdit="1"/>
              </p:cNvSpPr>
              <p:nvPr/>
            </p:nvSpPr>
            <p:spPr>
              <a:xfrm>
                <a:off x="7607107" y="430733"/>
                <a:ext cx="732445" cy="182880"/>
              </a:xfrm>
              <a:prstGeom prst="rect">
                <a:avLst/>
              </a:prstGeom>
              <a:blipFill>
                <a:blip r:embed="rId8"/>
                <a:stretch>
                  <a:fillRect b="-10312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9A40F0-8078-EC6E-3B8A-60A6D0911306}"/>
                  </a:ext>
                </a:extLst>
              </p:cNvPr>
              <p:cNvSpPr txBox="1"/>
              <p:nvPr/>
            </p:nvSpPr>
            <p:spPr>
              <a:xfrm>
                <a:off x="7575357" y="341139"/>
                <a:ext cx="732445" cy="334066"/>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𝜀</m:t>
                              </m:r>
                            </m:e>
                            <m:sub>
                              <m:r>
                                <a:rPr lang="en-US" sz="1400" i="1">
                                  <a:latin typeface="Cambria Math" panose="02040503050406030204" pitchFamily="18" charset="0"/>
                                </a:rPr>
                                <m:t>𝑟</m:t>
                              </m:r>
                            </m:sub>
                          </m:sSub>
                        </m:e>
                      </m:acc>
                    </m:oMath>
                  </m:oMathPara>
                </a14:m>
                <a:endParaRPr lang="en-US" sz="1400" dirty="0"/>
              </a:p>
            </p:txBody>
          </p:sp>
        </mc:Choice>
        <mc:Fallback xmlns="">
          <p:sp>
            <p:nvSpPr>
              <p:cNvPr id="5" name="TextBox 4">
                <a:extLst>
                  <a:ext uri="{FF2B5EF4-FFF2-40B4-BE49-F238E27FC236}">
                    <a16:creationId xmlns:a16="http://schemas.microsoft.com/office/drawing/2014/main" id="{F99A40F0-8078-EC6E-3B8A-60A6D0911306}"/>
                  </a:ext>
                </a:extLst>
              </p:cNvPr>
              <p:cNvSpPr txBox="1">
                <a:spLocks noRot="1" noChangeAspect="1" noMove="1" noResize="1" noEditPoints="1" noAdjustHandles="1" noChangeArrowheads="1" noChangeShapeType="1" noTextEdit="1"/>
              </p:cNvSpPr>
              <p:nvPr/>
            </p:nvSpPr>
            <p:spPr>
              <a:xfrm>
                <a:off x="7575357" y="341139"/>
                <a:ext cx="732445" cy="334066"/>
              </a:xfrm>
              <a:prstGeom prst="rect">
                <a:avLst/>
              </a:prstGeom>
              <a:blipFill>
                <a:blip r:embed="rId9"/>
                <a:stretch>
                  <a:fillRect r="-15000" b="-16364"/>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C9CCD89B-C1E8-7C67-3694-92E0A8D9ABDA}"/>
              </a:ext>
            </a:extLst>
          </p:cNvPr>
          <p:cNvSpPr txBox="1"/>
          <p:nvPr/>
        </p:nvSpPr>
        <p:spPr>
          <a:xfrm>
            <a:off x="6193558" y="430733"/>
            <a:ext cx="516729" cy="182880"/>
          </a:xfrm>
          <a:prstGeom prst="rect">
            <a:avLst/>
          </a:prstGeom>
          <a:solidFill>
            <a:schemeClr val="bg1"/>
          </a:solidFill>
          <a:ln>
            <a:solidFill>
              <a:schemeClr val="bg1"/>
            </a:solidFill>
          </a:ln>
        </p:spPr>
        <p:txBody>
          <a:bodyPr wrap="square" rtlCol="0">
            <a:spAutoFit/>
          </a:bodyPr>
          <a:lstStyle/>
          <a:p>
            <a:endParaRPr lang="en-US" sz="1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AAE03E9-C90B-017B-2C43-F7B46B2EDBF6}"/>
                  </a:ext>
                </a:extLst>
              </p:cNvPr>
              <p:cNvSpPr txBox="1"/>
              <p:nvPr/>
            </p:nvSpPr>
            <p:spPr>
              <a:xfrm>
                <a:off x="5961384" y="341139"/>
                <a:ext cx="981075" cy="182880"/>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𝜀</m:t>
                          </m:r>
                        </m:e>
                        <m:sub>
                          <m:r>
                            <a:rPr lang="en-US" sz="1400" b="0" i="1" smtClean="0">
                              <a:latin typeface="Cambria Math" panose="02040503050406030204" pitchFamily="18" charset="0"/>
                            </a:rPr>
                            <m:t>𝑟</m:t>
                          </m:r>
                        </m:sub>
                      </m:sSub>
                    </m:oMath>
                  </m:oMathPara>
                </a14:m>
                <a:endParaRPr lang="en-US" sz="1400" dirty="0"/>
              </a:p>
            </p:txBody>
          </p:sp>
        </mc:Choice>
        <mc:Fallback xmlns="">
          <p:sp>
            <p:nvSpPr>
              <p:cNvPr id="3" name="TextBox 2">
                <a:extLst>
                  <a:ext uri="{FF2B5EF4-FFF2-40B4-BE49-F238E27FC236}">
                    <a16:creationId xmlns:a16="http://schemas.microsoft.com/office/drawing/2014/main" id="{6AAE03E9-C90B-017B-2C43-F7B46B2EDBF6}"/>
                  </a:ext>
                </a:extLst>
              </p:cNvPr>
              <p:cNvSpPr txBox="1">
                <a:spLocks noRot="1" noChangeAspect="1" noMove="1" noResize="1" noEditPoints="1" noAdjustHandles="1" noChangeArrowheads="1" noChangeShapeType="1" noTextEdit="1"/>
              </p:cNvSpPr>
              <p:nvPr/>
            </p:nvSpPr>
            <p:spPr>
              <a:xfrm>
                <a:off x="5961384" y="341139"/>
                <a:ext cx="981075" cy="182880"/>
              </a:xfrm>
              <a:prstGeom prst="rect">
                <a:avLst/>
              </a:prstGeom>
              <a:blipFill>
                <a:blip r:embed="rId10"/>
                <a:stretch>
                  <a:fillRect b="-56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FF746CB-C1F5-83C7-C7E0-A5D6DEEA6A58}"/>
                  </a:ext>
                </a:extLst>
              </p:cNvPr>
              <p:cNvSpPr txBox="1"/>
              <p:nvPr/>
            </p:nvSpPr>
            <p:spPr>
              <a:xfrm>
                <a:off x="5893049" y="3344664"/>
                <a:ext cx="1263328"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𝜀</m:t>
                          </m:r>
                        </m:e>
                        <m:sub>
                          <m:r>
                            <a:rPr lang="en-US" sz="1400" i="1">
                              <a:latin typeface="Cambria Math" panose="02040503050406030204" pitchFamily="18" charset="0"/>
                            </a:rPr>
                            <m:t>𝑟</m:t>
                          </m:r>
                        </m:sub>
                      </m:sSub>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𝜀</m:t>
                              </m:r>
                            </m:e>
                            <m:sub>
                              <m:r>
                                <a:rPr lang="en-US" sz="1400" i="1">
                                  <a:latin typeface="Cambria Math" panose="02040503050406030204" pitchFamily="18" charset="0"/>
                                </a:rPr>
                                <m:t>𝑟</m:t>
                              </m:r>
                            </m:sub>
                          </m:sSub>
                          <m:r>
                            <m:rPr>
                              <m:nor/>
                            </m:rPr>
                            <a:rPr lang="en-US" sz="1400" dirty="0"/>
                            <m:t> </m:t>
                          </m:r>
                        </m:e>
                      </m:acc>
                      <m:r>
                        <a:rPr lang="en-US" sz="1400" b="0" i="1" smtClean="0">
                          <a:latin typeface="Cambria Math" panose="02040503050406030204" pitchFamily="18" charset="0"/>
                        </a:rPr>
                        <m:t>|</m:t>
                      </m:r>
                    </m:oMath>
                  </m:oMathPara>
                </a14:m>
                <a:endParaRPr lang="en-US" sz="1400" dirty="0"/>
              </a:p>
            </p:txBody>
          </p:sp>
        </mc:Choice>
        <mc:Fallback xmlns="">
          <p:sp>
            <p:nvSpPr>
              <p:cNvPr id="14" name="TextBox 13">
                <a:extLst>
                  <a:ext uri="{FF2B5EF4-FFF2-40B4-BE49-F238E27FC236}">
                    <a16:creationId xmlns:a16="http://schemas.microsoft.com/office/drawing/2014/main" id="{BFF746CB-C1F5-83C7-C7E0-A5D6DEEA6A58}"/>
                  </a:ext>
                </a:extLst>
              </p:cNvPr>
              <p:cNvSpPr txBox="1">
                <a:spLocks noRot="1" noChangeAspect="1" noMove="1" noResize="1" noEditPoints="1" noAdjustHandles="1" noChangeArrowheads="1" noChangeShapeType="1" noTextEdit="1"/>
              </p:cNvSpPr>
              <p:nvPr/>
            </p:nvSpPr>
            <p:spPr>
              <a:xfrm>
                <a:off x="5893049" y="3344664"/>
                <a:ext cx="1263328" cy="307777"/>
              </a:xfrm>
              <a:prstGeom prst="rect">
                <a:avLst/>
              </a:prstGeom>
              <a:blipFill>
                <a:blip r:embed="rId11"/>
                <a:stretch>
                  <a:fillRect r="-17703" b="-7692"/>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76BC744-42DB-2FB8-754A-E8B2F10D32E6}"/>
                  </a:ext>
                </a:extLst>
              </p:cNvPr>
              <p:cNvSpPr txBox="1"/>
              <p:nvPr/>
            </p:nvSpPr>
            <p:spPr>
              <a:xfrm>
                <a:off x="6121795" y="1824149"/>
                <a:ext cx="660251" cy="334066"/>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r>
                        <a:rPr lang="en-US" sz="1400" b="0" i="1" smtClean="0">
                          <a:latin typeface="Cambria Math" panose="02040503050406030204" pitchFamily="18" charset="0"/>
                        </a:rPr>
                        <m:t>𝜎</m:t>
                      </m:r>
                    </m:oMath>
                  </m:oMathPara>
                </a14:m>
                <a:endParaRPr lang="en-US" sz="1400" dirty="0"/>
              </a:p>
            </p:txBody>
          </p:sp>
        </mc:Choice>
        <mc:Fallback xmlns="">
          <p:sp>
            <p:nvSpPr>
              <p:cNvPr id="15" name="TextBox 14">
                <a:extLst>
                  <a:ext uri="{FF2B5EF4-FFF2-40B4-BE49-F238E27FC236}">
                    <a16:creationId xmlns:a16="http://schemas.microsoft.com/office/drawing/2014/main" id="{E76BC744-42DB-2FB8-754A-E8B2F10D32E6}"/>
                  </a:ext>
                </a:extLst>
              </p:cNvPr>
              <p:cNvSpPr txBox="1">
                <a:spLocks noRot="1" noChangeAspect="1" noMove="1" noResize="1" noEditPoints="1" noAdjustHandles="1" noChangeArrowheads="1" noChangeShapeType="1" noTextEdit="1"/>
              </p:cNvSpPr>
              <p:nvPr/>
            </p:nvSpPr>
            <p:spPr>
              <a:xfrm>
                <a:off x="6121795" y="1824149"/>
                <a:ext cx="660251" cy="334066"/>
              </a:xfrm>
              <a:prstGeom prst="rect">
                <a:avLst/>
              </a:prstGeom>
              <a:blipFill>
                <a:blip r:embed="rId12"/>
                <a:stretch>
                  <a:fillRect b="-1578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678FD2A-C86B-4C3E-C1E9-1A37BFFA8753}"/>
                  </a:ext>
                </a:extLst>
              </p:cNvPr>
              <p:cNvSpPr txBox="1"/>
              <p:nvPr/>
            </p:nvSpPr>
            <p:spPr>
              <a:xfrm>
                <a:off x="7384987" y="4928383"/>
                <a:ext cx="1405182"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latin typeface="Cambria Math" panose="02040503050406030204" pitchFamily="18" charset="0"/>
                        </a:rPr>
                        <m:t>log</m:t>
                      </m:r>
                      <m:r>
                        <a:rPr lang="en-US" sz="1400" i="1">
                          <a:latin typeface="Cambria Math" panose="02040503050406030204" pitchFamily="18" charset="0"/>
                        </a:rPr>
                        <m:t>⁡(1+</m:t>
                      </m:r>
                      <m:r>
                        <a:rPr lang="en-US" sz="1400" b="0" i="1" smtClean="0">
                          <a:latin typeface="Cambria Math" panose="02040503050406030204" pitchFamily="18" charset="0"/>
                        </a:rPr>
                        <m:t>|</m:t>
                      </m:r>
                      <m:r>
                        <a:rPr lang="en-US" sz="1400" b="0" i="1" smtClean="0">
                          <a:latin typeface="Cambria Math" panose="02040503050406030204" pitchFamily="18" charset="0"/>
                        </a:rPr>
                        <m:t>ℑ</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𝑅</m:t>
                          </m:r>
                        </m:e>
                      </m:d>
                      <m:r>
                        <a:rPr lang="en-US" sz="1400" b="0" i="1" smtClean="0">
                          <a:latin typeface="Cambria Math" panose="02040503050406030204" pitchFamily="18" charset="0"/>
                        </a:rPr>
                        <m:t>|</m:t>
                      </m:r>
                      <m:r>
                        <a:rPr lang="en-US" sz="1400" i="1">
                          <a:latin typeface="Cambria Math" panose="02040503050406030204" pitchFamily="18" charset="0"/>
                        </a:rPr>
                        <m:t>)</m:t>
                      </m:r>
                    </m:oMath>
                  </m:oMathPara>
                </a14:m>
                <a:endParaRPr lang="en-US" sz="1400" dirty="0"/>
              </a:p>
            </p:txBody>
          </p:sp>
        </mc:Choice>
        <mc:Fallback xmlns="">
          <p:sp>
            <p:nvSpPr>
              <p:cNvPr id="17" name="TextBox 16">
                <a:extLst>
                  <a:ext uri="{FF2B5EF4-FFF2-40B4-BE49-F238E27FC236}">
                    <a16:creationId xmlns:a16="http://schemas.microsoft.com/office/drawing/2014/main" id="{C678FD2A-C86B-4C3E-C1E9-1A37BFFA8753}"/>
                  </a:ext>
                </a:extLst>
              </p:cNvPr>
              <p:cNvSpPr txBox="1">
                <a:spLocks noRot="1" noChangeAspect="1" noMove="1" noResize="1" noEditPoints="1" noAdjustHandles="1" noChangeArrowheads="1" noChangeShapeType="1" noTextEdit="1"/>
              </p:cNvSpPr>
              <p:nvPr/>
            </p:nvSpPr>
            <p:spPr>
              <a:xfrm>
                <a:off x="7384987" y="4928383"/>
                <a:ext cx="1405182" cy="307777"/>
              </a:xfrm>
              <a:prstGeom prst="rect">
                <a:avLst/>
              </a:prstGeom>
              <a:blipFill>
                <a:blip r:embed="rId13"/>
                <a:stretch>
                  <a:fillRect b="-5660"/>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816B741-F0BD-792E-2AB8-408198A95EDE}"/>
                  </a:ext>
                </a:extLst>
              </p:cNvPr>
              <p:cNvSpPr txBox="1"/>
              <p:nvPr/>
            </p:nvSpPr>
            <p:spPr>
              <a:xfrm>
                <a:off x="5795238" y="4936785"/>
                <a:ext cx="1405182" cy="307777"/>
              </a:xfrm>
              <a:prstGeom prst="rect">
                <a:avLst/>
              </a:prstGeom>
              <a:solidFill>
                <a:schemeClr val="bg1"/>
              </a:solidFill>
              <a:ln>
                <a:solidFill>
                  <a:schemeClr val="bg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latin typeface="Cambria Math" panose="02040503050406030204" pitchFamily="18" charset="0"/>
                        </a:rPr>
                        <m:t>log</m:t>
                      </m:r>
                      <m:r>
                        <a:rPr lang="en-US" sz="1400" i="1">
                          <a:latin typeface="Cambria Math" panose="02040503050406030204" pitchFamily="18" charset="0"/>
                        </a:rPr>
                        <m:t>⁡(1+</m:t>
                      </m:r>
                      <m:r>
                        <a:rPr lang="en-US" sz="1400" b="0" i="1" smtClean="0">
                          <a:latin typeface="Cambria Math" panose="02040503050406030204" pitchFamily="18" charset="0"/>
                        </a:rPr>
                        <m:t>|</m:t>
                      </m:r>
                      <m:r>
                        <a:rPr lang="en-US" sz="1400" b="0" i="1" smtClean="0">
                          <a:latin typeface="Cambria Math" panose="02040503050406030204" pitchFamily="18" charset="0"/>
                        </a:rPr>
                        <m:t>ℜ</m:t>
                      </m:r>
                      <m:d>
                        <m:dPr>
                          <m:begChr m:val="{"/>
                          <m:endChr m:val="}"/>
                          <m:ctrlPr>
                            <a:rPr lang="en-US" sz="1400" i="1">
                              <a:latin typeface="Cambria Math" panose="02040503050406030204" pitchFamily="18" charset="0"/>
                            </a:rPr>
                          </m:ctrlPr>
                        </m:dPr>
                        <m:e>
                          <m:r>
                            <a:rPr lang="en-US" sz="1400" b="0" i="1" smtClean="0">
                              <a:latin typeface="Cambria Math" panose="02040503050406030204" pitchFamily="18" charset="0"/>
                            </a:rPr>
                            <m:t>𝑅</m:t>
                          </m:r>
                        </m:e>
                      </m:d>
                      <m:r>
                        <a:rPr lang="en-US" sz="1400" b="0" i="1" smtClean="0">
                          <a:latin typeface="Cambria Math" panose="02040503050406030204" pitchFamily="18" charset="0"/>
                        </a:rPr>
                        <m:t>|</m:t>
                      </m:r>
                      <m:r>
                        <a:rPr lang="en-US" sz="1400" i="1">
                          <a:latin typeface="Cambria Math" panose="02040503050406030204" pitchFamily="18" charset="0"/>
                        </a:rPr>
                        <m:t>)</m:t>
                      </m:r>
                    </m:oMath>
                  </m:oMathPara>
                </a14:m>
                <a:endParaRPr lang="en-US" sz="1400" dirty="0"/>
              </a:p>
            </p:txBody>
          </p:sp>
        </mc:Choice>
        <mc:Fallback xmlns="">
          <p:sp>
            <p:nvSpPr>
              <p:cNvPr id="18" name="TextBox 17">
                <a:extLst>
                  <a:ext uri="{FF2B5EF4-FFF2-40B4-BE49-F238E27FC236}">
                    <a16:creationId xmlns:a16="http://schemas.microsoft.com/office/drawing/2014/main" id="{8816B741-F0BD-792E-2AB8-408198A95EDE}"/>
                  </a:ext>
                </a:extLst>
              </p:cNvPr>
              <p:cNvSpPr txBox="1">
                <a:spLocks noRot="1" noChangeAspect="1" noMove="1" noResize="1" noEditPoints="1" noAdjustHandles="1" noChangeArrowheads="1" noChangeShapeType="1" noTextEdit="1"/>
              </p:cNvSpPr>
              <p:nvPr/>
            </p:nvSpPr>
            <p:spPr>
              <a:xfrm>
                <a:off x="5795238" y="4936785"/>
                <a:ext cx="1405182" cy="307777"/>
              </a:xfrm>
              <a:prstGeom prst="rect">
                <a:avLst/>
              </a:prstGeom>
              <a:blipFill>
                <a:blip r:embed="rId14"/>
                <a:stretch>
                  <a:fillRect b="-7692"/>
                </a:stretch>
              </a:blipFill>
              <a:ln>
                <a:solidFill>
                  <a:schemeClr val="bg1"/>
                </a:solidFill>
              </a:ln>
            </p:spPr>
            <p:txBody>
              <a:bodyPr/>
              <a:lstStyle/>
              <a:p>
                <a:r>
                  <a:rPr lang="en-US">
                    <a:noFill/>
                  </a:rPr>
                  <a:t> </a:t>
                </a:r>
              </a:p>
            </p:txBody>
          </p:sp>
        </mc:Fallback>
      </mc:AlternateContent>
      <p:sp>
        <p:nvSpPr>
          <p:cNvPr id="20" name="Google Shape;872;p79">
            <a:extLst>
              <a:ext uri="{FF2B5EF4-FFF2-40B4-BE49-F238E27FC236}">
                <a16:creationId xmlns:a16="http://schemas.microsoft.com/office/drawing/2014/main" id="{DBEFF633-733C-07FE-23A1-6B8AB40BC344}"/>
              </a:ext>
            </a:extLst>
          </p:cNvPr>
          <p:cNvSpPr txBox="1"/>
          <p:nvPr/>
        </p:nvSpPr>
        <p:spPr>
          <a:xfrm>
            <a:off x="2891410" y="420597"/>
            <a:ext cx="1188720" cy="274320"/>
          </a:xfrm>
          <a:prstGeom prst="rect">
            <a:avLst/>
          </a:prstGeom>
          <a:solidFill>
            <a:schemeClr val="bg1"/>
          </a:solid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dirty="0">
              <a:solidFill>
                <a:schemeClr val="tx1"/>
              </a:solidFill>
            </a:endParaRPr>
          </a:p>
        </p:txBody>
      </p:sp>
      <mc:AlternateContent xmlns:mc="http://schemas.openxmlformats.org/markup-compatibility/2006" xmlns:a14="http://schemas.microsoft.com/office/drawing/2010/main">
        <mc:Choice Requires="a14">
          <p:sp>
            <p:nvSpPr>
              <p:cNvPr id="19" name="Google Shape;872;p79">
                <a:extLst>
                  <a:ext uri="{FF2B5EF4-FFF2-40B4-BE49-F238E27FC236}">
                    <a16:creationId xmlns:a16="http://schemas.microsoft.com/office/drawing/2014/main" id="{2B353A40-F0DE-EF77-F367-3C7BA8A692C7}"/>
                  </a:ext>
                </a:extLst>
              </p:cNvPr>
              <p:cNvSpPr txBox="1"/>
              <p:nvPr/>
            </p:nvSpPr>
            <p:spPr>
              <a:xfrm>
                <a:off x="2950443" y="374877"/>
                <a:ext cx="1110637" cy="182880"/>
              </a:xfrm>
              <a:prstGeom prst="rect">
                <a:avLst/>
              </a:prstGeom>
              <a:solidFill>
                <a:schemeClr val="bg1"/>
              </a:solid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m:t>
                          </m:r>
                          <m:r>
                            <m:rPr>
                              <m:sty m:val="p"/>
                            </m:rPr>
                            <a:rPr lang="en-US" b="0" i="1" smtClean="0">
                              <a:solidFill>
                                <a:schemeClr val="tx1"/>
                              </a:solidFill>
                              <a:latin typeface="Cambria Math" panose="02040503050406030204" pitchFamily="18" charset="0"/>
                            </a:rPr>
                            <m:t>B</m:t>
                          </m:r>
                        </m:e>
                        <m:sub>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m:t>
                          </m:r>
                        </m:sup>
                      </m:sSubSup>
                      <m:r>
                        <a:rPr lang="en-US" b="0" i="1" smtClean="0">
                          <a:solidFill>
                            <a:schemeClr val="tx1"/>
                          </a:solidFill>
                          <a:latin typeface="Cambria Math" panose="02040503050406030204" pitchFamily="18" charset="0"/>
                        </a:rPr>
                        <m:t>|</m:t>
                      </m:r>
                    </m:oMath>
                  </m:oMathPara>
                </a14:m>
                <a:endParaRPr dirty="0">
                  <a:solidFill>
                    <a:schemeClr val="tx1"/>
                  </a:solidFill>
                </a:endParaRPr>
              </a:p>
            </p:txBody>
          </p:sp>
        </mc:Choice>
        <mc:Fallback xmlns="">
          <p:sp>
            <p:nvSpPr>
              <p:cNvPr id="19" name="Google Shape;872;p79">
                <a:extLst>
                  <a:ext uri="{FF2B5EF4-FFF2-40B4-BE49-F238E27FC236}">
                    <a16:creationId xmlns:a16="http://schemas.microsoft.com/office/drawing/2014/main" id="{2B353A40-F0DE-EF77-F367-3C7BA8A692C7}"/>
                  </a:ext>
                </a:extLst>
              </p:cNvPr>
              <p:cNvSpPr txBox="1">
                <a:spLocks noRot="1" noChangeAspect="1" noMove="1" noResize="1" noEditPoints="1" noAdjustHandles="1" noChangeArrowheads="1" noChangeShapeType="1" noTextEdit="1"/>
              </p:cNvSpPr>
              <p:nvPr/>
            </p:nvSpPr>
            <p:spPr>
              <a:xfrm>
                <a:off x="2950443" y="374877"/>
                <a:ext cx="1110637" cy="182880"/>
              </a:xfrm>
              <a:prstGeom prst="rect">
                <a:avLst/>
              </a:prstGeom>
              <a:blipFill>
                <a:blip r:embed="rId15"/>
                <a:stretch>
                  <a:fillRect b="-110000"/>
                </a:stretch>
              </a:blipFill>
              <a:ln>
                <a:noFill/>
              </a:ln>
            </p:spPr>
            <p:txBody>
              <a:bodyPr/>
              <a:lstStyle/>
              <a:p>
                <a:r>
                  <a:rPr lang="en-US">
                    <a:noFill/>
                  </a:rPr>
                  <a:t> </a:t>
                </a:r>
              </a:p>
            </p:txBody>
          </p:sp>
        </mc:Fallback>
      </mc:AlternateContent>
      <p:sp>
        <p:nvSpPr>
          <p:cNvPr id="21" name="Google Shape;872;p79">
            <a:extLst>
              <a:ext uri="{FF2B5EF4-FFF2-40B4-BE49-F238E27FC236}">
                <a16:creationId xmlns:a16="http://schemas.microsoft.com/office/drawing/2014/main" id="{5CC6EAF1-DBF1-E38E-2BCD-D2FCE21C139F}"/>
              </a:ext>
            </a:extLst>
          </p:cNvPr>
          <p:cNvSpPr txBox="1"/>
          <p:nvPr/>
        </p:nvSpPr>
        <p:spPr>
          <a:xfrm>
            <a:off x="4415044" y="424032"/>
            <a:ext cx="1188720" cy="274320"/>
          </a:xfrm>
          <a:prstGeom prst="rect">
            <a:avLst/>
          </a:prstGeom>
          <a:solidFill>
            <a:schemeClr val="bg1"/>
          </a:solid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dirty="0">
              <a:solidFill>
                <a:schemeClr val="tx1"/>
              </a:solidFill>
            </a:endParaRPr>
          </a:p>
        </p:txBody>
      </p:sp>
      <p:sp>
        <p:nvSpPr>
          <p:cNvPr id="22" name="Google Shape;872;p79">
            <a:extLst>
              <a:ext uri="{FF2B5EF4-FFF2-40B4-BE49-F238E27FC236}">
                <a16:creationId xmlns:a16="http://schemas.microsoft.com/office/drawing/2014/main" id="{92F964E6-1C28-9961-CDEC-717A96CB3011}"/>
              </a:ext>
            </a:extLst>
          </p:cNvPr>
          <p:cNvSpPr txBox="1"/>
          <p:nvPr/>
        </p:nvSpPr>
        <p:spPr>
          <a:xfrm>
            <a:off x="4383105" y="1909295"/>
            <a:ext cx="1188720" cy="274320"/>
          </a:xfrm>
          <a:prstGeom prst="rect">
            <a:avLst/>
          </a:prstGeom>
          <a:solidFill>
            <a:schemeClr val="bg1"/>
          </a:solid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dirty="0">
              <a:solidFill>
                <a:schemeClr val="tx1"/>
              </a:solidFill>
            </a:endParaRPr>
          </a:p>
        </p:txBody>
      </p:sp>
      <p:sp>
        <p:nvSpPr>
          <p:cNvPr id="23" name="Google Shape;872;p79">
            <a:extLst>
              <a:ext uri="{FF2B5EF4-FFF2-40B4-BE49-F238E27FC236}">
                <a16:creationId xmlns:a16="http://schemas.microsoft.com/office/drawing/2014/main" id="{DE4CFBD3-ECB4-C2F0-2FBC-47D2EB48E502}"/>
              </a:ext>
            </a:extLst>
          </p:cNvPr>
          <p:cNvSpPr txBox="1"/>
          <p:nvPr/>
        </p:nvSpPr>
        <p:spPr>
          <a:xfrm>
            <a:off x="2878710" y="1932418"/>
            <a:ext cx="1188720" cy="274320"/>
          </a:xfrm>
          <a:prstGeom prst="rect">
            <a:avLst/>
          </a:prstGeom>
          <a:solidFill>
            <a:schemeClr val="bg1"/>
          </a:solid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dirty="0">
              <a:solidFill>
                <a:schemeClr val="tx1"/>
              </a:solidFill>
            </a:endParaRPr>
          </a:p>
        </p:txBody>
      </p:sp>
      <mc:AlternateContent xmlns:mc="http://schemas.openxmlformats.org/markup-compatibility/2006" xmlns:a14="http://schemas.microsoft.com/office/drawing/2010/main">
        <mc:Choice Requires="a14">
          <p:sp>
            <p:nvSpPr>
              <p:cNvPr id="24" name="Google Shape;872;p79">
                <a:extLst>
                  <a:ext uri="{FF2B5EF4-FFF2-40B4-BE49-F238E27FC236}">
                    <a16:creationId xmlns:a16="http://schemas.microsoft.com/office/drawing/2014/main" id="{1FC172BA-5CEB-23E9-48C6-D63D48235483}"/>
                  </a:ext>
                </a:extLst>
              </p:cNvPr>
              <p:cNvSpPr txBox="1"/>
              <p:nvPr/>
            </p:nvSpPr>
            <p:spPr>
              <a:xfrm>
                <a:off x="4461748" y="342737"/>
                <a:ext cx="1110637" cy="43682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14:m>
                  <m:oMathPara xmlns:m="http://schemas.openxmlformats.org/officeDocument/2006/math">
                    <m:oMathParaPr>
                      <m:jc m:val="centerGroup"/>
                    </m:oMathParaPr>
                    <m:oMath xmlns:m="http://schemas.openxmlformats.org/officeDocument/2006/math">
                      <m:acc>
                        <m:accPr>
                          <m:chr m:val="̂"/>
                          <m:ctrlPr>
                            <a:rPr lang="en-US" b="0" i="1" smtClean="0">
                              <a:solidFill>
                                <a:schemeClr val="tx1"/>
                              </a:solidFill>
                              <a:latin typeface="Cambria Math" panose="02040503050406030204" pitchFamily="18" charset="0"/>
                            </a:rPr>
                          </m:ctrlPr>
                        </m:accPr>
                        <m:e>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m:t>
                              </m:r>
                              <m:r>
                                <m:rPr>
                                  <m:sty m:val="p"/>
                                </m:rPr>
                                <a:rPr lang="en-US" i="1">
                                  <a:solidFill>
                                    <a:schemeClr val="tx1"/>
                                  </a:solidFill>
                                  <a:latin typeface="Cambria Math" panose="02040503050406030204" pitchFamily="18" charset="0"/>
                                </a:rPr>
                                <m:t>B</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m:t>
                              </m:r>
                            </m:sup>
                          </m:sSubSup>
                          <m:r>
                            <a:rPr lang="en-US" i="1">
                              <a:solidFill>
                                <a:schemeClr val="tx1"/>
                              </a:solidFill>
                              <a:latin typeface="Cambria Math" panose="02040503050406030204" pitchFamily="18" charset="0"/>
                            </a:rPr>
                            <m:t>|</m:t>
                          </m:r>
                        </m:e>
                      </m:acc>
                    </m:oMath>
                  </m:oMathPara>
                </a14:m>
                <a:endParaRPr dirty="0">
                  <a:solidFill>
                    <a:schemeClr val="tx1"/>
                  </a:solidFill>
                </a:endParaRPr>
              </a:p>
            </p:txBody>
          </p:sp>
        </mc:Choice>
        <mc:Fallback xmlns="">
          <p:sp>
            <p:nvSpPr>
              <p:cNvPr id="24" name="Google Shape;872;p79">
                <a:extLst>
                  <a:ext uri="{FF2B5EF4-FFF2-40B4-BE49-F238E27FC236}">
                    <a16:creationId xmlns:a16="http://schemas.microsoft.com/office/drawing/2014/main" id="{1FC172BA-5CEB-23E9-48C6-D63D48235483}"/>
                  </a:ext>
                </a:extLst>
              </p:cNvPr>
              <p:cNvSpPr txBox="1">
                <a:spLocks noRot="1" noChangeAspect="1" noMove="1" noResize="1" noEditPoints="1" noAdjustHandles="1" noChangeArrowheads="1" noChangeShapeType="1" noTextEdit="1"/>
              </p:cNvSpPr>
              <p:nvPr/>
            </p:nvSpPr>
            <p:spPr>
              <a:xfrm>
                <a:off x="4461748" y="342737"/>
                <a:ext cx="1110637" cy="436821"/>
              </a:xfrm>
              <a:prstGeom prst="rect">
                <a:avLst/>
              </a:prstGeom>
              <a:blipFill>
                <a:blip r:embed="rId16"/>
                <a:stretch>
                  <a:fillRect r="-2252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5B8C25B-B326-FF20-717D-43D74A0CE0B5}"/>
                  </a:ext>
                </a:extLst>
              </p:cNvPr>
              <p:cNvSpPr txBox="1"/>
              <p:nvPr/>
            </p:nvSpPr>
            <p:spPr>
              <a:xfrm>
                <a:off x="3166739" y="1875838"/>
                <a:ext cx="660251" cy="307777"/>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𝜙</m:t>
                      </m:r>
                    </m:oMath>
                  </m:oMathPara>
                </a14:m>
                <a:endParaRPr lang="en-US" sz="1400" dirty="0"/>
              </a:p>
            </p:txBody>
          </p:sp>
        </mc:Choice>
        <mc:Fallback xmlns="">
          <p:sp>
            <p:nvSpPr>
              <p:cNvPr id="25" name="TextBox 24">
                <a:extLst>
                  <a:ext uri="{FF2B5EF4-FFF2-40B4-BE49-F238E27FC236}">
                    <a16:creationId xmlns:a16="http://schemas.microsoft.com/office/drawing/2014/main" id="{45B8C25B-B326-FF20-717D-43D74A0CE0B5}"/>
                  </a:ext>
                </a:extLst>
              </p:cNvPr>
              <p:cNvSpPr txBox="1">
                <a:spLocks noRot="1" noChangeAspect="1" noMove="1" noResize="1" noEditPoints="1" noAdjustHandles="1" noChangeArrowheads="1" noChangeShapeType="1" noTextEdit="1"/>
              </p:cNvSpPr>
              <p:nvPr/>
            </p:nvSpPr>
            <p:spPr>
              <a:xfrm>
                <a:off x="3166739" y="1875838"/>
                <a:ext cx="660251" cy="307777"/>
              </a:xfrm>
              <a:prstGeom prst="rect">
                <a:avLst/>
              </a:prstGeom>
              <a:blipFill>
                <a:blip r:embed="rId17"/>
                <a:stretch>
                  <a:fillRect b="-7692"/>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41B4DB4-7F41-6E89-C3DB-25EFBC66B7FE}"/>
                  </a:ext>
                </a:extLst>
              </p:cNvPr>
              <p:cNvSpPr txBox="1"/>
              <p:nvPr/>
            </p:nvSpPr>
            <p:spPr>
              <a:xfrm>
                <a:off x="4699407" y="1843793"/>
                <a:ext cx="660251" cy="319383"/>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𝜙</m:t>
                          </m:r>
                        </m:e>
                      </m:acc>
                    </m:oMath>
                  </m:oMathPara>
                </a14:m>
                <a:endParaRPr lang="en-US" sz="1400" dirty="0"/>
              </a:p>
            </p:txBody>
          </p:sp>
        </mc:Choice>
        <mc:Fallback xmlns="">
          <p:sp>
            <p:nvSpPr>
              <p:cNvPr id="27" name="TextBox 26">
                <a:extLst>
                  <a:ext uri="{FF2B5EF4-FFF2-40B4-BE49-F238E27FC236}">
                    <a16:creationId xmlns:a16="http://schemas.microsoft.com/office/drawing/2014/main" id="{241B4DB4-7F41-6E89-C3DB-25EFBC66B7FE}"/>
                  </a:ext>
                </a:extLst>
              </p:cNvPr>
              <p:cNvSpPr txBox="1">
                <a:spLocks noRot="1" noChangeAspect="1" noMove="1" noResize="1" noEditPoints="1" noAdjustHandles="1" noChangeArrowheads="1" noChangeShapeType="1" noTextEdit="1"/>
              </p:cNvSpPr>
              <p:nvPr/>
            </p:nvSpPr>
            <p:spPr>
              <a:xfrm>
                <a:off x="4699407" y="1843793"/>
                <a:ext cx="660251" cy="319383"/>
              </a:xfrm>
              <a:prstGeom prst="rect">
                <a:avLst/>
              </a:prstGeom>
              <a:blipFill>
                <a:blip r:embed="rId18"/>
                <a:stretch>
                  <a:fillRect b="-5455"/>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0618BB6-3F13-D12D-9EB1-1BE43E8BDC47}"/>
                  </a:ext>
                </a:extLst>
              </p:cNvPr>
              <p:cNvSpPr txBox="1"/>
              <p:nvPr/>
            </p:nvSpPr>
            <p:spPr>
              <a:xfrm>
                <a:off x="297459" y="903630"/>
                <a:ext cx="2491566" cy="646331"/>
              </a:xfrm>
              <a:prstGeom prst="rect">
                <a:avLst/>
              </a:prstGeom>
              <a:solidFill>
                <a:schemeClr val="bg1"/>
              </a:solidFill>
            </p:spPr>
            <p:txBody>
              <a:bodyPr wrap="square" rtlCol="0">
                <a:spAutoFit/>
              </a:bodyPr>
              <a:lstStyle/>
              <a:p>
                <a:r>
                  <a:rPr lang="en-US" b="0" dirty="0"/>
                  <a:t>Peak Normalized Absolute Error (</a:t>
                </a:r>
                <a14:m>
                  <m:oMath xmlns:m="http://schemas.openxmlformats.org/officeDocument/2006/math">
                    <m:r>
                      <a:rPr lang="en-US" b="0" i="1" smtClean="0">
                        <a:latin typeface="Cambria Math" panose="02040503050406030204" pitchFamily="18" charset="0"/>
                      </a:rPr>
                      <m:t>𝑃𝑁𝐴𝐸</m:t>
                    </m:r>
                  </m:oMath>
                </a14:m>
                <a:r>
                  <a:rPr lang="en-US" dirty="0"/>
                  <a:t>)</a:t>
                </a:r>
              </a:p>
            </p:txBody>
          </p:sp>
        </mc:Choice>
        <mc:Fallback xmlns="">
          <p:sp>
            <p:nvSpPr>
              <p:cNvPr id="4" name="TextBox 3">
                <a:extLst>
                  <a:ext uri="{FF2B5EF4-FFF2-40B4-BE49-F238E27FC236}">
                    <a16:creationId xmlns:a16="http://schemas.microsoft.com/office/drawing/2014/main" id="{00618BB6-3F13-D12D-9EB1-1BE43E8BDC47}"/>
                  </a:ext>
                </a:extLst>
              </p:cNvPr>
              <p:cNvSpPr txBox="1">
                <a:spLocks noRot="1" noChangeAspect="1" noMove="1" noResize="1" noEditPoints="1" noAdjustHandles="1" noChangeArrowheads="1" noChangeShapeType="1" noTextEdit="1"/>
              </p:cNvSpPr>
              <p:nvPr/>
            </p:nvSpPr>
            <p:spPr>
              <a:xfrm>
                <a:off x="297459" y="903630"/>
                <a:ext cx="2491566" cy="646331"/>
              </a:xfrm>
              <a:prstGeom prst="rect">
                <a:avLst/>
              </a:prstGeom>
              <a:blipFill>
                <a:blip r:embed="rId19"/>
                <a:stretch>
                  <a:fillRect l="-2200" t="-4717" r="-978" b="-14151"/>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21FF66CF-DFA3-1E46-B106-9D8665DBAF28}"/>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r="39873"/>
          <a:stretch/>
        </p:blipFill>
        <p:spPr bwMode="auto">
          <a:xfrm>
            <a:off x="74400" y="1795160"/>
            <a:ext cx="2714625" cy="1209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890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6CE1-22E8-370B-3323-52225DF08D3A}"/>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C2D09F3E-181F-DBE5-D9C3-4613D766A83B}"/>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Shape 661">
            <a:extLst>
              <a:ext uri="{FF2B5EF4-FFF2-40B4-BE49-F238E27FC236}">
                <a16:creationId xmlns:a16="http://schemas.microsoft.com/office/drawing/2014/main" id="{4C139B41-B54A-2426-D37B-218019BE7430}"/>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ea typeface="Calibri" panose="020F0502020204030204" pitchFamily="34" charset="0"/>
                <a:cs typeface="Calibri" panose="020F0502020204030204" pitchFamily="34" charset="0"/>
                <a:sym typeface="Arial"/>
              </a:rPr>
              <a:t>MR-EPT - PIFON Comparison</a:t>
            </a:r>
            <a:endParaRPr lang="en-US" altLang="zh-CN" sz="2000" kern="0" dirty="0">
              <a:solidFill>
                <a:schemeClr val="bg1"/>
              </a:solidFill>
              <a:latin typeface="+mj-lt"/>
              <a:ea typeface="Calibri" panose="020F0502020204030204" pitchFamily="34" charset="0"/>
              <a:cs typeface="Calibri" panose="020F0502020204030204" pitchFamily="34" charset="0"/>
              <a:sym typeface="Arial"/>
            </a:endParaRPr>
          </a:p>
        </p:txBody>
      </p:sp>
      <p:sp>
        <p:nvSpPr>
          <p:cNvPr id="4" name="TextBox 3">
            <a:extLst>
              <a:ext uri="{FF2B5EF4-FFF2-40B4-BE49-F238E27FC236}">
                <a16:creationId xmlns:a16="http://schemas.microsoft.com/office/drawing/2014/main" id="{96EC09D5-ACF4-F24F-D9D3-B61322A390A6}"/>
              </a:ext>
            </a:extLst>
          </p:cNvPr>
          <p:cNvSpPr txBox="1"/>
          <p:nvPr/>
        </p:nvSpPr>
        <p:spPr>
          <a:xfrm>
            <a:off x="644603" y="5442490"/>
            <a:ext cx="7854791" cy="590931"/>
          </a:xfrm>
          <a:prstGeom prst="rect">
            <a:avLst/>
          </a:prstGeom>
          <a:noFill/>
        </p:spPr>
        <p:txBody>
          <a:bodyPr wrap="square">
            <a:spAutoFit/>
          </a:bodyPr>
          <a:lstStyle/>
          <a:p>
            <a:pPr algn="ctr">
              <a:lnSpc>
                <a:spcPct val="90000"/>
              </a:lnSpc>
              <a:spcAft>
                <a:spcPts val="600"/>
              </a:spcAft>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Compariso</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n to Original PIFON using the Simplified Helmholtz Equation work from our collaborators at New York University, Department of Radiology</a:t>
            </a: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pic>
        <p:nvPicPr>
          <p:cNvPr id="15362" name="Picture 2">
            <a:extLst>
              <a:ext uri="{FF2B5EF4-FFF2-40B4-BE49-F238E27FC236}">
                <a16:creationId xmlns:a16="http://schemas.microsoft.com/office/drawing/2014/main" id="{88F9EC08-FAC7-3419-0850-43CBE3C4F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00188"/>
            <a:ext cx="5943600" cy="38576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992B8EF-C671-0779-33CB-71E1621F5F48}"/>
                  </a:ext>
                </a:extLst>
              </p:cNvPr>
              <p:cNvSpPr txBox="1"/>
              <p:nvPr/>
            </p:nvSpPr>
            <p:spPr>
              <a:xfrm>
                <a:off x="6051357" y="1364327"/>
                <a:ext cx="732445" cy="307777"/>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𝜀</m:t>
                              </m:r>
                            </m:e>
                            <m:sub>
                              <m:r>
                                <a:rPr lang="en-US" sz="1400" i="1">
                                  <a:latin typeface="Cambria Math" panose="02040503050406030204" pitchFamily="18" charset="0"/>
                                </a:rPr>
                                <m:t>𝑟</m:t>
                              </m:r>
                            </m:sub>
                          </m:sSub>
                        </m:e>
                      </m:acc>
                    </m:oMath>
                  </m:oMathPara>
                </a14:m>
                <a:endParaRPr lang="en-US"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6992B8EF-C671-0779-33CB-71E1621F5F48}"/>
                  </a:ext>
                </a:extLst>
              </p:cNvPr>
              <p:cNvSpPr txBox="1">
                <a:spLocks noRot="1" noChangeAspect="1" noMove="1" noResize="1" noEditPoints="1" noAdjustHandles="1" noChangeArrowheads="1" noChangeShapeType="1" noTextEdit="1"/>
              </p:cNvSpPr>
              <p:nvPr/>
            </p:nvSpPr>
            <p:spPr>
              <a:xfrm>
                <a:off x="6051357" y="1364327"/>
                <a:ext cx="732445" cy="307777"/>
              </a:xfrm>
              <a:prstGeom prst="rect">
                <a:avLst/>
              </a:prstGeom>
              <a:blipFill>
                <a:blip r:embed="rId4"/>
                <a:stretch>
                  <a:fillRect t="-1923" r="-13934"/>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E1DB6EA-7685-F175-78CA-1CD783550553}"/>
                  </a:ext>
                </a:extLst>
              </p:cNvPr>
              <p:cNvSpPr txBox="1"/>
              <p:nvPr/>
            </p:nvSpPr>
            <p:spPr>
              <a:xfrm>
                <a:off x="6087453" y="3423921"/>
                <a:ext cx="660251" cy="307777"/>
              </a:xfrm>
              <a:prstGeom prst="rect">
                <a:avLst/>
              </a:prstGeom>
              <a:solidFill>
                <a:schemeClr val="bg1"/>
              </a:solidFill>
              <a:ln>
                <a:solidFill>
                  <a:schemeClr val="bg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𝜎</m:t>
                          </m:r>
                        </m:e>
                      </m:acc>
                    </m:oMath>
                  </m:oMathPara>
                </a14:m>
                <a:endParaRPr lang="en-US"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6E1DB6EA-7685-F175-78CA-1CD783550553}"/>
                  </a:ext>
                </a:extLst>
              </p:cNvPr>
              <p:cNvSpPr txBox="1">
                <a:spLocks noRot="1" noChangeAspect="1" noMove="1" noResize="1" noEditPoints="1" noAdjustHandles="1" noChangeArrowheads="1" noChangeShapeType="1" noTextEdit="1"/>
              </p:cNvSpPr>
              <p:nvPr/>
            </p:nvSpPr>
            <p:spPr>
              <a:xfrm>
                <a:off x="6087453" y="3423921"/>
                <a:ext cx="660251" cy="307777"/>
              </a:xfrm>
              <a:prstGeom prst="rect">
                <a:avLst/>
              </a:prstGeom>
              <a:blipFill>
                <a:blip r:embed="rId5"/>
                <a:stretch>
                  <a:fillRect r="-5455"/>
                </a:stretch>
              </a:blipFill>
              <a:ln>
                <a:solidFill>
                  <a:schemeClr val="bg1"/>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B03FAF6A-3F6B-E0E1-4E4E-300D8B718AD6}"/>
              </a:ext>
            </a:extLst>
          </p:cNvPr>
          <p:cNvSpPr txBox="1"/>
          <p:nvPr/>
        </p:nvSpPr>
        <p:spPr>
          <a:xfrm>
            <a:off x="1814498" y="930899"/>
            <a:ext cx="1540565" cy="369332"/>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Ground Truth</a:t>
            </a:r>
          </a:p>
        </p:txBody>
      </p:sp>
      <p:sp>
        <p:nvSpPr>
          <p:cNvPr id="8" name="TextBox 7">
            <a:extLst>
              <a:ext uri="{FF2B5EF4-FFF2-40B4-BE49-F238E27FC236}">
                <a16:creationId xmlns:a16="http://schemas.microsoft.com/office/drawing/2014/main" id="{95097881-90A9-8D46-7A4D-5BE13094EB04}"/>
              </a:ext>
            </a:extLst>
          </p:cNvPr>
          <p:cNvSpPr txBox="1"/>
          <p:nvPr/>
        </p:nvSpPr>
        <p:spPr>
          <a:xfrm>
            <a:off x="3629147" y="928634"/>
            <a:ext cx="1417982" cy="369332"/>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PIFON</a:t>
            </a:r>
          </a:p>
        </p:txBody>
      </p:sp>
      <p:sp>
        <p:nvSpPr>
          <p:cNvPr id="9" name="TextBox 8">
            <a:extLst>
              <a:ext uri="{FF2B5EF4-FFF2-40B4-BE49-F238E27FC236}">
                <a16:creationId xmlns:a16="http://schemas.microsoft.com/office/drawing/2014/main" id="{DEC7AB2A-65AD-C6A1-C7D0-628A0289FE37}"/>
              </a:ext>
            </a:extLst>
          </p:cNvPr>
          <p:cNvSpPr txBox="1"/>
          <p:nvPr/>
        </p:nvSpPr>
        <p:spPr>
          <a:xfrm>
            <a:off x="5839239" y="921484"/>
            <a:ext cx="1311966" cy="369332"/>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Our Work</a:t>
            </a:r>
          </a:p>
        </p:txBody>
      </p:sp>
    </p:spTree>
    <p:extLst>
      <p:ext uri="{BB962C8B-B14F-4D97-AF65-F5344CB8AC3E}">
        <p14:creationId xmlns:p14="http://schemas.microsoft.com/office/powerpoint/2010/main" val="416422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AFF67-1960-A99F-A5AD-5D4A0BD50432}"/>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E088B319-DBFF-359F-13F0-E3A70D8F3BC6}"/>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42E01BBE-57D4-44A0-0655-43C32D125109}"/>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mj-lt"/>
                <a:cs typeface="Arial" panose="020B0604020202020204" pitchFamily="34" charset="0"/>
                <a:sym typeface="Arial"/>
              </a:rPr>
              <a:t>MR-EPT </a:t>
            </a:r>
            <a:r>
              <a:rPr lang="en-US" altLang="zh-CN" sz="2000" kern="0" dirty="0">
                <a:solidFill>
                  <a:schemeClr val="bg1"/>
                </a:solidFill>
                <a:latin typeface="+mj-lt"/>
                <a:cs typeface="Arial" panose="020B0604020202020204" pitchFamily="34" charset="0"/>
                <a:sym typeface="Arial"/>
              </a:rPr>
              <a:t>– 2D </a:t>
            </a:r>
            <a:r>
              <a:rPr lang="en-US" altLang="zh-CN" sz="2000" kern="0" dirty="0">
                <a:solidFill>
                  <a:srgbClr val="ECECEC"/>
                </a:solidFill>
                <a:latin typeface="+mj-lt"/>
                <a:cs typeface="Arial" panose="020B0604020202020204" pitchFamily="34" charset="0"/>
                <a:sym typeface="Arial"/>
              </a:rPr>
              <a:t>Wire Source Excitation</a:t>
            </a:r>
            <a:endParaRPr lang="en-US" altLang="zh-CN" sz="2000" kern="0" dirty="0">
              <a:solidFill>
                <a:schemeClr val="bg1"/>
              </a:solidFill>
              <a:latin typeface="+mj-lt"/>
              <a:cs typeface="Arial" panose="020B0604020202020204" pitchFamily="34" charset="0"/>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44F6109-4816-9717-B79A-694D910037A5}"/>
                  </a:ext>
                </a:extLst>
              </p:cNvPr>
              <p:cNvSpPr txBox="1"/>
              <p:nvPr/>
            </p:nvSpPr>
            <p:spPr>
              <a:xfrm>
                <a:off x="183414" y="1082631"/>
                <a:ext cx="4501856" cy="3930307"/>
              </a:xfrm>
              <a:prstGeom prst="rect">
                <a:avLst/>
              </a:prstGeom>
              <a:noFill/>
            </p:spPr>
            <p:txBody>
              <a:bodyPr wrap="square">
                <a:spAutoFit/>
              </a:bodyPr>
              <a:lstStyle/>
              <a:p>
                <a:pPr>
                  <a:lnSpc>
                    <a:spcPct val="90000"/>
                  </a:lnSpc>
                  <a:spcAft>
                    <a:spcPts val="600"/>
                  </a:spcAft>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New Dataset – Wire Source</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300 MHz (7T MRI) with EPs:</a:t>
                </a:r>
              </a:p>
              <a:p>
                <a:pPr marL="742950" lvl="1"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White Matter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𝑟</m:t>
                        </m:r>
                      </m:sub>
                    </m:sSub>
                  </m:oMath>
                </a14:m>
                <a:r>
                  <a:rPr lang="en-US" dirty="0">
                    <a:latin typeface="Calibri" panose="020F0502020204030204" pitchFamily="34" charset="0"/>
                    <a:ea typeface="Calibri" panose="020F0502020204030204" pitchFamily="34" charset="0"/>
                    <a:cs typeface="Calibri" panose="020F0502020204030204" pitchFamily="34" charset="0"/>
                  </a:rPr>
                  <a:t> = 60.0, </a:t>
                </a:r>
                <a14:m>
                  <m:oMath xmlns:m="http://schemas.openxmlformats.org/officeDocument/2006/math">
                    <m:r>
                      <a:rPr lang="en-US" i="1">
                        <a:latin typeface="Cambria Math" panose="02040503050406030204" pitchFamily="18" charset="0"/>
                        <a:ea typeface="Calibri" panose="020F0502020204030204" pitchFamily="34" charset="0"/>
                        <a:cs typeface="Calibri" panose="020F0502020204030204" pitchFamily="34" charset="0"/>
                      </a:rPr>
                      <m:t>𝜎</m:t>
                    </m:r>
                  </m:oMath>
                </a14:m>
                <a:r>
                  <a:rPr lang="en-US" dirty="0">
                    <a:latin typeface="Calibri" panose="020F0502020204030204" pitchFamily="34" charset="0"/>
                    <a:ea typeface="Calibri" panose="020F0502020204030204" pitchFamily="34" charset="0"/>
                    <a:cs typeface="Calibri" panose="020F0502020204030204" pitchFamily="34" charset="0"/>
                  </a:rPr>
                  <a:t>=.692</a:t>
                </a: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Grey Matter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𝑟</m:t>
                        </m:r>
                      </m:sub>
                    </m:sSub>
                  </m:oMath>
                </a14:m>
                <a:r>
                  <a:rPr lang="en-US" dirty="0">
                    <a:latin typeface="Calibri" panose="020F0502020204030204" pitchFamily="34" charset="0"/>
                    <a:ea typeface="Calibri" panose="020F0502020204030204" pitchFamily="34" charset="0"/>
                    <a:cs typeface="Calibri" panose="020F0502020204030204" pitchFamily="34" charset="0"/>
                  </a:rPr>
                  <a:t> = 43.8, </a:t>
                </a:r>
                <a14:m>
                  <m:oMath xmlns:m="http://schemas.openxmlformats.org/officeDocument/2006/math">
                    <m:r>
                      <a:rPr lang="en-US" b="0" i="1" smtClean="0">
                        <a:latin typeface="Cambria Math" panose="02040503050406030204" pitchFamily="18" charset="0"/>
                        <a:ea typeface="Calibri" panose="020F0502020204030204" pitchFamily="34" charset="0"/>
                        <a:cs typeface="Calibri" panose="020F0502020204030204" pitchFamily="34" charset="0"/>
                      </a:rPr>
                      <m:t>𝜎</m:t>
                    </m:r>
                  </m:oMath>
                </a14:m>
                <a:r>
                  <a:rPr lang="en-US" dirty="0">
                    <a:latin typeface="Calibri" panose="020F0502020204030204" pitchFamily="34" charset="0"/>
                    <a:ea typeface="Calibri" panose="020F0502020204030204" pitchFamily="34" charset="0"/>
                    <a:cs typeface="Calibri" panose="020F0502020204030204" pitchFamily="34" charset="0"/>
                  </a:rPr>
                  <a:t>=.413</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Circular domain, R = .11 m</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SNR of 200</a:t>
                </a:r>
              </a:p>
              <a:p>
                <a:pPr marL="285750" indent="-285750">
                  <a:lnSpc>
                    <a:spcPct val="90000"/>
                  </a:lnSpc>
                  <a:spcAft>
                    <a:spcPts val="600"/>
                  </a:spcAft>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ea typeface="Calibri" panose="020F0502020204030204" pitchFamily="34" charset="0"/>
                    <a:cs typeface="Calibri" panose="020F0502020204030204" pitchFamily="34" charset="0"/>
                  </a:rPr>
                  <a:t>Results</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Permittivity: </a:t>
                </a:r>
                <a:r>
                  <a:rPr lang="en-US" b="1" dirty="0">
                    <a:latin typeface="Calibri" panose="020F0502020204030204" pitchFamily="34" charset="0"/>
                    <a:ea typeface="Calibri" panose="020F0502020204030204" pitchFamily="34" charset="0"/>
                    <a:cs typeface="Calibri" panose="020F0502020204030204" pitchFamily="34" charset="0"/>
                  </a:rPr>
                  <a:t>PNAE of .12%</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Conductivity: </a:t>
                </a:r>
                <a:r>
                  <a:rPr lang="en-US" b="1" dirty="0">
                    <a:latin typeface="Calibri" panose="020F0502020204030204" pitchFamily="34" charset="0"/>
                    <a:ea typeface="Calibri" panose="020F0502020204030204" pitchFamily="34" charset="0"/>
                    <a:cs typeface="Calibri" panose="020F0502020204030204" pitchFamily="34" charset="0"/>
                  </a:rPr>
                  <a:t>PNAE of .08%</a:t>
                </a:r>
              </a:p>
              <a:p>
                <a:pPr marL="285750" indent="-285750">
                  <a:lnSpc>
                    <a:spcPct val="90000"/>
                  </a:lnSpc>
                  <a:spcAft>
                    <a:spcPts val="600"/>
                  </a:spcAft>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90000"/>
                  </a:lnSpc>
                  <a:spcAft>
                    <a:spcPts val="600"/>
                  </a:spcAft>
                  <a:buFont typeface="Arial" panose="020B0604020202020204" pitchFamily="34" charset="0"/>
                  <a:buChar char="•"/>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E44F6109-4816-9717-B79A-694D910037A5}"/>
                  </a:ext>
                </a:extLst>
              </p:cNvPr>
              <p:cNvSpPr txBox="1">
                <a:spLocks noRot="1" noChangeAspect="1" noMove="1" noResize="1" noEditPoints="1" noAdjustHandles="1" noChangeArrowheads="1" noChangeShapeType="1" noTextEdit="1"/>
              </p:cNvSpPr>
              <p:nvPr/>
            </p:nvSpPr>
            <p:spPr>
              <a:xfrm>
                <a:off x="183414" y="1082631"/>
                <a:ext cx="4501856" cy="3930307"/>
              </a:xfrm>
              <a:prstGeom prst="rect">
                <a:avLst/>
              </a:prstGeom>
              <a:blipFill>
                <a:blip r:embed="rId3"/>
                <a:stretch>
                  <a:fillRect l="-1083" t="-1553"/>
                </a:stretch>
              </a:blipFill>
            </p:spPr>
            <p:txBody>
              <a:bodyPr/>
              <a:lstStyle/>
              <a:p>
                <a:r>
                  <a:rPr lang="en-US">
                    <a:noFill/>
                  </a:rPr>
                  <a:t> </a:t>
                </a:r>
              </a:p>
            </p:txBody>
          </p:sp>
        </mc:Fallback>
      </mc:AlternateContent>
      <p:pic>
        <p:nvPicPr>
          <p:cNvPr id="16391" name="Picture 7">
            <a:extLst>
              <a:ext uri="{FF2B5EF4-FFF2-40B4-BE49-F238E27FC236}">
                <a16:creationId xmlns:a16="http://schemas.microsoft.com/office/drawing/2014/main" id="{188B8121-BBA4-C8E5-A6D1-45892262088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319" b="76885"/>
          <a:stretch/>
        </p:blipFill>
        <p:spPr bwMode="auto">
          <a:xfrm>
            <a:off x="136818" y="4625823"/>
            <a:ext cx="4757151" cy="2095500"/>
          </a:xfrm>
          <a:prstGeom prst="rect">
            <a:avLst/>
          </a:prstGeom>
          <a:noFill/>
          <a:extLst>
            <a:ext uri="{909E8E84-426E-40DD-AFC4-6F175D3DCCD1}">
              <a14:hiddenFill xmlns:a14="http://schemas.microsoft.com/office/drawing/2010/main">
                <a:solidFill>
                  <a:srgbClr val="FFFFFF"/>
                </a:solidFill>
              </a14:hiddenFill>
            </a:ext>
          </a:extLst>
        </p:spPr>
      </p:pic>
      <p:pic>
        <p:nvPicPr>
          <p:cNvPr id="16393" name="Picture 9">
            <a:extLst>
              <a:ext uri="{FF2B5EF4-FFF2-40B4-BE49-F238E27FC236}">
                <a16:creationId xmlns:a16="http://schemas.microsoft.com/office/drawing/2014/main" id="{94B70454-456D-97D4-6109-A7342982292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2" t="51296" r="22"/>
          <a:stretch/>
        </p:blipFill>
        <p:spPr bwMode="auto">
          <a:xfrm>
            <a:off x="5726963" y="556575"/>
            <a:ext cx="3284423" cy="3078141"/>
          </a:xfrm>
          <a:prstGeom prst="rect">
            <a:avLst/>
          </a:prstGeom>
          <a:noFill/>
          <a:extLst>
            <a:ext uri="{909E8E84-426E-40DD-AFC4-6F175D3DCCD1}">
              <a14:hiddenFill xmlns:a14="http://schemas.microsoft.com/office/drawing/2010/main">
                <a:solidFill>
                  <a:srgbClr val="FFFFFF"/>
                </a:solidFill>
              </a14:hiddenFill>
            </a:ext>
          </a:extLst>
        </p:spPr>
      </p:pic>
      <p:pic>
        <p:nvPicPr>
          <p:cNvPr id="16395" name="Picture 11">
            <a:extLst>
              <a:ext uri="{FF2B5EF4-FFF2-40B4-BE49-F238E27FC236}">
                <a16:creationId xmlns:a16="http://schemas.microsoft.com/office/drawing/2014/main" id="{BABCECE7-D8A0-F6D0-DE61-021F3972146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1296"/>
          <a:stretch/>
        </p:blipFill>
        <p:spPr bwMode="auto">
          <a:xfrm>
            <a:off x="5726963" y="3713339"/>
            <a:ext cx="3397250" cy="3144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353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D935E-0407-B50B-7592-96E04B1B4C1B}"/>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6C48C5C3-DE21-80C7-CDD4-C0F035AFDF62}"/>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55C457F3-9C65-6903-3ECD-39B424F2250C}"/>
              </a:ext>
            </a:extLst>
          </p:cNvPr>
          <p:cNvSpPr/>
          <p:nvPr/>
        </p:nvSpPr>
        <p:spPr>
          <a:xfrm>
            <a:off x="-1" y="-3166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chemeClr val="bg1"/>
                </a:solidFill>
                <a:latin typeface="+mj-lt"/>
                <a:cs typeface="Arial" panose="020B0604020202020204" pitchFamily="34" charset="0"/>
                <a:sym typeface="Arial"/>
              </a:rPr>
              <a:t>MR-EPT – </a:t>
            </a:r>
            <a:r>
              <a:rPr lang="en-US" altLang="zh-CN" sz="2000" kern="0" dirty="0">
                <a:solidFill>
                  <a:srgbClr val="ECECEC"/>
                </a:solidFill>
                <a:latin typeface="+mj-lt"/>
                <a:cs typeface="Arial" panose="020B0604020202020204" pitchFamily="34" charset="0"/>
                <a:sym typeface="Arial"/>
              </a:rPr>
              <a:t>3D Plane Wave Excitation</a:t>
            </a:r>
            <a:endParaRPr lang="en-US" altLang="zh-CN" sz="2000" kern="0" dirty="0">
              <a:solidFill>
                <a:schemeClr val="bg1"/>
              </a:solidFill>
              <a:latin typeface="+mj-lt"/>
              <a:cs typeface="Arial" panose="020B0604020202020204" pitchFamily="34" charset="0"/>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E52E00-29F3-4C1B-82B2-C6CABC308857}"/>
                  </a:ext>
                </a:extLst>
              </p:cNvPr>
              <p:cNvSpPr txBox="1"/>
              <p:nvPr/>
            </p:nvSpPr>
            <p:spPr>
              <a:xfrm>
                <a:off x="941387" y="1082312"/>
                <a:ext cx="4542557" cy="3277820"/>
              </a:xfrm>
              <a:prstGeom prst="rect">
                <a:avLst/>
              </a:prstGeom>
              <a:noFill/>
            </p:spPr>
            <p:txBody>
              <a:bodyPr wrap="square">
                <a:spAutoFit/>
              </a:bodyPr>
              <a:lstStyle/>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3D Sphere </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under Plane Wave</a:t>
                </a:r>
              </a:p>
              <a:p>
                <a:pPr marL="285750" indent="-285750">
                  <a:lnSpc>
                    <a:spcPct val="90000"/>
                  </a:lnSpc>
                  <a:spcAft>
                    <a:spcPts val="600"/>
                  </a:spcAft>
                  <a:buFont typeface="Arial" panose="020B0604020202020204" pitchFamily="34" charset="0"/>
                  <a:buChar char="•"/>
                </a:pPr>
                <a:r>
                  <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EPs identical to 2D example</a:t>
                </a:r>
              </a:p>
              <a:p>
                <a:pPr marL="742950" lvl="1"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𝑟</m:t>
                        </m:r>
                      </m:sub>
                    </m:sSub>
                  </m:oMath>
                </a14:m>
                <a:r>
                  <a:rPr lang="en-US" dirty="0">
                    <a:latin typeface="Calibri" panose="020F0502020204030204" pitchFamily="34" charset="0"/>
                    <a:ea typeface="Calibri" panose="020F0502020204030204" pitchFamily="34" charset="0"/>
                    <a:cs typeface="Calibri" panose="020F0502020204030204" pitchFamily="34" charset="0"/>
                  </a:rPr>
                  <a:t> = 3, </a:t>
                </a:r>
                <a14:m>
                  <m:oMath xmlns:m="http://schemas.openxmlformats.org/officeDocument/2006/math">
                    <m:r>
                      <a:rPr lang="en-US" i="1">
                        <a:latin typeface="Cambria Math" panose="02040503050406030204" pitchFamily="18" charset="0"/>
                        <a:ea typeface="Calibri" panose="020F0502020204030204" pitchFamily="34" charset="0"/>
                        <a:cs typeface="Calibri" panose="020F0502020204030204" pitchFamily="34" charset="0"/>
                      </a:rPr>
                      <m:t>𝜎</m:t>
                    </m:r>
                  </m:oMath>
                </a14:m>
                <a:r>
                  <a:rPr lang="en-US" dirty="0">
                    <a:latin typeface="Calibri" panose="020F0502020204030204" pitchFamily="34" charset="0"/>
                    <a:ea typeface="Calibri" panose="020F0502020204030204" pitchFamily="34" charset="0"/>
                    <a:cs typeface="Calibri" panose="020F0502020204030204" pitchFamily="34" charset="0"/>
                  </a:rPr>
                  <a:t>=.01</a:t>
                </a: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a:t>
                </a:r>
              </a:p>
              <a:p>
                <a:pPr marL="285750" indent="-285750">
                  <a:lnSpc>
                    <a:spcPct val="90000"/>
                  </a:lnSpc>
                  <a:spcAft>
                    <a:spcPts val="600"/>
                  </a:spcAft>
                  <a:buFont typeface="Arial" panose="020B0604020202020204" pitchFamily="34" charset="0"/>
                  <a:buChar char="•"/>
                </a:pPr>
                <a14:m>
                  <m:oMath xmlns:m="http://schemas.openxmlformats.org/officeDocument/2006/math">
                    <m:sSup>
                      <m:sSupPr>
                        <m:ctrlPr>
                          <a:rPr lang="en-US"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ctrlPr>
                      </m:sSupPr>
                      <m:e>
                        <m:d>
                          <m:dPr>
                            <m:begChr m:val="["/>
                            <m:endChr m:val="]"/>
                            <m:ctrlPr>
                              <a:rPr lang="en-US"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ctrlPr>
                          </m:dPr>
                          <m:e>
                            <m:r>
                              <a:rPr lang="en-US"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t>25</m:t>
                            </m:r>
                          </m:e>
                        </m:d>
                      </m:e>
                      <m:sup>
                        <m:r>
                          <a:rPr lang="en-US" b="0" i="1" smtClean="0">
                            <a:solidFill>
                              <a:schemeClr val="dk2"/>
                            </a:solidFill>
                            <a:latin typeface="Cambria Math" panose="02040503050406030204" pitchFamily="18" charset="0"/>
                            <a:ea typeface="Calibri" panose="020F0502020204030204" pitchFamily="34" charset="0"/>
                            <a:cs typeface="Calibri" panose="020F0502020204030204" pitchFamily="34" charset="0"/>
                          </a:rPr>
                          <m:t>3</m:t>
                        </m:r>
                      </m:sup>
                    </m:sSup>
                    <m:r>
                      <a:rPr lang="en-US" i="1">
                        <a:solidFill>
                          <a:schemeClr val="dk2"/>
                        </a:solidFill>
                        <a:latin typeface="Cambria Math" panose="02040503050406030204" pitchFamily="18" charset="0"/>
                        <a:ea typeface="Calibri" panose="020F0502020204030204" pitchFamily="34" charset="0"/>
                        <a:cs typeface="Calibri" panose="020F0502020204030204" pitchFamily="34" charset="0"/>
                      </a:rPr>
                      <m:t>=15625</m:t>
                    </m:r>
                  </m:oMath>
                </a14:m>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 points</a:t>
                </a:r>
              </a:p>
              <a:p>
                <a:pPr marL="285750" indent="-285750">
                  <a:lnSpc>
                    <a:spcPct val="90000"/>
                  </a:lnSpc>
                  <a:spcAft>
                    <a:spcPts val="600"/>
                  </a:spcAft>
                  <a:buFont typeface="Arial" panose="020B0604020202020204" pitchFamily="34" charset="0"/>
                  <a:buChar char="•"/>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r>
                  <a:rPr lang="en-US" b="1" dirty="0">
                    <a:latin typeface="Calibri" panose="020F0502020204030204" pitchFamily="34" charset="0"/>
                    <a:ea typeface="Calibri" panose="020F0502020204030204" pitchFamily="34" charset="0"/>
                    <a:cs typeface="Calibri" panose="020F0502020204030204" pitchFamily="34" charset="0"/>
                  </a:rPr>
                  <a:t>Results</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Permittivity: </a:t>
                </a:r>
                <a:r>
                  <a:rPr lang="en-US" b="1" dirty="0">
                    <a:latin typeface="Calibri" panose="020F0502020204030204" pitchFamily="34" charset="0"/>
                    <a:ea typeface="Calibri" panose="020F0502020204030204" pitchFamily="34" charset="0"/>
                    <a:cs typeface="Calibri" panose="020F0502020204030204" pitchFamily="34" charset="0"/>
                  </a:rPr>
                  <a:t>PNAE of .12% </a:t>
                </a:r>
              </a:p>
              <a:p>
                <a:pPr marL="742950" lvl="1"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~30 points misidentify</a:t>
                </a:r>
              </a:p>
              <a:p>
                <a:pPr marL="285750" indent="-285750">
                  <a:lnSpc>
                    <a:spcPct val="90000"/>
                  </a:lnSpc>
                  <a:spcAft>
                    <a:spcPts val="6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Conductivity: </a:t>
                </a:r>
                <a:r>
                  <a:rPr lang="en-US" b="1" dirty="0">
                    <a:latin typeface="Calibri" panose="020F0502020204030204" pitchFamily="34" charset="0"/>
                    <a:ea typeface="Calibri" panose="020F0502020204030204" pitchFamily="34" charset="0"/>
                    <a:cs typeface="Calibri" panose="020F0502020204030204" pitchFamily="34" charset="0"/>
                  </a:rPr>
                  <a:t>PNAE of .17%</a:t>
                </a:r>
              </a:p>
              <a:p>
                <a:pPr marL="285750" indent="-285750">
                  <a:lnSpc>
                    <a:spcPct val="90000"/>
                  </a:lnSpc>
                  <a:spcAft>
                    <a:spcPts val="600"/>
                  </a:spcAft>
                  <a:buFont typeface="Arial" panose="020B0604020202020204" pitchFamily="34" charset="0"/>
                  <a:buChar char="•"/>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A6E52E00-29F3-4C1B-82B2-C6CABC308857}"/>
                  </a:ext>
                </a:extLst>
              </p:cNvPr>
              <p:cNvSpPr txBox="1">
                <a:spLocks noRot="1" noChangeAspect="1" noMove="1" noResize="1" noEditPoints="1" noAdjustHandles="1" noChangeArrowheads="1" noChangeShapeType="1" noTextEdit="1"/>
              </p:cNvSpPr>
              <p:nvPr/>
            </p:nvSpPr>
            <p:spPr>
              <a:xfrm>
                <a:off x="941387" y="1082312"/>
                <a:ext cx="4542557" cy="3277820"/>
              </a:xfrm>
              <a:prstGeom prst="rect">
                <a:avLst/>
              </a:prstGeom>
              <a:blipFill>
                <a:blip r:embed="rId3"/>
                <a:stretch>
                  <a:fillRect l="-1072" t="-1862"/>
                </a:stretch>
              </a:blipFill>
            </p:spPr>
            <p:txBody>
              <a:bodyPr/>
              <a:lstStyle/>
              <a:p>
                <a:r>
                  <a:rPr lang="en-US">
                    <a:noFill/>
                  </a:rPr>
                  <a:t> </a:t>
                </a:r>
              </a:p>
            </p:txBody>
          </p:sp>
        </mc:Fallback>
      </mc:AlternateContent>
      <p:pic>
        <p:nvPicPr>
          <p:cNvPr id="18434" name="Picture 2">
            <a:extLst>
              <a:ext uri="{FF2B5EF4-FFF2-40B4-BE49-F238E27FC236}">
                <a16:creationId xmlns:a16="http://schemas.microsoft.com/office/drawing/2014/main" id="{E4222D7A-FF7F-C8D0-9647-EF3F115F6E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38" y="5073997"/>
            <a:ext cx="1933575"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8435" name="Picture 3">
            <a:extLst>
              <a:ext uri="{FF2B5EF4-FFF2-40B4-BE49-F238E27FC236}">
                <a16:creationId xmlns:a16="http://schemas.microsoft.com/office/drawing/2014/main" id="{268343E2-D9A9-94E4-10FF-7AFA16D631F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09681" y="5073997"/>
            <a:ext cx="184785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2A9EE2C2-FF32-C7BC-A54D-2E58176F1B7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95631" y="5097809"/>
            <a:ext cx="1857375"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a:extLst>
              <a:ext uri="{FF2B5EF4-FFF2-40B4-BE49-F238E27FC236}">
                <a16:creationId xmlns:a16="http://schemas.microsoft.com/office/drawing/2014/main" id="{9D1B57F7-CFB3-05BF-F54C-2C877E7A7BA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22950" y="406049"/>
            <a:ext cx="3282317" cy="3118202"/>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a:extLst>
              <a:ext uri="{FF2B5EF4-FFF2-40B4-BE49-F238E27FC236}">
                <a16:creationId xmlns:a16="http://schemas.microsoft.com/office/drawing/2014/main" id="{4F0A5F80-3208-B28C-0AE8-C28E7C5D7BD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67280" y="3711430"/>
            <a:ext cx="3376720" cy="3151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374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4531-2042-49FB-969D-6C85814526E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19DBF43-4380-665D-AA4D-0CDAE3868647}"/>
              </a:ext>
            </a:extLst>
          </p:cNvPr>
          <p:cNvSpPr txBox="1"/>
          <p:nvPr/>
        </p:nvSpPr>
        <p:spPr>
          <a:xfrm>
            <a:off x="0" y="869866"/>
            <a:ext cx="9144001" cy="1504790"/>
          </a:xfrm>
          <a:prstGeom prst="rect">
            <a:avLst/>
          </a:prstGeom>
          <a:noFill/>
          <a:ln>
            <a:noFill/>
          </a:ln>
        </p:spPr>
        <p:txBody>
          <a:bodyPr rtlCol="0" anchor="t">
            <a:noAutofit/>
          </a:bodyPr>
          <a:lstStyle/>
          <a:p>
            <a:pPr algn="ctr">
              <a:lnSpc>
                <a:spcPct val="90000"/>
              </a:lnSpc>
              <a:spcAft>
                <a:spcPts val="600"/>
              </a:spcAft>
            </a:pPr>
            <a:r>
              <a:rPr lang="en-US" sz="40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phonon Boltzmann Transport Equation </a:t>
            </a:r>
          </a:p>
          <a:p>
            <a:pPr algn="ctr">
              <a:lnSpc>
                <a:spcPct val="90000"/>
              </a:lnSpc>
              <a:spcAft>
                <a:spcPts val="600"/>
              </a:spcAft>
            </a:pPr>
            <a:r>
              <a:rPr lang="en-US" sz="40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(BTE)</a:t>
            </a:r>
            <a:r>
              <a:rPr lang="en-US" sz="4000" b="1" dirty="0">
                <a:solidFill>
                  <a:schemeClr val="dk2"/>
                </a:solidFill>
                <a:latin typeface="Calibri" panose="020F0502020204030204" pitchFamily="34" charset="0"/>
                <a:ea typeface="Calibri" panose="020F0502020204030204" pitchFamily="34" charset="0"/>
                <a:cs typeface="Calibri" panose="020F0502020204030204" pitchFamily="34" charset="0"/>
              </a:rPr>
              <a:t> PINN Section</a:t>
            </a:r>
            <a:endParaRPr lang="en-US" sz="4000"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457200" lvl="1" algn="ctr">
              <a:lnSpc>
                <a:spcPct val="90000"/>
              </a:lnSpc>
              <a:spcAft>
                <a:spcPts val="600"/>
              </a:spcAft>
            </a:pPr>
            <a:endParaRPr lang="en-US" sz="40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Shape 661">
            <a:extLst>
              <a:ext uri="{FF2B5EF4-FFF2-40B4-BE49-F238E27FC236}">
                <a16:creationId xmlns:a16="http://schemas.microsoft.com/office/drawing/2014/main" id="{FDEF153E-1D7C-D470-F782-E1171EBDD6D5}"/>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phonon Boltzmann Transport Equation</a:t>
            </a:r>
            <a:endParaRPr lang="en-US" sz="2000" kern="0" dirty="0">
              <a:solidFill>
                <a:schemeClr val="bg1"/>
              </a:solidFill>
              <a:latin typeface="Arial" panose="020B0604020202020204" pitchFamily="34" charset="0"/>
              <a:cs typeface="Arial" panose="020B0604020202020204" pitchFamily="34" charset="0"/>
              <a:sym typeface="Arial"/>
            </a:endParaRPr>
          </a:p>
        </p:txBody>
      </p:sp>
      <p:pic>
        <p:nvPicPr>
          <p:cNvPr id="1028" name="Picture 4" descr="Ultra-efficient and parameter-free computation of submicron thermal  transport with phonon Boltzmann transport equation - ScienceDirect">
            <a:extLst>
              <a:ext uri="{FF2B5EF4-FFF2-40B4-BE49-F238E27FC236}">
                <a16:creationId xmlns:a16="http://schemas.microsoft.com/office/drawing/2014/main" id="{21EEFD2F-A9F5-0D14-F2E3-009526DFCE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5047" y="3078868"/>
            <a:ext cx="4053906" cy="3139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25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F4-743E-CAF2-EAC7-96B9D7B59B1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A0C9CC7-080F-FD71-2D2F-A6BF68A58926}"/>
              </a:ext>
            </a:extLst>
          </p:cNvPr>
          <p:cNvSpPr txBox="1"/>
          <p:nvPr/>
        </p:nvSpPr>
        <p:spPr>
          <a:xfrm>
            <a:off x="5069061" y="1279974"/>
            <a:ext cx="3924300" cy="2605001"/>
          </a:xfrm>
          <a:prstGeom prst="rect">
            <a:avLst/>
          </a:prstGeom>
          <a:noFill/>
          <a:ln>
            <a:noFill/>
          </a:ln>
        </p:spPr>
        <p:txBody>
          <a:bodyPr rtlCol="0" anchor="t">
            <a:noAutofit/>
          </a:bodyPr>
          <a:lstStyle/>
          <a:p>
            <a:pPr algn="ctr">
              <a:lnSpc>
                <a:spcPct val="90000"/>
              </a:lnSpc>
              <a:spcAft>
                <a:spcPts val="600"/>
              </a:spcAft>
            </a:pPr>
            <a:r>
              <a:rPr lang="en-US"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Motivation – phonon BTE</a:t>
            </a: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Current compact electronics have their performance limited by thermal throttling </a:t>
            </a:r>
          </a:p>
          <a:p>
            <a:pPr algn="ctr">
              <a:lnSpc>
                <a:spcPct val="90000"/>
              </a:lnSpc>
              <a:spcAft>
                <a:spcPts val="600"/>
              </a:spcAft>
            </a:pP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BTE solvers can model thermal profiles on small length scales</a:t>
            </a: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Advance next-gen transistor thermal design with better heat dissipation </a:t>
            </a:r>
          </a:p>
          <a:p>
            <a:pPr marL="285750" indent="-285750">
              <a:lnSpc>
                <a:spcPct val="90000"/>
              </a:lnSpc>
              <a:spcAft>
                <a:spcPts val="600"/>
              </a:spcAft>
              <a:buFont typeface="Arial" panose="020B0604020202020204" pitchFamily="34" charset="0"/>
              <a:buChar char="•"/>
            </a:pP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Captures both ballistic and diffusive thermal regimes</a:t>
            </a:r>
          </a:p>
          <a:p>
            <a:pPr marL="285750" indent="-285750">
              <a:lnSpc>
                <a:spcPct val="90000"/>
              </a:lnSpc>
              <a:spcAft>
                <a:spcPts val="600"/>
              </a:spcAft>
              <a:buFont typeface="Arial" panose="020B0604020202020204" pitchFamily="34" charset="0"/>
              <a:buChar char="•"/>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457200" lvl="1" algn="ctr">
              <a:lnSpc>
                <a:spcPct val="90000"/>
              </a:lnSpc>
              <a:spcAft>
                <a:spcPts val="600"/>
              </a:spcAft>
            </a:pPr>
            <a:endPar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Shape 661">
            <a:extLst>
              <a:ext uri="{FF2B5EF4-FFF2-40B4-BE49-F238E27FC236}">
                <a16:creationId xmlns:a16="http://schemas.microsoft.com/office/drawing/2014/main" id="{CCE71CAC-01E8-1677-921A-913F264351A8}"/>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phonon BTE–  Motivation</a:t>
            </a:r>
            <a:endParaRPr lang="en-US" sz="2000" kern="0" dirty="0">
              <a:solidFill>
                <a:schemeClr val="bg1"/>
              </a:solidFill>
              <a:latin typeface="Arial" panose="020B0604020202020204" pitchFamily="34" charset="0"/>
              <a:cs typeface="Arial" panose="020B0604020202020204" pitchFamily="34" charset="0"/>
              <a:sym typeface="Arial"/>
            </a:endParaRPr>
          </a:p>
        </p:txBody>
      </p:sp>
      <p:pic>
        <p:nvPicPr>
          <p:cNvPr id="1028" name="Picture 4" descr="Ultra-efficient and parameter-free computation of submicron thermal  transport with phonon Boltzmann transport equation - ScienceDirect">
            <a:extLst>
              <a:ext uri="{FF2B5EF4-FFF2-40B4-BE49-F238E27FC236}">
                <a16:creationId xmlns:a16="http://schemas.microsoft.com/office/drawing/2014/main" id="{D76B1026-6306-B094-4B3C-0C8DDE0C12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 y="810764"/>
            <a:ext cx="3848100" cy="298018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quation of Phonon Radiative Transport: Formulation and Analysis by the  Weighted Residual Method | SpringerLink">
            <a:extLst>
              <a:ext uri="{FF2B5EF4-FFF2-40B4-BE49-F238E27FC236}">
                <a16:creationId xmlns:a16="http://schemas.microsoft.com/office/drawing/2014/main" id="{D69ABA17-D2ED-7A55-9F40-D37CE0022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186" y="4732169"/>
            <a:ext cx="2804726" cy="180463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2F2A391-DF61-D3F5-98AA-3E0C0AECDB63}"/>
              </a:ext>
            </a:extLst>
          </p:cNvPr>
          <p:cNvSpPr txBox="1"/>
          <p:nvPr/>
        </p:nvSpPr>
        <p:spPr>
          <a:xfrm>
            <a:off x="590119" y="4193088"/>
            <a:ext cx="3924300" cy="646331"/>
          </a:xfrm>
          <a:prstGeom prst="rect">
            <a:avLst/>
          </a:prstGeom>
          <a:noFill/>
        </p:spPr>
        <p:txBody>
          <a:bodyPr wrap="square">
            <a:spAutoFit/>
          </a:bodyPr>
          <a:lstStyle/>
          <a:p>
            <a:pPr algn="ct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Phonon scattering from diffusive to ballistic depending on mean-free path</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92C9DF-7D9A-213D-9189-649C57A828F6}"/>
                  </a:ext>
                </a:extLst>
              </p:cNvPr>
              <p:cNvSpPr txBox="1"/>
              <p:nvPr/>
            </p:nvSpPr>
            <p:spPr>
              <a:xfrm>
                <a:off x="5810566" y="5075626"/>
                <a:ext cx="2743315" cy="8102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𝑣</m:t>
                          </m:r>
                        </m:e>
                      </m:acc>
                      <m:r>
                        <a:rPr lang="en-US" i="1">
                          <a:latin typeface="Cambria Math" panose="02040503050406030204" pitchFamily="18" charset="0"/>
                        </a:rPr>
                        <m:t>⋅</m:t>
                      </m:r>
                      <m:r>
                        <m:rPr>
                          <m:sty m:val="p"/>
                        </m:rPr>
                        <a:rPr lang="en-US" i="0">
                          <a:latin typeface="Cambria Math" panose="02040503050406030204" pitchFamily="18" charset="0"/>
                        </a:rPr>
                        <m:t>∇</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𝑒𝑞</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𝑛𝑒𝑞</m:t>
                              </m:r>
                            </m:sup>
                          </m:sSup>
                        </m:e>
                      </m:d>
                      <m:r>
                        <a:rPr lang="en-US" i="1">
                          <a:latin typeface="Cambria Math" panose="02040503050406030204" pitchFamily="18" charset="0"/>
                        </a:rPr>
                        <m:t>=</m:t>
                      </m:r>
                      <m:r>
                        <a:rPr lang="en-US" b="0" i="1" smtClean="0">
                          <a:latin typeface="Cambria Math" panose="02040503050406030204" pitchFamily="18" charset="0"/>
                        </a:rPr>
                        <m:t>−</m:t>
                      </m:r>
                      <m:f>
                        <m:fPr>
                          <m:ctrlPr>
                            <a:rPr lang="en-US"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𝑛𝑒𝑞</m:t>
                              </m:r>
                            </m:sup>
                          </m:sSup>
                        </m:num>
                        <m:den>
                          <m:r>
                            <a:rPr lang="en-US" i="1">
                              <a:latin typeface="Cambria Math" panose="02040503050406030204" pitchFamily="18" charset="0"/>
                            </a:rPr>
                            <m:t>𝜏</m:t>
                          </m:r>
                        </m:den>
                      </m:f>
                    </m:oMath>
                  </m:oMathPara>
                </a14:m>
                <a:endParaRPr lang="en-US" dirty="0"/>
              </a:p>
              <a:p>
                <a:pPr/>
                <a14:m>
                  <m:oMathPara xmlns:m="http://schemas.openxmlformats.org/officeDocument/2006/math">
                    <m:oMathParaPr>
                      <m:jc m:val="centerGroup"/>
                    </m:oMathParaPr>
                    <m:oMath xmlns:m="http://schemas.openxmlformats.org/officeDocument/2006/math">
                      <m:r>
                        <a:rPr lang="pl-PL" i="1">
                          <a:latin typeface="Cambria Math" panose="02040503050406030204" pitchFamily="18" charset="0"/>
                        </a:rPr>
                        <m:t>𝑓</m:t>
                      </m:r>
                      <m:r>
                        <a:rPr lang="pl-PL" i="1">
                          <a:latin typeface="Cambria Math" panose="02040503050406030204" pitchFamily="18" charset="0"/>
                        </a:rPr>
                        <m:t>(</m:t>
                      </m:r>
                      <m:acc>
                        <m:accPr>
                          <m:chr m:val="⃗"/>
                          <m:ctrlPr>
                            <a:rPr lang="pl-PL" i="1">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pl-PL" i="1">
                              <a:latin typeface="Cambria Math" panose="02040503050406030204" pitchFamily="18" charset="0"/>
                            </a:rPr>
                          </m:ctrlPr>
                        </m:accPr>
                        <m:e>
                          <m:r>
                            <a:rPr lang="en-US" b="0" i="1" smtClean="0">
                              <a:latin typeface="Cambria Math" panose="02040503050406030204" pitchFamily="18" charset="0"/>
                            </a:rPr>
                            <m:t>𝑠</m:t>
                          </m:r>
                        </m:e>
                      </m:acc>
                      <m:r>
                        <a:rPr lang="en-US" b="0" i="1" smtClean="0">
                          <a:latin typeface="Cambria Math" panose="02040503050406030204" pitchFamily="18" charset="0"/>
                        </a:rPr>
                        <m:t>,</m:t>
                      </m:r>
                      <m:r>
                        <a:rPr lang="pl-PL" i="1">
                          <a:latin typeface="Cambria Math" panose="02040503050406030204" pitchFamily="18" charset="0"/>
                        </a:rPr>
                        <m:t> </m:t>
                      </m:r>
                      <m:r>
                        <a:rPr lang="pl-PL" i="1">
                          <a:latin typeface="Cambria Math" panose="02040503050406030204" pitchFamily="18" charset="0"/>
                        </a:rPr>
                        <m:t>𝑘</m:t>
                      </m:r>
                      <m:r>
                        <a:rPr lang="en-US" b="0" i="1" smtClean="0">
                          <a:latin typeface="Cambria Math" panose="02040503050406030204" pitchFamily="18" charset="0"/>
                        </a:rPr>
                        <m:t>,</m:t>
                      </m:r>
                      <m:r>
                        <a:rPr lang="pl-PL" i="1">
                          <a:latin typeface="Cambria Math" panose="02040503050406030204" pitchFamily="18" charset="0"/>
                        </a:rPr>
                        <m:t> </m:t>
                      </m:r>
                      <m:r>
                        <a:rPr lang="pl-PL" i="1">
                          <a:latin typeface="Cambria Math" panose="02040503050406030204" pitchFamily="18" charset="0"/>
                        </a:rPr>
                        <m:t>𝑝</m:t>
                      </m:r>
                      <m:r>
                        <a:rPr lang="pl-PL" i="1">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EE92C9DF-7D9A-213D-9189-649C57A828F6}"/>
                  </a:ext>
                </a:extLst>
              </p:cNvPr>
              <p:cNvSpPr txBox="1">
                <a:spLocks noRot="1" noChangeAspect="1" noMove="1" noResize="1" noEditPoints="1" noAdjustHandles="1" noChangeArrowheads="1" noChangeShapeType="1" noTextEdit="1"/>
              </p:cNvSpPr>
              <p:nvPr/>
            </p:nvSpPr>
            <p:spPr>
              <a:xfrm>
                <a:off x="5810566" y="5075626"/>
                <a:ext cx="2743315" cy="810286"/>
              </a:xfrm>
              <a:prstGeom prst="rect">
                <a:avLst/>
              </a:prstGeom>
              <a:blipFill>
                <a:blip r:embed="rId5"/>
                <a:stretch>
                  <a:fillRect b="-12030"/>
                </a:stretch>
              </a:blipFill>
            </p:spPr>
            <p:txBody>
              <a:bodyPr/>
              <a:lstStyle/>
              <a:p>
                <a:r>
                  <a:rPr lang="en-US">
                    <a:noFill/>
                  </a:rPr>
                  <a:t> </a:t>
                </a:r>
              </a:p>
            </p:txBody>
          </p:sp>
        </mc:Fallback>
      </mc:AlternateContent>
    </p:spTree>
    <p:extLst>
      <p:ext uri="{BB962C8B-B14F-4D97-AF65-F5344CB8AC3E}">
        <p14:creationId xmlns:p14="http://schemas.microsoft.com/office/powerpoint/2010/main" val="2366666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A4D4-17A2-37C4-2703-872C4D710BE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5F86A27-A8D0-DA94-9C11-DE4388977EA1}"/>
              </a:ext>
            </a:extLst>
          </p:cNvPr>
          <p:cNvSpPr txBox="1"/>
          <p:nvPr/>
        </p:nvSpPr>
        <p:spPr>
          <a:xfrm>
            <a:off x="4990735" y="1447524"/>
            <a:ext cx="4066847" cy="4678682"/>
          </a:xfrm>
          <a:prstGeom prst="rect">
            <a:avLst/>
          </a:prstGeom>
          <a:noFill/>
          <a:ln>
            <a:noFill/>
          </a:ln>
        </p:spPr>
        <p:txBody>
          <a:bodyPr rtlCol="0" anchor="t">
            <a:normAutofit/>
          </a:bodyPr>
          <a:lstStyle/>
          <a:p>
            <a:pPr algn="ctr">
              <a:lnSpc>
                <a:spcPct val="90000"/>
              </a:lnSpc>
              <a:spcAft>
                <a:spcPts val="600"/>
              </a:spcAft>
            </a:pPr>
            <a:r>
              <a:rPr lang="en-US"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 PINNs for solving phonon BTE with large temperature non-equilibrium 2022</a:t>
            </a:r>
            <a:endParaRPr lang="en-US"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 Li et al.’s PINN BTE solver models the 2D rectangular phonon transport problem using isothermal boundaries</a:t>
            </a:r>
            <a:br>
              <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b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Their model suffers from inefficiency due to the high-dimensionality of the BTE: </a:t>
            </a: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takes </a:t>
            </a:r>
            <a:r>
              <a:rPr lang="en-US"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4 hours </a:t>
            </a:r>
            <a:r>
              <a:rPr lang="en-US"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to train PINN for all simulations</a:t>
            </a:r>
          </a:p>
          <a:p>
            <a:pPr marL="285750" indent="-285750" algn="ctr">
              <a:lnSpc>
                <a:spcPct val="90000"/>
              </a:lnSpc>
              <a:spcAft>
                <a:spcPts val="600"/>
              </a:spcAft>
              <a:buFont typeface="Arial" panose="020B0604020202020204" pitchFamily="34" charset="0"/>
              <a:buChar char="•"/>
            </a:pP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Aft>
                <a:spcPts val="600"/>
              </a:spcAft>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Goals</a:t>
            </a:r>
            <a:endParaRPr lang="en-US"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Translate Li et al.’s open-sourc</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e code into Python TensorFlow</a:t>
            </a: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marL="285750" indent="-285750">
              <a:lnSpc>
                <a:spcPct val="90000"/>
              </a:lnSpc>
              <a:spcAft>
                <a:spcPts val="600"/>
              </a:spcAft>
              <a:buFont typeface="Arial" panose="020B0604020202020204" pitchFamily="34" charset="0"/>
              <a:buChar char="•"/>
            </a:pPr>
            <a:r>
              <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Reduce computational resources </a:t>
            </a:r>
          </a:p>
          <a:p>
            <a:pPr>
              <a:lnSpc>
                <a:spcPct val="90000"/>
              </a:lnSpc>
              <a:spcAft>
                <a:spcPts val="600"/>
              </a:spcAft>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 </a:t>
            </a: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Shape 661">
            <a:extLst>
              <a:ext uri="{FF2B5EF4-FFF2-40B4-BE49-F238E27FC236}">
                <a16:creationId xmlns:a16="http://schemas.microsoft.com/office/drawing/2014/main" id="{A1739632-EF3E-3F67-4E37-238FA27CDC07}"/>
              </a:ext>
            </a:extLst>
          </p:cNvPr>
          <p:cNvSpPr/>
          <p:nvPr/>
        </p:nvSpPr>
        <p:spPr>
          <a:xfrm>
            <a:off x="0" y="-4184"/>
            <a:ext cx="9144001" cy="400110"/>
          </a:xfrm>
          <a:prstGeom prst="rect">
            <a:avLst/>
          </a:prstGeom>
          <a:solidFill>
            <a:srgbClr val="002060"/>
          </a:solidFill>
          <a:ln w="12700">
            <a:miter lim="400000"/>
          </a:ln>
          <a:extLst>
            <a:ext uri="{C572A759-6A51-4108-AA02-DFA0A04FC94B}">
              <ma14:wrappingTextBoxFlag xmlns="" xmlns:ma14="http://schemas.microsoft.com/office/mac/drawingml/2011/main" val="1"/>
            </a:ext>
          </a:extLst>
        </p:spPr>
        <p:txBody>
          <a:bodyPr lIns="45719" rIns="45719">
            <a:spAutoFit/>
          </a:bodyPr>
          <a:lstStyle/>
          <a:p>
            <a:pPr algn="ctr" defTabSz="342880" hangingPunct="0">
              <a:defRPr sz="2500">
                <a:solidFill>
                  <a:srgbClr val="FFFFFF"/>
                </a:solidFill>
                <a:latin typeface="Arial"/>
                <a:ea typeface="Arial"/>
                <a:cs typeface="Arial"/>
                <a:sym typeface="Arial"/>
              </a:defRPr>
            </a:pPr>
            <a:r>
              <a:rPr lang="en-US" altLang="zh-CN" sz="2000" kern="0" dirty="0">
                <a:solidFill>
                  <a:schemeClr val="bg1"/>
                </a:solidFill>
                <a:latin typeface="Arial" panose="020B0604020202020204" pitchFamily="34" charset="0"/>
                <a:cs typeface="Arial" panose="020B0604020202020204" pitchFamily="34" charset="0"/>
                <a:sym typeface="Arial"/>
              </a:rPr>
              <a:t>PINN -- BTE</a:t>
            </a:r>
            <a:endParaRPr lang="en-US" sz="2000" kern="0" dirty="0">
              <a:solidFill>
                <a:schemeClr val="bg1"/>
              </a:solidFill>
              <a:latin typeface="Arial" panose="020B0604020202020204" pitchFamily="34" charset="0"/>
              <a:cs typeface="Arial" panose="020B0604020202020204" pitchFamily="34" charset="0"/>
              <a:sym typeface="Arial"/>
            </a:endParaRPr>
          </a:p>
        </p:txBody>
      </p:sp>
      <p:grpSp>
        <p:nvGrpSpPr>
          <p:cNvPr id="20" name="Group 19">
            <a:extLst>
              <a:ext uri="{FF2B5EF4-FFF2-40B4-BE49-F238E27FC236}">
                <a16:creationId xmlns:a16="http://schemas.microsoft.com/office/drawing/2014/main" id="{6187B403-7E03-CDAF-1F93-47799BCDA0FC}"/>
              </a:ext>
            </a:extLst>
          </p:cNvPr>
          <p:cNvGrpSpPr/>
          <p:nvPr/>
        </p:nvGrpSpPr>
        <p:grpSpPr>
          <a:xfrm>
            <a:off x="224196" y="700652"/>
            <a:ext cx="4455959" cy="3204501"/>
            <a:chOff x="527049" y="1026291"/>
            <a:chExt cx="3780791" cy="2822489"/>
          </a:xfrm>
        </p:grpSpPr>
        <p:pic>
          <p:nvPicPr>
            <p:cNvPr id="18" name="Picture 17">
              <a:extLst>
                <a:ext uri="{FF2B5EF4-FFF2-40B4-BE49-F238E27FC236}">
                  <a16:creationId xmlns:a16="http://schemas.microsoft.com/office/drawing/2014/main" id="{64C9873A-4756-03ED-A7C6-76E989D90661}"/>
                </a:ext>
              </a:extLst>
            </p:cNvPr>
            <p:cNvPicPr>
              <a:picLocks noChangeAspect="1"/>
            </p:cNvPicPr>
            <p:nvPr/>
          </p:nvPicPr>
          <p:blipFill>
            <a:blip r:embed="rId3"/>
            <a:stretch>
              <a:fillRect/>
            </a:stretch>
          </p:blipFill>
          <p:spPr>
            <a:xfrm>
              <a:off x="527049" y="1274220"/>
              <a:ext cx="3601019" cy="2574560"/>
            </a:xfrm>
            <a:prstGeom prst="rect">
              <a:avLst/>
            </a:prstGeom>
          </p:spPr>
        </p:pic>
        <p:sp>
          <p:nvSpPr>
            <p:cNvPr id="19" name="TextBox 18">
              <a:extLst>
                <a:ext uri="{FF2B5EF4-FFF2-40B4-BE49-F238E27FC236}">
                  <a16:creationId xmlns:a16="http://schemas.microsoft.com/office/drawing/2014/main" id="{6496E650-597E-DBA3-D86C-24F8A64FA30E}"/>
                </a:ext>
              </a:extLst>
            </p:cNvPr>
            <p:cNvSpPr txBox="1"/>
            <p:nvPr/>
          </p:nvSpPr>
          <p:spPr>
            <a:xfrm>
              <a:off x="2194502" y="1026291"/>
              <a:ext cx="2113338" cy="369332"/>
            </a:xfrm>
            <a:prstGeom prst="rect">
              <a:avLst/>
            </a:prstGeom>
            <a:solidFill>
              <a:schemeClr val="bg1"/>
            </a:solidFill>
            <a:ln>
              <a:solidFill>
                <a:schemeClr val="bg1"/>
              </a:solidFill>
            </a:ln>
          </p:spPr>
          <p:txBody>
            <a:bodyPr wrap="square">
              <a:spAutoFit/>
            </a:bodyPr>
            <a:lstStyle/>
            <a:p>
              <a:endParaRPr lang="en-US" dirty="0"/>
            </a:p>
          </p:txBody>
        </p:sp>
      </p:grpSp>
      <p:pic>
        <p:nvPicPr>
          <p:cNvPr id="22" name="Picture 21">
            <a:extLst>
              <a:ext uri="{FF2B5EF4-FFF2-40B4-BE49-F238E27FC236}">
                <a16:creationId xmlns:a16="http://schemas.microsoft.com/office/drawing/2014/main" id="{A81D92A9-41DF-791C-B96D-4496185A3991}"/>
              </a:ext>
            </a:extLst>
          </p:cNvPr>
          <p:cNvPicPr>
            <a:picLocks noChangeAspect="1"/>
          </p:cNvPicPr>
          <p:nvPr/>
        </p:nvPicPr>
        <p:blipFill>
          <a:blip r:embed="rId4"/>
          <a:stretch>
            <a:fillRect/>
          </a:stretch>
        </p:blipFill>
        <p:spPr>
          <a:xfrm>
            <a:off x="86417" y="4436931"/>
            <a:ext cx="4904319" cy="1865974"/>
          </a:xfrm>
          <a:prstGeom prst="rect">
            <a:avLst/>
          </a:prstGeom>
        </p:spPr>
      </p:pic>
    </p:spTree>
    <p:extLst>
      <p:ext uri="{BB962C8B-B14F-4D97-AF65-F5344CB8AC3E}">
        <p14:creationId xmlns:p14="http://schemas.microsoft.com/office/powerpoint/2010/main" val="4112168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33AB-9898-72E9-BA11-5782B254D65C}"/>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ACBFDFA0-1361-4DFC-F1CA-BE4443907DEE}"/>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5175D22E-0B15-39B8-0D39-C500DFEF4C16}"/>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Söhne"/>
                <a:cs typeface="Arial" panose="020B0604020202020204" pitchFamily="34" charset="0"/>
                <a:sym typeface="Arial"/>
              </a:rPr>
              <a:t>BTE – Our Developed Approach</a:t>
            </a:r>
            <a:endParaRPr lang="en-US" altLang="zh-CN" sz="2000" kern="0" dirty="0">
              <a:solidFill>
                <a:schemeClr val="bg1"/>
              </a:solidFill>
              <a:latin typeface="Arial" panose="020B0604020202020204" pitchFamily="34" charset="0"/>
              <a:cs typeface="Arial" panose="020B0604020202020204" pitchFamily="34" charset="0"/>
              <a:sym typeface="Arial"/>
            </a:endParaRPr>
          </a:p>
        </p:txBody>
      </p:sp>
      <p:pic>
        <p:nvPicPr>
          <p:cNvPr id="4100" name="Picture 4">
            <a:extLst>
              <a:ext uri="{FF2B5EF4-FFF2-40B4-BE49-F238E27FC236}">
                <a16:creationId xmlns:a16="http://schemas.microsoft.com/office/drawing/2014/main" id="{DC2C80FB-11AF-B8AA-4680-D76DD0EFBC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6244"/>
          <a:stretch/>
        </p:blipFill>
        <p:spPr bwMode="auto">
          <a:xfrm>
            <a:off x="-39329" y="1032008"/>
            <a:ext cx="5970966" cy="316967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D8E5F9E1-3D03-1701-4E1D-44268126AF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46" y="4250848"/>
            <a:ext cx="5666472" cy="26049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E4319B-2748-C554-41BA-3E903BA9E96F}"/>
              </a:ext>
            </a:extLst>
          </p:cNvPr>
          <p:cNvSpPr txBox="1"/>
          <p:nvPr/>
        </p:nvSpPr>
        <p:spPr>
          <a:xfrm>
            <a:off x="6525292" y="1572815"/>
            <a:ext cx="2618708" cy="4351961"/>
          </a:xfrm>
          <a:prstGeom prst="rect">
            <a:avLst/>
          </a:prstGeom>
          <a:noFill/>
        </p:spPr>
        <p:txBody>
          <a:bodyPr wrap="square">
            <a:spAutoFit/>
          </a:bodyPr>
          <a:lstStyle/>
          <a:p>
            <a:pPr>
              <a:lnSpc>
                <a:spcPct val="90000"/>
              </a:lnSpc>
              <a:spcAft>
                <a:spcPts val="600"/>
              </a:spcAft>
            </a:pPr>
            <a:r>
              <a:rPr lang="en-US" sz="1400" b="1" dirty="0">
                <a:solidFill>
                  <a:schemeClr val="dk2"/>
                </a:solidFill>
                <a:latin typeface="Calibri" panose="020F0502020204030204" pitchFamily="34" charset="0"/>
                <a:ea typeface="Calibri" panose="020F0502020204030204" pitchFamily="34" charset="0"/>
                <a:cs typeface="Calibri" panose="020F0502020204030204" pitchFamily="34" charset="0"/>
              </a:rPr>
              <a:t>Our Approach</a:t>
            </a:r>
          </a:p>
          <a:p>
            <a:pPr marL="285750" indent="-285750">
              <a:lnSpc>
                <a:spcPct val="90000"/>
              </a:lnSpc>
              <a:spcAft>
                <a:spcPts val="600"/>
              </a:spcAft>
              <a:buFont typeface="Arial" panose="020B0604020202020204" pitchFamily="34" charset="0"/>
              <a:buChar char="•"/>
            </a:pPr>
            <a:r>
              <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Use hard constraints </a:t>
            </a:r>
          </a:p>
          <a:p>
            <a:pPr marL="742950" lvl="1" indent="-285750">
              <a:lnSpc>
                <a:spcPct val="90000"/>
              </a:lnSpc>
              <a:spcAft>
                <a:spcPts val="600"/>
              </a:spcAft>
              <a:buFont typeface="Arial" panose="020B0604020202020204" pitchFamily="34" charset="0"/>
              <a:buChar char="•"/>
            </a:pPr>
            <a:r>
              <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Post processing step, done with multiplying the Network output with nullifying function</a:t>
            </a:r>
          </a:p>
          <a:p>
            <a:pPr marL="742950" lvl="1" indent="-285750">
              <a:lnSpc>
                <a:spcPct val="90000"/>
              </a:lnSpc>
              <a:spcAft>
                <a:spcPts val="600"/>
              </a:spcAft>
              <a:buFont typeface="Arial" panose="020B0604020202020204" pitchFamily="34" charset="0"/>
              <a:buChar char="•"/>
            </a:pPr>
            <a:r>
              <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Satisfy boundary conditions by construction</a:t>
            </a:r>
          </a:p>
          <a:p>
            <a:pPr marL="285750" indent="-285750">
              <a:lnSpc>
                <a:spcPct val="90000"/>
              </a:lnSpc>
              <a:spcAft>
                <a:spcPts val="600"/>
              </a:spcAft>
              <a:buFont typeface="Arial" panose="020B0604020202020204" pitchFamily="34" charset="0"/>
              <a:buChar char="•"/>
            </a:pPr>
            <a:r>
              <a:rPr lang="en-US" sz="1400" dirty="0">
                <a:solidFill>
                  <a:schemeClr val="dk2"/>
                </a:solidFill>
                <a:latin typeface="Calibri" panose="020F0502020204030204" pitchFamily="34" charset="0"/>
                <a:ea typeface="Calibri" panose="020F0502020204030204" pitchFamily="34" charset="0"/>
                <a:cs typeface="Calibri" panose="020F0502020204030204" pitchFamily="34" charset="0"/>
              </a:rPr>
              <a:t>Adaptive Network Initialization</a:t>
            </a:r>
            <a:endPar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endParaRPr lang="en-US" sz="1400" b="1" dirty="0">
              <a:solidFill>
                <a:schemeClr val="dk2"/>
              </a:solidFill>
              <a:latin typeface="Calibri" panose="020F0502020204030204" pitchFamily="34" charset="0"/>
              <a:ea typeface="Calibri" panose="020F0502020204030204" pitchFamily="34" charset="0"/>
              <a:cs typeface="Calibri" panose="020F0502020204030204" pitchFamily="34" charset="0"/>
            </a:endParaRPr>
          </a:p>
          <a:p>
            <a:pPr>
              <a:lnSpc>
                <a:spcPct val="90000"/>
              </a:lnSpc>
              <a:spcAft>
                <a:spcPts val="600"/>
              </a:spcAft>
            </a:pPr>
            <a:r>
              <a:rPr lang="en-US" sz="1400" b="1" dirty="0">
                <a:solidFill>
                  <a:schemeClr val="dk2"/>
                </a:solidFill>
                <a:latin typeface="Calibri" panose="020F0502020204030204" pitchFamily="34" charset="0"/>
                <a:ea typeface="Calibri" panose="020F0502020204030204" pitchFamily="34" charset="0"/>
                <a:cs typeface="Calibri" panose="020F0502020204030204" pitchFamily="34" charset="0"/>
              </a:rPr>
              <a:t>Benefits</a:t>
            </a:r>
          </a:p>
          <a:p>
            <a:pPr marL="285750" indent="-285750">
              <a:lnSpc>
                <a:spcPct val="90000"/>
              </a:lnSpc>
              <a:spcAft>
                <a:spcPts val="600"/>
              </a:spcAft>
              <a:buFont typeface="Arial" panose="020B0604020202020204" pitchFamily="34" charset="0"/>
              <a:buChar char="•"/>
            </a:pPr>
            <a:r>
              <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Deletes requirement for large boundary training grid</a:t>
            </a:r>
          </a:p>
          <a:p>
            <a:pPr marL="285750" indent="-285750">
              <a:lnSpc>
                <a:spcPct val="90000"/>
              </a:lnSpc>
              <a:spcAft>
                <a:spcPts val="600"/>
              </a:spcAft>
              <a:buFont typeface="Arial" panose="020B0604020202020204" pitchFamily="34" charset="0"/>
              <a:buChar char="•"/>
            </a:pPr>
            <a:r>
              <a:rPr lang="en-US" sz="1400" dirty="0">
                <a:solidFill>
                  <a:schemeClr val="dk2"/>
                </a:solidFill>
                <a:latin typeface="Calibri" panose="020F0502020204030204" pitchFamily="34" charset="0"/>
                <a:ea typeface="Calibri" panose="020F0502020204030204" pitchFamily="34" charset="0"/>
                <a:cs typeface="Calibri" panose="020F0502020204030204" pitchFamily="34" charset="0"/>
              </a:rPr>
              <a:t>Allows for smaller models</a:t>
            </a:r>
          </a:p>
          <a:p>
            <a:pPr marL="285750" indent="-285750">
              <a:lnSpc>
                <a:spcPct val="90000"/>
              </a:lnSpc>
              <a:spcAft>
                <a:spcPts val="600"/>
              </a:spcAft>
              <a:buFont typeface="Arial" panose="020B0604020202020204" pitchFamily="34" charset="0"/>
              <a:buChar char="•"/>
            </a:pPr>
            <a:r>
              <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Speeds up convergence </a:t>
            </a:r>
          </a:p>
          <a:p>
            <a:pPr>
              <a:lnSpc>
                <a:spcPct val="90000"/>
              </a:lnSpc>
              <a:spcAft>
                <a:spcPts val="600"/>
              </a:spcAft>
            </a:pPr>
            <a:endParaRPr lang="en-US" sz="140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cxnSp>
        <p:nvCxnSpPr>
          <p:cNvPr id="8" name="Straight Arrow Connector 7">
            <a:extLst>
              <a:ext uri="{FF2B5EF4-FFF2-40B4-BE49-F238E27FC236}">
                <a16:creationId xmlns:a16="http://schemas.microsoft.com/office/drawing/2014/main" id="{E892BA6F-172B-9CD4-4080-2DA35CAC2F16}"/>
              </a:ext>
            </a:extLst>
          </p:cNvPr>
          <p:cNvCxnSpPr>
            <a:cxnSpLocks/>
          </p:cNvCxnSpPr>
          <p:nvPr/>
        </p:nvCxnSpPr>
        <p:spPr>
          <a:xfrm flipH="1" flipV="1">
            <a:off x="4257368" y="1295700"/>
            <a:ext cx="2349909" cy="66091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321C248-ABF3-6857-FEA0-A6D72DD8429B}"/>
              </a:ext>
            </a:extLst>
          </p:cNvPr>
          <p:cNvCxnSpPr>
            <a:cxnSpLocks/>
          </p:cNvCxnSpPr>
          <p:nvPr/>
        </p:nvCxnSpPr>
        <p:spPr>
          <a:xfrm flipH="1">
            <a:off x="3845453" y="1956619"/>
            <a:ext cx="2761824" cy="240846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13309D8-B61C-31D2-22F4-5AA94E798ADC}"/>
              </a:ext>
            </a:extLst>
          </p:cNvPr>
          <p:cNvCxnSpPr>
            <a:cxnSpLocks/>
          </p:cNvCxnSpPr>
          <p:nvPr/>
        </p:nvCxnSpPr>
        <p:spPr>
          <a:xfrm flipH="1">
            <a:off x="5545394" y="3733800"/>
            <a:ext cx="1119566" cy="6312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19B2B3D-2B24-581C-C2D9-FB96D81431D5}"/>
              </a:ext>
            </a:extLst>
          </p:cNvPr>
          <p:cNvSpPr txBox="1"/>
          <p:nvPr/>
        </p:nvSpPr>
        <p:spPr>
          <a:xfrm>
            <a:off x="-2409092" y="1773798"/>
            <a:ext cx="4818184" cy="341632"/>
          </a:xfrm>
          <a:prstGeom prst="rect">
            <a:avLst/>
          </a:prstGeom>
          <a:noFill/>
        </p:spPr>
        <p:txBody>
          <a:bodyPr wrap="square">
            <a:spAutoFit/>
          </a:bodyPr>
          <a:lstStyle/>
          <a:p>
            <a:pPr>
              <a:lnSpc>
                <a:spcPct val="90000"/>
              </a:lnSpc>
              <a:spcAft>
                <a:spcPts val="600"/>
              </a:spcAft>
            </a:pPr>
            <a:r>
              <a:rPr lang="en-US" b="1" dirty="0" err="1">
                <a:solidFill>
                  <a:schemeClr val="dk2"/>
                </a:solidFill>
                <a:latin typeface="Calibri" panose="020F0502020204030204" pitchFamily="34" charset="0"/>
                <a:ea typeface="Calibri" panose="020F0502020204030204" pitchFamily="34" charset="0"/>
                <a:cs typeface="Calibri" panose="020F0502020204030204" pitchFamily="34" charset="0"/>
              </a:rPr>
              <a:t>Feq</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Net</a:t>
            </a:r>
            <a:endParaRPr lang="en-US"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EFD94FB2-0BFC-E247-DEFF-BF81DF032221}"/>
              </a:ext>
            </a:extLst>
          </p:cNvPr>
          <p:cNvSpPr txBox="1"/>
          <p:nvPr/>
        </p:nvSpPr>
        <p:spPr>
          <a:xfrm>
            <a:off x="270747" y="4023449"/>
            <a:ext cx="4818184" cy="341632"/>
          </a:xfrm>
          <a:prstGeom prst="rect">
            <a:avLst/>
          </a:prstGeom>
          <a:noFill/>
        </p:spPr>
        <p:txBody>
          <a:bodyPr wrap="square">
            <a:spAutoFit/>
          </a:bodyPr>
          <a:lstStyle/>
          <a:p>
            <a:pPr>
              <a:lnSpc>
                <a:spcPct val="90000"/>
              </a:lnSpc>
              <a:spcAft>
                <a:spcPts val="600"/>
              </a:spcAft>
            </a:pPr>
            <a:r>
              <a:rPr lang="en-US" b="1" dirty="0" err="1">
                <a:solidFill>
                  <a:schemeClr val="dk2"/>
                </a:solidFill>
                <a:latin typeface="Calibri" panose="020F0502020204030204" pitchFamily="34" charset="0"/>
                <a:ea typeface="Calibri" panose="020F0502020204030204" pitchFamily="34" charset="0"/>
                <a:cs typeface="Calibri" panose="020F0502020204030204" pitchFamily="34" charset="0"/>
              </a:rPr>
              <a:t>Fneq</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Net</a:t>
            </a:r>
            <a:endParaRPr lang="en-US"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9EB1C099-E965-A5B5-3DFA-3B37D42C5523}"/>
              </a:ext>
            </a:extLst>
          </p:cNvPr>
          <p:cNvSpPr txBox="1"/>
          <p:nvPr/>
        </p:nvSpPr>
        <p:spPr>
          <a:xfrm>
            <a:off x="5465" y="443531"/>
            <a:ext cx="4817806" cy="590931"/>
          </a:xfrm>
          <a:prstGeom prst="rect">
            <a:avLst/>
          </a:prstGeom>
          <a:noFill/>
        </p:spPr>
        <p:txBody>
          <a:bodyPr wrap="square">
            <a:spAutoFit/>
          </a:bodyPr>
          <a:lstStyle/>
          <a:p>
            <a:pPr>
              <a:lnSpc>
                <a:spcPct val="90000"/>
              </a:lnSpc>
              <a:spcAft>
                <a:spcPts val="600"/>
              </a:spcAft>
            </a:pP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This work’s developed architecture (Python-TensorFlow code) for </a:t>
            </a:r>
            <a:r>
              <a:rPr lang="en-US" b="1" dirty="0" err="1">
                <a:solidFill>
                  <a:schemeClr val="dk2"/>
                </a:solidFill>
                <a:latin typeface="Calibri" panose="020F0502020204030204" pitchFamily="34" charset="0"/>
                <a:ea typeface="Calibri" panose="020F0502020204030204" pitchFamily="34" charset="0"/>
                <a:cs typeface="Calibri" panose="020F0502020204030204" pitchFamily="34" charset="0"/>
              </a:rPr>
              <a:t>Feq</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and </a:t>
            </a:r>
            <a:r>
              <a:rPr lang="en-US" b="1" dirty="0" err="1">
                <a:solidFill>
                  <a:schemeClr val="dk2"/>
                </a:solidFill>
                <a:latin typeface="Calibri" panose="020F0502020204030204" pitchFamily="34" charset="0"/>
                <a:ea typeface="Calibri" panose="020F0502020204030204" pitchFamily="34" charset="0"/>
                <a:cs typeface="Calibri" panose="020F0502020204030204" pitchFamily="34" charset="0"/>
              </a:rPr>
              <a:t>Fneq</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 Networks</a:t>
            </a:r>
            <a:endParaRPr lang="en-US" sz="1400" b="1" dirty="0"/>
          </a:p>
        </p:txBody>
      </p:sp>
    </p:spTree>
    <p:extLst>
      <p:ext uri="{BB962C8B-B14F-4D97-AF65-F5344CB8AC3E}">
        <p14:creationId xmlns:p14="http://schemas.microsoft.com/office/powerpoint/2010/main" val="146883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4646F-745F-29A5-36BE-DCDE23C7D9D7}"/>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B1B87475-6B30-5159-403D-1368E52F5CFC}"/>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5B380204-5709-31F5-5710-628768895C47}"/>
              </a:ext>
            </a:extLst>
          </p:cNvPr>
          <p:cNvSpPr/>
          <p:nvPr/>
        </p:nvSpPr>
        <p:spPr>
          <a:xfrm>
            <a:off x="0" y="-1954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Söhne"/>
                <a:cs typeface="Arial" panose="020B0604020202020204" pitchFamily="34" charset="0"/>
                <a:sym typeface="Arial"/>
              </a:rPr>
              <a:t>BTE Results</a:t>
            </a:r>
            <a:endParaRPr lang="en-US" altLang="zh-CN" sz="2000" kern="0" dirty="0">
              <a:solidFill>
                <a:schemeClr val="bg1"/>
              </a:solidFill>
              <a:latin typeface="Arial" panose="020B0604020202020204" pitchFamily="34" charset="0"/>
              <a:cs typeface="Arial" panose="020B0604020202020204" pitchFamily="34" charset="0"/>
              <a:sym typeface="Arial"/>
            </a:endParaRPr>
          </a:p>
        </p:txBody>
      </p:sp>
      <p:sp>
        <p:nvSpPr>
          <p:cNvPr id="2" name="TextBox 1">
            <a:extLst>
              <a:ext uri="{FF2B5EF4-FFF2-40B4-BE49-F238E27FC236}">
                <a16:creationId xmlns:a16="http://schemas.microsoft.com/office/drawing/2014/main" id="{0D046818-5BA4-5093-0297-0B8328D8E04D}"/>
              </a:ext>
            </a:extLst>
          </p:cNvPr>
          <p:cNvSpPr txBox="1"/>
          <p:nvPr/>
        </p:nvSpPr>
        <p:spPr>
          <a:xfrm>
            <a:off x="4967288" y="488460"/>
            <a:ext cx="4246562" cy="341632"/>
          </a:xfrm>
          <a:prstGeom prst="rect">
            <a:avLst/>
          </a:prstGeom>
          <a:noFill/>
        </p:spPr>
        <p:txBody>
          <a:bodyPr wrap="square">
            <a:spAutoFit/>
          </a:bodyPr>
          <a:lstStyle/>
          <a:p>
            <a:pPr>
              <a:lnSpc>
                <a:spcPct val="90000"/>
              </a:lnSpc>
              <a:spcAft>
                <a:spcPts val="600"/>
              </a:spcAft>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Domain geometry</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 </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and heating function </a:t>
            </a: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pic>
        <p:nvPicPr>
          <p:cNvPr id="6146" name="Picture 2">
            <a:extLst>
              <a:ext uri="{FF2B5EF4-FFF2-40B4-BE49-F238E27FC236}">
                <a16:creationId xmlns:a16="http://schemas.microsoft.com/office/drawing/2014/main" id="{B4C8C36B-F456-FAA2-1AEB-855B5313F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100" y="894441"/>
            <a:ext cx="1875631" cy="195236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861FAF4-815C-9D63-F8B7-E6992BE00A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086" y="894441"/>
            <a:ext cx="1875631" cy="206692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7EDFFF80-6DFC-F429-C8CD-A21EC51B97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28" y="3463937"/>
            <a:ext cx="4206272" cy="342626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603B1AA6-62D6-3B50-F19D-BCFEA33852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64858" y="3559187"/>
            <a:ext cx="3591208" cy="329881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680E7B0-ABEE-CA6B-00EE-A4FBF5463F59}"/>
              </a:ext>
            </a:extLst>
          </p:cNvPr>
          <p:cNvSpPr txBox="1"/>
          <p:nvPr/>
        </p:nvSpPr>
        <p:spPr>
          <a:xfrm>
            <a:off x="458877" y="997442"/>
            <a:ext cx="3145631" cy="1415772"/>
          </a:xfrm>
          <a:prstGeom prst="rect">
            <a:avLst/>
          </a:prstGeom>
          <a:noFill/>
        </p:spPr>
        <p:txBody>
          <a:bodyPr wrap="square">
            <a:spAutoFit/>
          </a:bodyPr>
          <a:lstStyle/>
          <a:p>
            <a:pP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Results</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 </a:t>
            </a:r>
          </a:p>
          <a:p>
            <a:pPr marL="342900" indent="-342900">
              <a:lnSpc>
                <a:spcPct val="90000"/>
              </a:lnSpc>
              <a:spcAft>
                <a:spcPts val="600"/>
              </a:spcAft>
              <a:buFont typeface="Arial" panose="020B0604020202020204" pitchFamily="34" charset="0"/>
              <a:buChar char="•"/>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Training time reduced from </a:t>
            </a: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4 hours </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for all simulations to</a:t>
            </a: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 </a:t>
            </a:r>
            <a:r>
              <a:rPr lang="en-US" b="1" dirty="0">
                <a:solidFill>
                  <a:schemeClr val="dk2"/>
                </a:solidFill>
                <a:latin typeface="Calibri" panose="020F0502020204030204" pitchFamily="34" charset="0"/>
                <a:ea typeface="Calibri" panose="020F0502020204030204" pitchFamily="34" charset="0"/>
                <a:cs typeface="Calibri" panose="020F0502020204030204" pitchFamily="34" charset="0"/>
              </a:rPr>
              <a:t>10 minutes </a:t>
            </a: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per length scale</a:t>
            </a:r>
          </a:p>
        </p:txBody>
      </p:sp>
      <p:sp>
        <p:nvSpPr>
          <p:cNvPr id="9" name="TextBox 8">
            <a:extLst>
              <a:ext uri="{FF2B5EF4-FFF2-40B4-BE49-F238E27FC236}">
                <a16:creationId xmlns:a16="http://schemas.microsoft.com/office/drawing/2014/main" id="{1EC7E251-43A1-2BA6-80A7-2C384E372577}"/>
              </a:ext>
            </a:extLst>
          </p:cNvPr>
          <p:cNvSpPr txBox="1"/>
          <p:nvPr/>
        </p:nvSpPr>
        <p:spPr>
          <a:xfrm>
            <a:off x="973139" y="3212930"/>
            <a:ext cx="1655761" cy="341632"/>
          </a:xfrm>
          <a:prstGeom prst="rect">
            <a:avLst/>
          </a:prstGeom>
          <a:noFill/>
        </p:spPr>
        <p:txBody>
          <a:bodyPr wrap="square">
            <a:spAutoFit/>
          </a:bodyPr>
          <a:lstStyle/>
          <a:p>
            <a:pPr>
              <a:lnSpc>
                <a:spcPct val="90000"/>
              </a:lnSpc>
              <a:spcAft>
                <a:spcPts val="600"/>
              </a:spcAft>
            </a:pPr>
            <a:r>
              <a:rPr lang="en-US"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Li et al.’s Work</a:t>
            </a:r>
          </a:p>
        </p:txBody>
      </p:sp>
      <p:sp>
        <p:nvSpPr>
          <p:cNvPr id="10" name="TextBox 9">
            <a:extLst>
              <a:ext uri="{FF2B5EF4-FFF2-40B4-BE49-F238E27FC236}">
                <a16:creationId xmlns:a16="http://schemas.microsoft.com/office/drawing/2014/main" id="{55DC033D-016B-7FB7-30B4-DF9CF7A80BC3}"/>
              </a:ext>
            </a:extLst>
          </p:cNvPr>
          <p:cNvSpPr txBox="1"/>
          <p:nvPr/>
        </p:nvSpPr>
        <p:spPr>
          <a:xfrm>
            <a:off x="5747309" y="3241945"/>
            <a:ext cx="2095592" cy="341632"/>
          </a:xfrm>
          <a:prstGeom prst="rect">
            <a:avLst/>
          </a:prstGeom>
          <a:noFill/>
        </p:spPr>
        <p:txBody>
          <a:bodyPr wrap="square">
            <a:spAutoFit/>
          </a:bodyPr>
          <a:lstStyle/>
          <a:p>
            <a:pPr algn="ctr">
              <a:lnSpc>
                <a:spcPct val="90000"/>
              </a:lnSpc>
              <a:spcAft>
                <a:spcPts val="600"/>
              </a:spcAft>
            </a:pPr>
            <a:r>
              <a:rPr lang="en-US" sz="1800" b="1"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rPr>
              <a:t>This Work</a:t>
            </a:r>
          </a:p>
        </p:txBody>
      </p:sp>
    </p:spTree>
    <p:extLst>
      <p:ext uri="{BB962C8B-B14F-4D97-AF65-F5344CB8AC3E}">
        <p14:creationId xmlns:p14="http://schemas.microsoft.com/office/powerpoint/2010/main" val="1747384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D69A8-D2E8-148C-876B-4ACC17472F8D}"/>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E3499A8A-FA35-A59A-A90E-6784A5F2DF3F}"/>
              </a:ext>
            </a:extLst>
          </p:cNvPr>
          <p:cNvSpPr/>
          <p:nvPr/>
        </p:nvSpPr>
        <p:spPr>
          <a:xfrm>
            <a:off x="645913" y="1357721"/>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C01F96F8-3BBF-683F-B300-8A26A95E95EC}"/>
              </a:ext>
            </a:extLst>
          </p:cNvPr>
          <p:cNvSpPr/>
          <p:nvPr/>
        </p:nvSpPr>
        <p:spPr>
          <a:xfrm>
            <a:off x="0" y="-1954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rgbClr val="ECECEC"/>
                </a:solidFill>
                <a:latin typeface="Söhne"/>
                <a:cs typeface="Arial" panose="020B0604020202020204" pitchFamily="34" charset="0"/>
                <a:sym typeface="Arial"/>
              </a:rPr>
              <a:t>BTE Results</a:t>
            </a:r>
            <a:endParaRPr lang="en-US" altLang="zh-CN" sz="2000" kern="0" dirty="0">
              <a:solidFill>
                <a:schemeClr val="bg1"/>
              </a:solidFill>
              <a:latin typeface="Arial" panose="020B0604020202020204" pitchFamily="34" charset="0"/>
              <a:cs typeface="Arial" panose="020B0604020202020204" pitchFamily="34" charset="0"/>
              <a:sym typeface="Arial"/>
            </a:endParaRPr>
          </a:p>
        </p:txBody>
      </p:sp>
      <p:grpSp>
        <p:nvGrpSpPr>
          <p:cNvPr id="3" name="Group 2">
            <a:extLst>
              <a:ext uri="{FF2B5EF4-FFF2-40B4-BE49-F238E27FC236}">
                <a16:creationId xmlns:a16="http://schemas.microsoft.com/office/drawing/2014/main" id="{03E2FAC4-47D0-0DF8-86F0-17F1EAE3C332}"/>
              </a:ext>
            </a:extLst>
          </p:cNvPr>
          <p:cNvGrpSpPr/>
          <p:nvPr/>
        </p:nvGrpSpPr>
        <p:grpSpPr>
          <a:xfrm>
            <a:off x="779318" y="1181076"/>
            <a:ext cx="4932391" cy="5142468"/>
            <a:chOff x="1922318" y="1535426"/>
            <a:chExt cx="4932391" cy="5142468"/>
          </a:xfrm>
        </p:grpSpPr>
        <p:pic>
          <p:nvPicPr>
            <p:cNvPr id="8194" name="Picture 2">
              <a:extLst>
                <a:ext uri="{FF2B5EF4-FFF2-40B4-BE49-F238E27FC236}">
                  <a16:creationId xmlns:a16="http://schemas.microsoft.com/office/drawing/2014/main" id="{BBF9002E-F832-C312-7097-8395FAA20A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2318" y="1653186"/>
              <a:ext cx="4932391" cy="50247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54B681C-7201-D351-470B-302ECB479258}"/>
                </a:ext>
              </a:extLst>
            </p:cNvPr>
            <p:cNvSpPr txBox="1"/>
            <p:nvPr/>
          </p:nvSpPr>
          <p:spPr>
            <a:xfrm>
              <a:off x="2400300" y="1535426"/>
              <a:ext cx="4374573" cy="341632"/>
            </a:xfrm>
            <a:prstGeom prst="rect">
              <a:avLst/>
            </a:prstGeom>
            <a:solidFill>
              <a:schemeClr val="bg1"/>
            </a:solidFill>
          </p:spPr>
          <p:txBody>
            <a:bodyPr wrap="square">
              <a:spAutoFit/>
            </a:bodyPr>
            <a:lstStyle/>
            <a:p>
              <a:pPr algn="ctr">
                <a:lnSpc>
                  <a:spcPct val="90000"/>
                </a:lnSpc>
                <a:spcAft>
                  <a:spcPts val="600"/>
                </a:spcAft>
              </a:pPr>
              <a:r>
                <a:rPr lang="en-US" dirty="0">
                  <a:solidFill>
                    <a:schemeClr val="dk2"/>
                  </a:solidFill>
                  <a:latin typeface="Calibri" panose="020F0502020204030204" pitchFamily="34" charset="0"/>
                  <a:ea typeface="Calibri" panose="020F0502020204030204" pitchFamily="34" charset="0"/>
                  <a:cs typeface="Calibri" panose="020F0502020204030204" pitchFamily="34" charset="0"/>
                </a:rPr>
                <a:t>Center axis cut of Temperature Profile</a:t>
              </a:r>
              <a:endParaRPr lang="en-US" sz="1800" b="0" i="0" u="none" strike="noStrike" cap="none"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9" name="TextBox 8">
            <a:extLst>
              <a:ext uri="{FF2B5EF4-FFF2-40B4-BE49-F238E27FC236}">
                <a16:creationId xmlns:a16="http://schemas.microsoft.com/office/drawing/2014/main" id="{3F76094C-9705-AB7B-6E81-DFA031DC6C96}"/>
              </a:ext>
            </a:extLst>
          </p:cNvPr>
          <p:cNvSpPr txBox="1"/>
          <p:nvPr/>
        </p:nvSpPr>
        <p:spPr>
          <a:xfrm>
            <a:off x="6255327" y="2524601"/>
            <a:ext cx="2545773" cy="1415772"/>
          </a:xfrm>
          <a:prstGeom prst="rect">
            <a:avLst/>
          </a:prstGeom>
          <a:noFill/>
        </p:spPr>
        <p:txBody>
          <a:bodyPr wrap="square">
            <a:spAutoFit/>
          </a:bodyPr>
          <a:lstStyle/>
          <a:p>
            <a:pPr algn="ctr">
              <a:lnSpc>
                <a:spcPct val="90000"/>
              </a:lnSpc>
              <a:spcAft>
                <a:spcPts val="600"/>
              </a:spcAft>
            </a:pPr>
            <a:r>
              <a:rPr lang="en-US" sz="1800" b="1" dirty="0">
                <a:solidFill>
                  <a:schemeClr val="dk2"/>
                </a:solidFill>
                <a:latin typeface="Calibri" panose="020F0502020204030204" pitchFamily="34" charset="0"/>
                <a:ea typeface="Calibri" panose="020F0502020204030204" pitchFamily="34" charset="0"/>
                <a:cs typeface="Calibri" panose="020F0502020204030204" pitchFamily="34" charset="0"/>
              </a:rPr>
              <a:t>Results</a:t>
            </a: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 </a:t>
            </a:r>
          </a:p>
          <a:p>
            <a:pPr marL="342900" indent="-342900">
              <a:lnSpc>
                <a:spcPct val="90000"/>
              </a:lnSpc>
              <a:spcAft>
                <a:spcPts val="600"/>
              </a:spcAft>
              <a:buFont typeface="Arial" panose="020B0604020202020204" pitchFamily="34" charset="0"/>
              <a:buChar char="•"/>
            </a:pPr>
            <a:r>
              <a:rPr lang="en-US" sz="1800" dirty="0">
                <a:solidFill>
                  <a:schemeClr val="dk2"/>
                </a:solidFill>
                <a:latin typeface="Calibri" panose="020F0502020204030204" pitchFamily="34" charset="0"/>
                <a:ea typeface="Calibri" panose="020F0502020204030204" pitchFamily="34" charset="0"/>
                <a:cs typeface="Calibri" panose="020F0502020204030204" pitchFamily="34" charset="0"/>
              </a:rPr>
              <a:t>As we decrease the length scale, we display more linear temperature profiles</a:t>
            </a:r>
          </a:p>
        </p:txBody>
      </p:sp>
    </p:spTree>
    <p:extLst>
      <p:ext uri="{BB962C8B-B14F-4D97-AF65-F5344CB8AC3E}">
        <p14:creationId xmlns:p14="http://schemas.microsoft.com/office/powerpoint/2010/main" val="4282890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7A36C-A2A9-F470-7052-930506228B0A}"/>
            </a:ext>
          </a:extLst>
        </p:cNvPr>
        <p:cNvGrpSpPr/>
        <p:nvPr/>
      </p:nvGrpSpPr>
      <p:grpSpPr>
        <a:xfrm>
          <a:off x="0" y="0"/>
          <a:ext cx="0" cy="0"/>
          <a:chOff x="0" y="0"/>
          <a:chExt cx="0" cy="0"/>
        </a:xfrm>
      </p:grpSpPr>
      <p:sp>
        <p:nvSpPr>
          <p:cNvPr id="6" name="Shape 661">
            <a:extLst>
              <a:ext uri="{FF2B5EF4-FFF2-40B4-BE49-F238E27FC236}">
                <a16:creationId xmlns:a16="http://schemas.microsoft.com/office/drawing/2014/main" id="{5BE38649-E792-599F-8A2D-5DEE8D6C1118}"/>
              </a:ext>
            </a:extLst>
          </p:cNvPr>
          <p:cNvSpPr/>
          <p:nvPr/>
        </p:nvSpPr>
        <p:spPr>
          <a:xfrm>
            <a:off x="458877" y="1295700"/>
            <a:ext cx="9176504" cy="553998"/>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3000" kern="0" dirty="0">
              <a:solidFill>
                <a:srgbClr val="CC0700"/>
              </a:solidFill>
              <a:latin typeface="Arial"/>
              <a:cs typeface="Arial"/>
              <a:sym typeface="Arial"/>
            </a:endParaRPr>
          </a:p>
        </p:txBody>
      </p:sp>
      <p:sp>
        <p:nvSpPr>
          <p:cNvPr id="7" name="Shape 661">
            <a:extLst>
              <a:ext uri="{FF2B5EF4-FFF2-40B4-BE49-F238E27FC236}">
                <a16:creationId xmlns:a16="http://schemas.microsoft.com/office/drawing/2014/main" id="{BFAD31D0-935E-DD9F-6818-1129C115713B}"/>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dirty="0">
                <a:solidFill>
                  <a:srgbClr val="ECECEC"/>
                </a:solidFill>
                <a:latin typeface="Söhne"/>
                <a:cs typeface="Arial" panose="020B0604020202020204" pitchFamily="34" charset="0"/>
              </a:rPr>
              <a:t>Conclusions and final thoughts</a:t>
            </a:r>
            <a:endParaRPr lang="en-US" altLang="zh-CN" sz="2000" kern="0" dirty="0">
              <a:solidFill>
                <a:schemeClr val="bg1"/>
              </a:solidFill>
              <a:latin typeface="Arial" panose="020B0604020202020204" pitchFamily="34" charset="0"/>
              <a:cs typeface="Arial" panose="020B0604020202020204" pitchFamily="34" charset="0"/>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5711CBD-952E-1649-025B-69F17B689C02}"/>
                  </a:ext>
                </a:extLst>
              </p:cNvPr>
              <p:cNvSpPr txBox="1"/>
              <p:nvPr/>
            </p:nvSpPr>
            <p:spPr>
              <a:xfrm>
                <a:off x="152400" y="1258478"/>
                <a:ext cx="4309221" cy="2862322"/>
              </a:xfrm>
              <a:prstGeom prst="rect">
                <a:avLst/>
              </a:prstGeom>
              <a:noFill/>
            </p:spPr>
            <p:txBody>
              <a:bodyPr wrap="square">
                <a:spAutoFit/>
              </a:bodyPr>
              <a:lstStyle/>
              <a:p>
                <a:pPr>
                  <a:buNone/>
                </a:pPr>
                <a:r>
                  <a:rPr lang="en-US" b="1" dirty="0"/>
                  <a:t>MR-EPT Key Achievements</a:t>
                </a:r>
              </a:p>
              <a:p>
                <a:pPr>
                  <a:buFont typeface="Arial" panose="020B0604020202020204" pitchFamily="34" charset="0"/>
                  <a:buChar char="•"/>
                </a:pPr>
                <a:r>
                  <a:rPr lang="en-US" dirty="0"/>
                  <a:t> High-precision reconstruction with errors </a:t>
                </a:r>
                <a14:m>
                  <m:oMath xmlns:m="http://schemas.openxmlformats.org/officeDocument/2006/math">
                    <m:r>
                      <a:rPr lang="en-US" b="1" i="1" smtClean="0">
                        <a:latin typeface="Cambria Math" panose="02040503050406030204" pitchFamily="18" charset="0"/>
                      </a:rPr>
                      <m:t>≤ .</m:t>
                    </m:r>
                    <m:r>
                      <a:rPr lang="en-US" b="1" i="1" smtClean="0">
                        <a:latin typeface="Cambria Math" panose="02040503050406030204" pitchFamily="18" charset="0"/>
                      </a:rPr>
                      <m:t>𝟏</m:t>
                    </m:r>
                    <m:r>
                      <a:rPr lang="en-US" b="1" i="1" smtClean="0">
                        <a:latin typeface="Cambria Math" panose="02040503050406030204" pitchFamily="18" charset="0"/>
                      </a:rPr>
                      <m:t>%</m:t>
                    </m:r>
                  </m:oMath>
                </a14:m>
                <a:r>
                  <a:rPr lang="en-US" b="1" dirty="0"/>
                  <a:t> </a:t>
                </a:r>
                <a:r>
                  <a:rPr lang="en-US" dirty="0"/>
                  <a:t>on data with an </a:t>
                </a:r>
                <a:r>
                  <a:rPr lang="en-US" b="1" dirty="0"/>
                  <a:t>SNR of 200</a:t>
                </a:r>
              </a:p>
              <a:p>
                <a:pPr lvl="1">
                  <a:buFont typeface="Arial" panose="020B0604020202020204" pitchFamily="34" charset="0"/>
                  <a:buChar char="•"/>
                </a:pPr>
                <a:r>
                  <a:rPr lang="en-US" dirty="0"/>
                  <a:t>Original PIFON had </a:t>
                </a:r>
                <a14:m>
                  <m:oMath xmlns:m="http://schemas.openxmlformats.org/officeDocument/2006/math">
                    <m:r>
                      <a:rPr lang="en-US" b="0" i="1" smtClean="0">
                        <a:latin typeface="Cambria Math" panose="02040503050406030204" pitchFamily="18" charset="0"/>
                      </a:rPr>
                      <m:t>≤10%</m:t>
                    </m:r>
                  </m:oMath>
                </a14:m>
                <a:r>
                  <a:rPr lang="en-US" dirty="0"/>
                  <a:t> PNAE</a:t>
                </a:r>
              </a:p>
              <a:p>
                <a:pPr lvl="2">
                  <a:buFont typeface="Arial" panose="020B0604020202020204" pitchFamily="34" charset="0"/>
                  <a:buChar char="•"/>
                </a:pPr>
                <a:r>
                  <a:rPr lang="en-US" b="0" dirty="0"/>
                  <a:t> This work improves to </a:t>
                </a:r>
                <a14:m>
                  <m:oMath xmlns:m="http://schemas.openxmlformats.org/officeDocument/2006/math">
                    <m:r>
                      <a:rPr lang="en-US" b="1" i="1" smtClean="0">
                        <a:latin typeface="Cambria Math" panose="02040503050406030204" pitchFamily="18" charset="0"/>
                      </a:rPr>
                      <m:t>≤ .</m:t>
                    </m:r>
                    <m:r>
                      <a:rPr lang="en-US" b="1" i="1" smtClean="0">
                        <a:latin typeface="Cambria Math" panose="02040503050406030204" pitchFamily="18" charset="0"/>
                      </a:rPr>
                      <m:t>𝟎𝟏</m:t>
                    </m:r>
                    <m:r>
                      <a:rPr lang="en-US" b="1" i="1" smtClean="0">
                        <a:latin typeface="Cambria Math" panose="02040503050406030204" pitchFamily="18" charset="0"/>
                      </a:rPr>
                      <m:t>%</m:t>
                    </m:r>
                  </m:oMath>
                </a14:m>
                <a:endParaRPr lang="en-US" b="1" dirty="0"/>
              </a:p>
              <a:p>
                <a:pPr lvl="1">
                  <a:buFont typeface="Arial" panose="020B0604020202020204" pitchFamily="34" charset="0"/>
                  <a:buChar char="•"/>
                </a:pPr>
                <a:r>
                  <a:rPr lang="en-US" dirty="0"/>
                  <a:t>Developed </a:t>
                </a:r>
                <a:r>
                  <a:rPr lang="en-US" b="1" dirty="0"/>
                  <a:t>novel loss function </a:t>
                </a:r>
                <a:r>
                  <a:rPr lang="en-US" dirty="0"/>
                  <a:t>for discontinuous interface modeling</a:t>
                </a:r>
              </a:p>
              <a:p>
                <a:pPr lvl="2">
                  <a:buFont typeface="Arial" panose="020B0604020202020204" pitchFamily="34" charset="0"/>
                  <a:buChar char="•"/>
                </a:pPr>
                <a:r>
                  <a:rPr lang="en-US" dirty="0"/>
                  <a:t>Detailed methodology for resolving large errors</a:t>
                </a:r>
              </a:p>
              <a:p>
                <a:endParaRPr lang="en-US" dirty="0"/>
              </a:p>
            </p:txBody>
          </p:sp>
        </mc:Choice>
        <mc:Fallback xmlns="">
          <p:sp>
            <p:nvSpPr>
              <p:cNvPr id="3" name="TextBox 2">
                <a:extLst>
                  <a:ext uri="{FF2B5EF4-FFF2-40B4-BE49-F238E27FC236}">
                    <a16:creationId xmlns:a16="http://schemas.microsoft.com/office/drawing/2014/main" id="{85711CBD-952E-1649-025B-69F17B689C02}"/>
                  </a:ext>
                </a:extLst>
              </p:cNvPr>
              <p:cNvSpPr txBox="1">
                <a:spLocks noRot="1" noChangeAspect="1" noMove="1" noResize="1" noEditPoints="1" noAdjustHandles="1" noChangeArrowheads="1" noChangeShapeType="1" noTextEdit="1"/>
              </p:cNvSpPr>
              <p:nvPr/>
            </p:nvSpPr>
            <p:spPr>
              <a:xfrm>
                <a:off x="152400" y="1258478"/>
                <a:ext cx="4309221" cy="2862322"/>
              </a:xfrm>
              <a:prstGeom prst="rect">
                <a:avLst/>
              </a:prstGeom>
              <a:blipFill>
                <a:blip r:embed="rId3"/>
                <a:stretch>
                  <a:fillRect l="-1132" t="-106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7AB327D-1A0D-C127-C1C1-DE92D798F438}"/>
              </a:ext>
            </a:extLst>
          </p:cNvPr>
          <p:cNvSpPr txBox="1"/>
          <p:nvPr/>
        </p:nvSpPr>
        <p:spPr>
          <a:xfrm>
            <a:off x="5455922" y="4432620"/>
            <a:ext cx="3535678" cy="1754326"/>
          </a:xfrm>
          <a:prstGeom prst="rect">
            <a:avLst/>
          </a:prstGeom>
          <a:noFill/>
        </p:spPr>
        <p:txBody>
          <a:bodyPr wrap="square">
            <a:spAutoFit/>
          </a:bodyPr>
          <a:lstStyle/>
          <a:p>
            <a:pPr>
              <a:buNone/>
            </a:pPr>
            <a:r>
              <a:rPr lang="en-US" b="1" dirty="0"/>
              <a:t>Future Work – Next Steps</a:t>
            </a:r>
          </a:p>
          <a:p>
            <a:pPr>
              <a:buFont typeface="Arial" panose="020B0604020202020204" pitchFamily="34" charset="0"/>
              <a:buChar char="•"/>
            </a:pPr>
            <a:r>
              <a:rPr lang="en-US" b="1" dirty="0"/>
              <a:t>Validate</a:t>
            </a:r>
            <a:r>
              <a:rPr lang="en-US" dirty="0"/>
              <a:t> phonon BTE PINN with experimental results </a:t>
            </a:r>
          </a:p>
          <a:p>
            <a:pPr>
              <a:buFont typeface="Arial" panose="020B0604020202020204" pitchFamily="34" charset="0"/>
              <a:buChar char="•"/>
            </a:pPr>
            <a:r>
              <a:rPr lang="en-US" dirty="0"/>
              <a:t>Apply our architectures to model complex devices with </a:t>
            </a:r>
            <a:br>
              <a:rPr lang="en-US" dirty="0"/>
            </a:br>
            <a:r>
              <a:rPr lang="en-US" dirty="0"/>
              <a:t>multiple-materials</a:t>
            </a:r>
          </a:p>
        </p:txBody>
      </p:sp>
      <p:sp>
        <p:nvSpPr>
          <p:cNvPr id="10" name="TextBox 9">
            <a:extLst>
              <a:ext uri="{FF2B5EF4-FFF2-40B4-BE49-F238E27FC236}">
                <a16:creationId xmlns:a16="http://schemas.microsoft.com/office/drawing/2014/main" id="{F01081AC-EEA3-46E9-52C1-B56D66080F30}"/>
              </a:ext>
            </a:extLst>
          </p:cNvPr>
          <p:cNvSpPr txBox="1"/>
          <p:nvPr/>
        </p:nvSpPr>
        <p:spPr>
          <a:xfrm>
            <a:off x="152400" y="4432620"/>
            <a:ext cx="3877795" cy="2031325"/>
          </a:xfrm>
          <a:prstGeom prst="rect">
            <a:avLst/>
          </a:prstGeom>
          <a:noFill/>
        </p:spPr>
        <p:txBody>
          <a:bodyPr wrap="square">
            <a:spAutoFit/>
          </a:bodyPr>
          <a:lstStyle/>
          <a:p>
            <a:pPr>
              <a:buNone/>
            </a:pPr>
            <a:r>
              <a:rPr lang="en-US" b="1" dirty="0"/>
              <a:t>BTE Key Achievements</a:t>
            </a:r>
          </a:p>
          <a:p>
            <a:pPr marL="285750" indent="-285750">
              <a:buFont typeface="Arial" panose="020B0604020202020204" pitchFamily="34" charset="0"/>
              <a:buChar char="•"/>
            </a:pPr>
            <a:r>
              <a:rPr lang="en-US" dirty="0"/>
              <a:t>Developed </a:t>
            </a:r>
            <a:r>
              <a:rPr lang="en-US" b="1" dirty="0"/>
              <a:t>HC-PINN</a:t>
            </a:r>
            <a:r>
              <a:rPr lang="en-US" dirty="0"/>
              <a:t> for efficient phonon BTE solutions across thermal regimes</a:t>
            </a:r>
          </a:p>
          <a:p>
            <a:pPr marL="742950" lvl="1" indent="-285750">
              <a:buFont typeface="Arial" panose="020B0604020202020204" pitchFamily="34" charset="0"/>
              <a:buChar char="•"/>
            </a:pPr>
            <a:r>
              <a:rPr lang="en-US" dirty="0"/>
              <a:t>Reduced </a:t>
            </a:r>
            <a:r>
              <a:rPr lang="nb-NO" dirty="0"/>
              <a:t>Li et al.’s PINN training time from </a:t>
            </a:r>
            <a:r>
              <a:rPr lang="nb-NO" b="1" dirty="0"/>
              <a:t>4 hours </a:t>
            </a:r>
            <a:r>
              <a:rPr lang="nb-NO" dirty="0"/>
              <a:t>to </a:t>
            </a:r>
            <a:r>
              <a:rPr lang="nb-NO" b="1" dirty="0"/>
              <a:t>10 min</a:t>
            </a:r>
            <a:endParaRPr lang="en-US" dirty="0"/>
          </a:p>
          <a:p>
            <a:pPr>
              <a:buNone/>
            </a:pPr>
            <a:endParaRPr lang="en-US" b="1" dirty="0"/>
          </a:p>
        </p:txBody>
      </p:sp>
      <p:sp>
        <p:nvSpPr>
          <p:cNvPr id="12" name="TextBox 11">
            <a:extLst>
              <a:ext uri="{FF2B5EF4-FFF2-40B4-BE49-F238E27FC236}">
                <a16:creationId xmlns:a16="http://schemas.microsoft.com/office/drawing/2014/main" id="{4CDA2399-E4F0-3197-19DD-D4950CA1F851}"/>
              </a:ext>
            </a:extLst>
          </p:cNvPr>
          <p:cNvSpPr txBox="1"/>
          <p:nvPr/>
        </p:nvSpPr>
        <p:spPr>
          <a:xfrm>
            <a:off x="5455922" y="1265218"/>
            <a:ext cx="3474193" cy="2308324"/>
          </a:xfrm>
          <a:prstGeom prst="rect">
            <a:avLst/>
          </a:prstGeom>
          <a:noFill/>
        </p:spPr>
        <p:txBody>
          <a:bodyPr wrap="square">
            <a:spAutoFit/>
          </a:bodyPr>
          <a:lstStyle/>
          <a:p>
            <a:pPr>
              <a:buNone/>
            </a:pPr>
            <a:r>
              <a:rPr lang="en-US" b="1" dirty="0"/>
              <a:t>MR-EPT– Next Steps</a:t>
            </a:r>
          </a:p>
          <a:p>
            <a:pPr>
              <a:buFont typeface="Arial" panose="020B0604020202020204" pitchFamily="34" charset="0"/>
              <a:buChar char="•"/>
            </a:pPr>
            <a:r>
              <a:rPr lang="en-US" dirty="0"/>
              <a:t>Test proposed PINN architecture on realistic head phantoms for clinical relevance</a:t>
            </a:r>
          </a:p>
          <a:p>
            <a:pPr>
              <a:buFont typeface="Arial" panose="020B0604020202020204" pitchFamily="34" charset="0"/>
              <a:buChar char="•"/>
            </a:pPr>
            <a:r>
              <a:rPr lang="en-US" dirty="0"/>
              <a:t> Expand the Modified MSE to other interface-dependent PDEs to test generalization  </a:t>
            </a:r>
            <a:br>
              <a:rPr lang="en-US" dirty="0"/>
            </a:br>
            <a:endParaRPr lang="en-US" dirty="0"/>
          </a:p>
        </p:txBody>
      </p:sp>
    </p:spTree>
    <p:extLst>
      <p:ext uri="{BB962C8B-B14F-4D97-AF65-F5344CB8AC3E}">
        <p14:creationId xmlns:p14="http://schemas.microsoft.com/office/powerpoint/2010/main" val="3539048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661">
            <a:extLst>
              <a:ext uri="{FF2B5EF4-FFF2-40B4-BE49-F238E27FC236}">
                <a16:creationId xmlns:a16="http://schemas.microsoft.com/office/drawing/2014/main" id="{B31B46D3-578A-48BD-8BF6-6A2B1A4D0836}"/>
              </a:ext>
            </a:extLst>
          </p:cNvPr>
          <p:cNvSpPr/>
          <p:nvPr/>
        </p:nvSpPr>
        <p:spPr>
          <a:xfrm>
            <a:off x="-171494" y="342852"/>
            <a:ext cx="9176504" cy="400110"/>
          </a:xfrm>
          <a:prstGeom prst="rect">
            <a:avLst/>
          </a:prstGeom>
          <a:noFill/>
          <a:ln w="12700">
            <a:miter lim="400000"/>
          </a:ln>
          <a:extLst>
            <a:ext uri="{C572A759-6A51-4108-AA02-DFA0A04FC94B}">
              <ma14:wrappingTextBoxFlag xmlns:ma14="http://schemas.microsoft.com/office/mac/drawingml/2011/main" xmlns="" val="1"/>
            </a:ext>
          </a:extLst>
        </p:spPr>
        <p:txBody>
          <a:bodyPr wrap="square" lIns="45719" rIns="45719">
            <a:spAutoFit/>
          </a:bodyPr>
          <a:lstStyle/>
          <a:p>
            <a:pPr algn="ctr" defTabSz="457184" hangingPunct="0">
              <a:defRPr sz="2500">
                <a:solidFill>
                  <a:srgbClr val="FFFFFF"/>
                </a:solidFill>
                <a:latin typeface="Arial"/>
                <a:ea typeface="Arial"/>
                <a:cs typeface="Arial"/>
                <a:sym typeface="Arial"/>
              </a:defRPr>
            </a:pPr>
            <a:endParaRPr lang="en-US" altLang="zh-CN" sz="2000" kern="0" dirty="0">
              <a:solidFill>
                <a:srgbClr val="CC0700"/>
              </a:solidFill>
              <a:latin typeface="Arial"/>
              <a:cs typeface="Arial"/>
              <a:sym typeface="Arial"/>
            </a:endParaRPr>
          </a:p>
        </p:txBody>
      </p:sp>
      <p:sp>
        <p:nvSpPr>
          <p:cNvPr id="2" name="Shape 661">
            <a:extLst>
              <a:ext uri="{FF2B5EF4-FFF2-40B4-BE49-F238E27FC236}">
                <a16:creationId xmlns:a16="http://schemas.microsoft.com/office/drawing/2014/main" id="{6A7918CE-D229-0F13-669E-456809074A5F}"/>
              </a:ext>
            </a:extLst>
          </p:cNvPr>
          <p:cNvSpPr/>
          <p:nvPr/>
        </p:nvSpPr>
        <p:spPr>
          <a:xfrm>
            <a:off x="-1" y="-13252"/>
            <a:ext cx="9144001" cy="400110"/>
          </a:xfrm>
          <a:prstGeom prst="rect">
            <a:avLst/>
          </a:prstGeom>
          <a:solidFill>
            <a:srgbClr val="002060"/>
          </a:solidFill>
          <a:ln w="12700">
            <a:miter lim="400000"/>
          </a:ln>
          <a:extLst>
            <a:ext uri="{C572A759-6A51-4108-AA02-DFA0A04FC94B}">
              <ma14:wrappingTextBoxFlag xmlns:ma14="http://schemas.microsoft.com/office/mac/drawingml/2011/main" xmlns="" val="1"/>
            </a:ext>
          </a:extLst>
        </p:spPr>
        <p:txBody>
          <a:bodyPr lIns="45719" rIns="45719">
            <a:spAutoFit/>
          </a:bodyPr>
          <a:lstStyle/>
          <a:p>
            <a:pPr algn="ctr" defTabSz="457184" hangingPunct="0">
              <a:defRPr sz="2500">
                <a:solidFill>
                  <a:srgbClr val="FFFFFF"/>
                </a:solidFill>
                <a:latin typeface="Arial"/>
                <a:ea typeface="Arial"/>
                <a:cs typeface="Arial"/>
                <a:sym typeface="Arial"/>
              </a:defRPr>
            </a:pPr>
            <a:r>
              <a:rPr lang="en-US" altLang="zh-CN" sz="2000" kern="0" dirty="0">
                <a:solidFill>
                  <a:schemeClr val="bg1"/>
                </a:solidFill>
                <a:latin typeface="Arial"/>
                <a:cs typeface="Arial"/>
                <a:sym typeface="Arial"/>
              </a:rPr>
              <a:t>Acknowledgments</a:t>
            </a:r>
          </a:p>
        </p:txBody>
      </p:sp>
      <p:sp>
        <p:nvSpPr>
          <p:cNvPr id="6" name="TextBox 23">
            <a:extLst>
              <a:ext uri="{FF2B5EF4-FFF2-40B4-BE49-F238E27FC236}">
                <a16:creationId xmlns:a16="http://schemas.microsoft.com/office/drawing/2014/main" id="{010FAD52-B85C-ABF8-E228-49AB9156A558}"/>
              </a:ext>
            </a:extLst>
          </p:cNvPr>
          <p:cNvSpPr txBox="1"/>
          <p:nvPr/>
        </p:nvSpPr>
        <p:spPr>
          <a:xfrm>
            <a:off x="411084" y="3020258"/>
            <a:ext cx="2731838" cy="52322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dirty="0">
                <a:solidFill>
                  <a:srgbClr val="002060"/>
                </a:solidFill>
                <a:latin typeface="Helvetica"/>
                <a:cs typeface="Helvetica"/>
              </a:rPr>
              <a:t>Advisor: </a:t>
            </a:r>
            <a:r>
              <a:rPr kumimoji="0" lang="en-US" sz="1400" b="1" i="0" u="none" strike="noStrike" kern="1200" cap="none" spc="0" normalizeH="0" baseline="0" noProof="0" dirty="0">
                <a:ln>
                  <a:noFill/>
                </a:ln>
                <a:solidFill>
                  <a:srgbClr val="002060"/>
                </a:solidFill>
                <a:effectLst/>
                <a:uLnTx/>
                <a:uFillTx/>
                <a:latin typeface="Helvetica"/>
                <a:ea typeface="+mn-ea"/>
                <a:cs typeface="Helvetica"/>
              </a:rPr>
              <a:t>Prof. Luca Dal Negro</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srgbClr val="002060"/>
              </a:solidFill>
              <a:effectLst/>
              <a:uLnTx/>
              <a:uFillTx/>
              <a:latin typeface="Helvetica"/>
              <a:ea typeface="+mn-ea"/>
              <a:cs typeface="Helvetica"/>
            </a:endParaRPr>
          </a:p>
        </p:txBody>
      </p:sp>
      <p:pic>
        <p:nvPicPr>
          <p:cNvPr id="8" name="image2.png">
            <a:extLst>
              <a:ext uri="{FF2B5EF4-FFF2-40B4-BE49-F238E27FC236}">
                <a16:creationId xmlns:a16="http://schemas.microsoft.com/office/drawing/2014/main" id="{B07160BF-7BEE-2948-802F-F01498BE1FC3}"/>
              </a:ext>
            </a:extLst>
          </p:cNvPr>
          <p:cNvPicPr>
            <a:picLocks noChangeAspect="1"/>
          </p:cNvPicPr>
          <p:nvPr/>
        </p:nvPicPr>
        <p:blipFill>
          <a:blip r:embed="rId3"/>
          <a:stretch>
            <a:fillRect/>
          </a:stretch>
        </p:blipFill>
        <p:spPr>
          <a:xfrm>
            <a:off x="202981" y="5930809"/>
            <a:ext cx="2108807" cy="688294"/>
          </a:xfrm>
          <a:prstGeom prst="rect">
            <a:avLst/>
          </a:prstGeom>
          <a:ln w="12700">
            <a:miter lim="400000"/>
          </a:ln>
        </p:spPr>
      </p:pic>
      <p:pic>
        <p:nvPicPr>
          <p:cNvPr id="9" name="image3.png">
            <a:extLst>
              <a:ext uri="{FF2B5EF4-FFF2-40B4-BE49-F238E27FC236}">
                <a16:creationId xmlns:a16="http://schemas.microsoft.com/office/drawing/2014/main" id="{359B7660-DD0A-F5CB-2B66-E0ED84E09106}"/>
              </a:ext>
            </a:extLst>
          </p:cNvPr>
          <p:cNvPicPr>
            <a:picLocks noChangeAspect="1"/>
          </p:cNvPicPr>
          <p:nvPr/>
        </p:nvPicPr>
        <p:blipFill>
          <a:blip r:embed="rId4"/>
          <a:stretch>
            <a:fillRect/>
          </a:stretch>
        </p:blipFill>
        <p:spPr>
          <a:xfrm>
            <a:off x="7564274" y="5930809"/>
            <a:ext cx="1527771" cy="688294"/>
          </a:xfrm>
          <a:prstGeom prst="rect">
            <a:avLst/>
          </a:prstGeom>
          <a:ln w="12700">
            <a:miter lim="400000"/>
          </a:ln>
        </p:spPr>
      </p:pic>
      <p:sp>
        <p:nvSpPr>
          <p:cNvPr id="11" name="TextBox 10">
            <a:extLst>
              <a:ext uri="{FF2B5EF4-FFF2-40B4-BE49-F238E27FC236}">
                <a16:creationId xmlns:a16="http://schemas.microsoft.com/office/drawing/2014/main" id="{A316A0D8-D286-009B-04F4-D1C36D6DFF29}"/>
              </a:ext>
            </a:extLst>
          </p:cNvPr>
          <p:cNvSpPr txBox="1"/>
          <p:nvPr/>
        </p:nvSpPr>
        <p:spPr>
          <a:xfrm>
            <a:off x="1777004" y="810432"/>
            <a:ext cx="558999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Nanomaterials &amp; Nanostructure Optics Lab @ BU</a:t>
            </a:r>
          </a:p>
        </p:txBody>
      </p:sp>
      <p:sp>
        <p:nvSpPr>
          <p:cNvPr id="23" name="TextBox 22">
            <a:extLst>
              <a:ext uri="{FF2B5EF4-FFF2-40B4-BE49-F238E27FC236}">
                <a16:creationId xmlns:a16="http://schemas.microsoft.com/office/drawing/2014/main" id="{0DDF1697-8CAA-40F6-CD92-5683F8A425A3}"/>
              </a:ext>
            </a:extLst>
          </p:cNvPr>
          <p:cNvSpPr txBox="1"/>
          <p:nvPr/>
        </p:nvSpPr>
        <p:spPr>
          <a:xfrm>
            <a:off x="4106939" y="1375269"/>
            <a:ext cx="3788281" cy="2308324"/>
          </a:xfrm>
          <a:prstGeom prst="rect">
            <a:avLst/>
          </a:prstGeom>
          <a:noFill/>
        </p:spPr>
        <p:txBody>
          <a:bodyPr wrap="none" rtlCol="0">
            <a:spAutoFit/>
          </a:bodyPr>
          <a:lstStyle/>
          <a:p>
            <a:r>
              <a:rPr lang="en-US" b="1" dirty="0">
                <a:solidFill>
                  <a:srgbClr val="002060"/>
                </a:solidFill>
              </a:rPr>
              <a:t>Wiktor Lidwin </a:t>
            </a:r>
            <a:r>
              <a:rPr lang="en-US" dirty="0">
                <a:solidFill>
                  <a:srgbClr val="002060"/>
                </a:solidFill>
              </a:rPr>
              <a:t>(wlidwin@bu.edu)</a:t>
            </a:r>
            <a:endParaRPr lang="en-US" b="1" dirty="0">
              <a:solidFill>
                <a:srgbClr val="002060"/>
              </a:solidFill>
            </a:endParaRPr>
          </a:p>
          <a:p>
            <a:r>
              <a:rPr lang="en-US" dirty="0">
                <a:solidFill>
                  <a:srgbClr val="002060"/>
                </a:solidFill>
              </a:rPr>
              <a:t>Roberto </a:t>
            </a:r>
            <a:r>
              <a:rPr lang="en-US" dirty="0" err="1">
                <a:solidFill>
                  <a:srgbClr val="002060"/>
                </a:solidFill>
              </a:rPr>
              <a:t>Riganti</a:t>
            </a:r>
            <a:r>
              <a:rPr lang="en-US" dirty="0">
                <a:solidFill>
                  <a:srgbClr val="002060"/>
                </a:solidFill>
              </a:rPr>
              <a:t> </a:t>
            </a:r>
          </a:p>
          <a:p>
            <a:r>
              <a:rPr lang="en-US" dirty="0">
                <a:solidFill>
                  <a:srgbClr val="002060"/>
                </a:solidFill>
              </a:rPr>
              <a:t>Dr. Riccardo Franchi</a:t>
            </a:r>
          </a:p>
          <a:p>
            <a:r>
              <a:rPr lang="en-US" dirty="0">
                <a:solidFill>
                  <a:srgbClr val="002060"/>
                </a:solidFill>
              </a:rPr>
              <a:t>Tornike </a:t>
            </a:r>
            <a:r>
              <a:rPr lang="en-US" dirty="0" err="1">
                <a:solidFill>
                  <a:srgbClr val="002060"/>
                </a:solidFill>
              </a:rPr>
              <a:t>Shubitidze</a:t>
            </a:r>
            <a:endParaRPr lang="en-US" dirty="0">
              <a:solidFill>
                <a:srgbClr val="002060"/>
              </a:solidFill>
            </a:endParaRPr>
          </a:p>
          <a:p>
            <a:r>
              <a:rPr lang="en-US" dirty="0" err="1">
                <a:solidFill>
                  <a:srgbClr val="002060"/>
                </a:solidFill>
              </a:rPr>
              <a:t>Smridhi</a:t>
            </a:r>
            <a:r>
              <a:rPr lang="en-US" dirty="0">
                <a:solidFill>
                  <a:srgbClr val="002060"/>
                </a:solidFill>
              </a:rPr>
              <a:t> Chawla</a:t>
            </a:r>
          </a:p>
          <a:p>
            <a:r>
              <a:rPr lang="en-US" dirty="0">
                <a:solidFill>
                  <a:srgbClr val="002060"/>
                </a:solidFill>
              </a:rPr>
              <a:t>Peyton Brown</a:t>
            </a:r>
          </a:p>
          <a:p>
            <a:r>
              <a:rPr lang="en-US" dirty="0">
                <a:solidFill>
                  <a:srgbClr val="002060"/>
                </a:solidFill>
              </a:rPr>
              <a:t>Yilin Zhu (now at Huawei)</a:t>
            </a:r>
          </a:p>
          <a:p>
            <a:r>
              <a:rPr lang="en-US" dirty="0">
                <a:solidFill>
                  <a:srgbClr val="002060"/>
                </a:solidFill>
              </a:rPr>
              <a:t>Yuyao Chen</a:t>
            </a:r>
            <a:r>
              <a:rPr lang="en-US" b="1" dirty="0">
                <a:solidFill>
                  <a:srgbClr val="002060"/>
                </a:solidFill>
              </a:rPr>
              <a:t> </a:t>
            </a:r>
            <a:r>
              <a:rPr lang="en-US" dirty="0">
                <a:solidFill>
                  <a:srgbClr val="002060"/>
                </a:solidFill>
              </a:rPr>
              <a:t>(now at OMNIVISION)</a:t>
            </a:r>
          </a:p>
        </p:txBody>
      </p:sp>
      <p:sp>
        <p:nvSpPr>
          <p:cNvPr id="10" name="TextBox 9">
            <a:extLst>
              <a:ext uri="{FF2B5EF4-FFF2-40B4-BE49-F238E27FC236}">
                <a16:creationId xmlns:a16="http://schemas.microsoft.com/office/drawing/2014/main" id="{4B464B44-0929-9D46-EE01-52F89A33EFD8}"/>
              </a:ext>
            </a:extLst>
          </p:cNvPr>
          <p:cNvSpPr txBox="1"/>
          <p:nvPr/>
        </p:nvSpPr>
        <p:spPr>
          <a:xfrm>
            <a:off x="4138274" y="4008111"/>
            <a:ext cx="4254891" cy="2031325"/>
          </a:xfrm>
          <a:prstGeom prst="rect">
            <a:avLst/>
          </a:prstGeom>
          <a:noFill/>
        </p:spPr>
        <p:txBody>
          <a:bodyPr wrap="square" rtlCol="0">
            <a:spAutoFit/>
          </a:bodyPr>
          <a:lstStyle/>
          <a:p>
            <a:r>
              <a:rPr lang="en-US" b="1" dirty="0">
                <a:solidFill>
                  <a:srgbClr val="002060"/>
                </a:solidFill>
              </a:rPr>
              <a:t>Collaborators</a:t>
            </a:r>
          </a:p>
          <a:p>
            <a:r>
              <a:rPr lang="en-US" dirty="0">
                <a:solidFill>
                  <a:srgbClr val="002060"/>
                </a:solidFill>
              </a:rPr>
              <a:t>Prof. Enrico Bellotti (BU ECE)</a:t>
            </a:r>
          </a:p>
          <a:p>
            <a:r>
              <a:rPr lang="en-US" dirty="0">
                <a:solidFill>
                  <a:srgbClr val="002060"/>
                </a:solidFill>
              </a:rPr>
              <a:t>Dr. Ilias I. Giannakopoulos </a:t>
            </a:r>
          </a:p>
          <a:p>
            <a:r>
              <a:rPr lang="en-US" dirty="0">
                <a:solidFill>
                  <a:srgbClr val="002060"/>
                </a:solidFill>
              </a:rPr>
              <a:t>Prof. Riccardo Lattanzi </a:t>
            </a:r>
          </a:p>
          <a:p>
            <a:r>
              <a:rPr lang="en-US" dirty="0">
                <a:solidFill>
                  <a:srgbClr val="002060"/>
                </a:solidFill>
              </a:rPr>
              <a:t>Department of Radiology, </a:t>
            </a:r>
          </a:p>
          <a:p>
            <a:r>
              <a:rPr lang="en-US" dirty="0">
                <a:solidFill>
                  <a:srgbClr val="002060"/>
                </a:solidFill>
              </a:rPr>
              <a:t>New York University</a:t>
            </a:r>
          </a:p>
          <a:p>
            <a:r>
              <a:rPr lang="en-US" dirty="0">
                <a:solidFill>
                  <a:srgbClr val="002060"/>
                </a:solidFill>
              </a:rPr>
              <a:t>Grossman School of Medicine</a:t>
            </a:r>
          </a:p>
        </p:txBody>
      </p:sp>
      <p:sp>
        <p:nvSpPr>
          <p:cNvPr id="14" name="TextBox 13">
            <a:extLst>
              <a:ext uri="{FF2B5EF4-FFF2-40B4-BE49-F238E27FC236}">
                <a16:creationId xmlns:a16="http://schemas.microsoft.com/office/drawing/2014/main" id="{3CB7C6ED-2C47-C9F9-5181-EA69ECCC9B68}"/>
              </a:ext>
            </a:extLst>
          </p:cNvPr>
          <p:cNvSpPr txBox="1"/>
          <p:nvPr/>
        </p:nvSpPr>
        <p:spPr>
          <a:xfrm>
            <a:off x="605748" y="4069666"/>
            <a:ext cx="2342507" cy="954107"/>
          </a:xfrm>
          <a:prstGeom prst="rect">
            <a:avLst/>
          </a:prstGeom>
          <a:noFill/>
        </p:spPr>
        <p:txBody>
          <a:bodyPr wrap="square">
            <a:spAutoFit/>
          </a:bodyPr>
          <a:lstStyle/>
          <a:p>
            <a:pPr algn="just"/>
            <a:r>
              <a:rPr lang="en-US" sz="1400" dirty="0">
                <a:solidFill>
                  <a:srgbClr val="002060"/>
                </a:solidFill>
              </a:rPr>
              <a:t>Special Thanks to Roberto </a:t>
            </a:r>
            <a:r>
              <a:rPr lang="en-US" sz="1400" dirty="0" err="1">
                <a:solidFill>
                  <a:srgbClr val="002060"/>
                </a:solidFill>
              </a:rPr>
              <a:t>Riganti</a:t>
            </a:r>
            <a:r>
              <a:rPr lang="en-US" sz="1400" dirty="0">
                <a:solidFill>
                  <a:srgbClr val="002060"/>
                </a:solidFill>
              </a:rPr>
              <a:t> for the great help with PINN through this exciting  project!</a:t>
            </a:r>
          </a:p>
        </p:txBody>
      </p:sp>
      <p:pic>
        <p:nvPicPr>
          <p:cNvPr id="3074" name="Picture 2">
            <a:extLst>
              <a:ext uri="{FF2B5EF4-FFF2-40B4-BE49-F238E27FC236}">
                <a16:creationId xmlns:a16="http://schemas.microsoft.com/office/drawing/2014/main" id="{8A43D5D1-5AA7-0874-2D56-BF4CC93CDC0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3117" y="1375269"/>
            <a:ext cx="1527771" cy="1527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2593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InitialResearchPresentation</Template>
  <TotalTime>14728</TotalTime>
  <Words>2592</Words>
  <Application>Microsoft Office PowerPoint</Application>
  <PresentationFormat>On-screen Show (4:3)</PresentationFormat>
  <Paragraphs>309</Paragraphs>
  <Slides>26</Slides>
  <Notes>18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26</vt:i4>
      </vt:variant>
    </vt:vector>
  </HeadingPairs>
  <TitlesOfParts>
    <vt:vector size="37" baseType="lpstr">
      <vt:lpstr>Google Sans</vt:lpstr>
      <vt:lpstr>Söhne</vt:lpstr>
      <vt:lpstr>Arial</vt:lpstr>
      <vt:lpstr>Calibri</vt:lpstr>
      <vt:lpstr>Calibri Light</vt:lpstr>
      <vt:lpstr>Cambria Math</vt:lpstr>
      <vt:lpstr>Helvetica</vt:lpstr>
      <vt:lpstr>Times New Roman</vt:lpstr>
      <vt:lpstr>Wingdings</vt:lpstr>
      <vt:lpstr>Office Theme</vt:lpstr>
      <vt:lpstr>3_Default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Lidwin, Wiktor</dc:creator>
  <cp:lastModifiedBy>Wiktor Lidwin</cp:lastModifiedBy>
  <cp:revision>16</cp:revision>
  <dcterms:created xsi:type="dcterms:W3CDTF">2024-11-14T04:37:04Z</dcterms:created>
  <dcterms:modified xsi:type="dcterms:W3CDTF">2025-05-08T16:40:26Z</dcterms:modified>
</cp:coreProperties>
</file>